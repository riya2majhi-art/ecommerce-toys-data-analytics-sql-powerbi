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77" r:id="rId5"/>
    <p:sldId id="259" r:id="rId6"/>
    <p:sldId id="260" r:id="rId7"/>
    <p:sldId id="261" r:id="rId8"/>
    <p:sldId id="262" r:id="rId9"/>
    <p:sldId id="263" r:id="rId10"/>
    <p:sldId id="275" r:id="rId11"/>
    <p:sldId id="264" r:id="rId12"/>
    <p:sldId id="276" r:id="rId13"/>
    <p:sldId id="265" r:id="rId14"/>
    <p:sldId id="278" r:id="rId15"/>
    <p:sldId id="266" r:id="rId16"/>
    <p:sldId id="279" r:id="rId17"/>
    <p:sldId id="267" r:id="rId18"/>
    <p:sldId id="280" r:id="rId19"/>
    <p:sldId id="281" r:id="rId20"/>
    <p:sldId id="268" r:id="rId21"/>
    <p:sldId id="269" r:id="rId22"/>
    <p:sldId id="282" r:id="rId23"/>
    <p:sldId id="271" r:id="rId24"/>
    <p:sldId id="274"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1F84D5-3DBB-445D-B068-FA79BD8D6C45}" v="2" dt="2026-08-04T08:37:08.4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9495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E871E-0CB1-C079-8F6C-8051CBF293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A975E7-36B2-3FE5-B4A0-757FC17FFD6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0B0830E-1E6F-B5C1-5DDA-85867B4FE7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229A95-CFD1-05DE-36F7-80A9012A0DF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834986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EE6D8-C2E0-F186-6377-98AD87CB59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1BE78-77C5-8A7D-F805-8B22046CD96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7C815F7-9E71-7274-3331-4E0BC5845A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DBE3A7-7379-41F7-B58E-5F9E7B53DA5C}"/>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881207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D22BA-A880-B9A1-2480-A6B2267E41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EB504-11EC-7382-8C14-AA2FDC3EB3F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DEF13B4-A964-4D1C-A2DB-07F4BCCBB1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B2804C-1CF4-A1A3-B0C5-56EE5ED9CEEA}"/>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5796168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28EA5-E29A-5660-47A2-44A87F383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281E6-8B35-31BE-CB3C-1AD98E1FC05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56071E5-E901-E1AD-073B-33A8D5EC20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7D1E1C-A4EB-E816-FAD3-4D7E54948044}"/>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946595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FA0F9-54AD-8D0E-8BBE-464F19676D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6207C4-0ED7-6110-047D-FC1B184120A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EC7820A-0AC1-C5B8-C76A-380782287B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3CBBD1-7BD4-8766-84EA-853EB6AAE532}"/>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665335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D1511-9330-EECE-298E-EFFBCEE67B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3A920F-0AB3-A96A-2E25-1DFEB912728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53D72A1-3501-6080-B989-B66232AD7E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E74B7E-45DE-DDD0-0498-EF4EB91253B2}"/>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5015832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23CA6-1DEA-3A44-FD37-1ABF529D15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0D7286-2019-631F-8BD5-F1E46790DE2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BBB5D93-615D-CCFF-89BD-00FE774185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2A2341-2649-506B-CAC5-A53AAEFC7158}"/>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5468331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svg"/><Relationship Id="rId5" Type="http://schemas.openxmlformats.org/officeDocument/2006/relationships/image" Target="../media/image6.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0.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1.png"/><Relationship Id="rId4" Type="http://schemas.openxmlformats.org/officeDocument/2006/relationships/image" Target="../media/image16.png"/><Relationship Id="rId9" Type="http://schemas.openxmlformats.org/officeDocument/2006/relationships/image" Target="../media/image22.sv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7.png"/><Relationship Id="rId7"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21.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1.png"/><Relationship Id="rId4" Type="http://schemas.microsoft.com/office/2007/relationships/hdphoto" Target="../media/hdphoto3.wdp"/></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5C"/>
        </a:solidFill>
        <a:effectLst/>
      </p:bgPr>
    </p:bg>
    <p:spTree>
      <p:nvGrpSpPr>
        <p:cNvPr id="1" name=""/>
        <p:cNvGrpSpPr/>
        <p:nvPr/>
      </p:nvGrpSpPr>
      <p:grpSpPr>
        <a:xfrm>
          <a:off x="0" y="0"/>
          <a:ext cx="0" cy="0"/>
          <a:chOff x="0" y="0"/>
          <a:chExt cx="0" cy="0"/>
        </a:xfrm>
      </p:grpSpPr>
      <p:sp>
        <p:nvSpPr>
          <p:cNvPr id="4" name="Shape 2"/>
          <p:cNvSpPr/>
          <p:nvPr/>
        </p:nvSpPr>
        <p:spPr>
          <a:xfrm>
            <a:off x="-1097280" y="4754880"/>
            <a:ext cx="2743200" cy="2743200"/>
          </a:xfrm>
          <a:prstGeom prst="ellipse">
            <a:avLst/>
          </a:prstGeom>
          <a:solidFill>
            <a:schemeClr val="accent6">
              <a:lumMod val="75000"/>
            </a:schemeClr>
          </a:solidFill>
          <a:ln/>
        </p:spPr>
        <p:txBody>
          <a:bodyPr/>
          <a:lstStyle/>
          <a:p>
            <a:endParaRPr lang="en-IN"/>
          </a:p>
        </p:txBody>
      </p:sp>
      <p:sp>
        <p:nvSpPr>
          <p:cNvPr id="2" name="Shape 0"/>
          <p:cNvSpPr/>
          <p:nvPr/>
        </p:nvSpPr>
        <p:spPr>
          <a:xfrm>
            <a:off x="9692640" y="-1280160"/>
            <a:ext cx="4114800" cy="4114800"/>
          </a:xfrm>
          <a:prstGeom prst="ellipse">
            <a:avLst/>
          </a:prstGeom>
          <a:solidFill>
            <a:srgbClr val="FFFF00"/>
          </a:solidFill>
          <a:ln/>
        </p:spPr>
        <p:txBody>
          <a:bodyPr/>
          <a:lstStyle/>
          <a:p>
            <a:endParaRPr lang="en-IN"/>
          </a:p>
        </p:txBody>
      </p:sp>
      <p:sp>
        <p:nvSpPr>
          <p:cNvPr id="3" name="Shape 1"/>
          <p:cNvSpPr/>
          <p:nvPr/>
        </p:nvSpPr>
        <p:spPr>
          <a:xfrm>
            <a:off x="10607040" y="4206240"/>
            <a:ext cx="2926080" cy="2926080"/>
          </a:xfrm>
          <a:prstGeom prst="ellipse">
            <a:avLst/>
          </a:prstGeom>
          <a:solidFill>
            <a:srgbClr val="FF0000"/>
          </a:solidFill>
          <a:ln/>
        </p:spPr>
        <p:txBody>
          <a:bodyPr/>
          <a:lstStyle/>
          <a:p>
            <a:endParaRPr lang="en-IN"/>
          </a:p>
        </p:txBody>
      </p:sp>
      <p:sp>
        <p:nvSpPr>
          <p:cNvPr id="7" name="Text 4"/>
          <p:cNvSpPr/>
          <p:nvPr/>
        </p:nvSpPr>
        <p:spPr>
          <a:xfrm>
            <a:off x="594360" y="2331720"/>
            <a:ext cx="8229600" cy="365760"/>
          </a:xfrm>
          <a:prstGeom prst="rect">
            <a:avLst/>
          </a:prstGeom>
          <a:noFill/>
          <a:ln/>
        </p:spPr>
        <p:txBody>
          <a:bodyPr wrap="square" rtlCol="0" anchor="ctr"/>
          <a:lstStyle/>
          <a:p>
            <a:pPr marL="0" indent="0">
              <a:buNone/>
            </a:pPr>
            <a:r>
              <a:rPr lang="en-US" sz="1600" b="1" kern="0" spc="300" dirty="0">
                <a:solidFill>
                  <a:srgbClr val="F9E795"/>
                </a:solidFill>
                <a:latin typeface="Calibri" pitchFamily="34" charset="0"/>
                <a:ea typeface="Calibri" pitchFamily="34" charset="-122"/>
                <a:cs typeface="Calibri" pitchFamily="34" charset="-120"/>
              </a:rPr>
              <a:t>POWER BI PROJECT PRESENTATION</a:t>
            </a:r>
            <a:endParaRPr lang="en-US" sz="1600" dirty="0"/>
          </a:p>
        </p:txBody>
      </p:sp>
      <p:sp>
        <p:nvSpPr>
          <p:cNvPr id="8" name="Text 5"/>
          <p:cNvSpPr/>
          <p:nvPr/>
        </p:nvSpPr>
        <p:spPr>
          <a:xfrm>
            <a:off x="548640" y="2857500"/>
            <a:ext cx="9601200" cy="1737360"/>
          </a:xfrm>
          <a:prstGeom prst="rect">
            <a:avLst/>
          </a:prstGeom>
          <a:noFill/>
          <a:ln/>
        </p:spPr>
        <p:txBody>
          <a:bodyPr wrap="square" rtlCol="0" anchor="ctr"/>
          <a:lstStyle/>
          <a:p>
            <a:pPr>
              <a:lnSpc>
                <a:spcPct val="105000"/>
              </a:lnSpc>
            </a:pPr>
            <a:r>
              <a:rPr lang="en-US" sz="4400" b="1" dirty="0">
                <a:solidFill>
                  <a:srgbClr val="FFFFFF"/>
                </a:solidFill>
                <a:latin typeface="Cambria" pitchFamily="34" charset="0"/>
                <a:ea typeface="Cambria" pitchFamily="34" charset="-122"/>
                <a:cs typeface="Cambria" pitchFamily="34" charset="-120"/>
              </a:rPr>
              <a:t>Toy Store E-Commerce </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Sales Dashboard</a:t>
            </a:r>
            <a:endParaRPr lang="en-US" sz="4400" dirty="0"/>
          </a:p>
        </p:txBody>
      </p:sp>
      <p:sp>
        <p:nvSpPr>
          <p:cNvPr id="10" name="Shape 7"/>
          <p:cNvSpPr/>
          <p:nvPr/>
        </p:nvSpPr>
        <p:spPr>
          <a:xfrm>
            <a:off x="594360" y="5029200"/>
            <a:ext cx="4754880" cy="0"/>
          </a:xfrm>
          <a:prstGeom prst="line">
            <a:avLst/>
          </a:prstGeom>
          <a:noFill/>
          <a:ln w="12700">
            <a:solidFill>
              <a:srgbClr val="44508A"/>
            </a:solidFill>
            <a:prstDash val="solid"/>
          </a:ln>
        </p:spPr>
        <p:txBody>
          <a:bodyPr/>
          <a:lstStyle/>
          <a:p>
            <a:endParaRPr lang="en-IN"/>
          </a:p>
        </p:txBody>
      </p:sp>
      <p:sp>
        <p:nvSpPr>
          <p:cNvPr id="11" name="Text 8"/>
          <p:cNvSpPr/>
          <p:nvPr/>
        </p:nvSpPr>
        <p:spPr>
          <a:xfrm>
            <a:off x="594360" y="5212080"/>
            <a:ext cx="9326880" cy="1371600"/>
          </a:xfrm>
          <a:prstGeom prst="rect">
            <a:avLst/>
          </a:prstGeom>
          <a:noFill/>
          <a:ln/>
        </p:spPr>
        <p:txBody>
          <a:bodyPr wrap="square" rtlCol="0" anchor="ctr"/>
          <a:lstStyle/>
          <a:p>
            <a:pPr marL="0" indent="0">
              <a:lnSpc>
                <a:spcPct val="130000"/>
              </a:lnSpc>
              <a:buNone/>
            </a:pPr>
            <a:r>
              <a:rPr lang="en-US" sz="1600" b="1" dirty="0">
                <a:solidFill>
                  <a:schemeClr val="bg1"/>
                </a:solidFill>
                <a:latin typeface="Calibri" pitchFamily="34" charset="0"/>
                <a:ea typeface="Calibri" pitchFamily="34" charset="-122"/>
                <a:cs typeface="Calibri" pitchFamily="34" charset="-120"/>
              </a:rPr>
              <a:t>Tools:  </a:t>
            </a:r>
            <a:r>
              <a:rPr lang="en-US" sz="1600" dirty="0">
                <a:solidFill>
                  <a:schemeClr val="bg1"/>
                </a:solidFill>
                <a:latin typeface="Calibri" pitchFamily="34" charset="0"/>
                <a:ea typeface="Calibri" pitchFamily="34" charset="-122"/>
                <a:cs typeface="Calibri" pitchFamily="34" charset="-120"/>
              </a:rPr>
              <a:t>SQL Server &amp; Power BI
</a:t>
            </a:r>
            <a:r>
              <a:rPr lang="en-US" sz="1600" b="1" dirty="0">
                <a:solidFill>
                  <a:schemeClr val="bg1"/>
                </a:solidFill>
                <a:latin typeface="Calibri" pitchFamily="34" charset="0"/>
                <a:ea typeface="Calibri" pitchFamily="34" charset="-122"/>
                <a:cs typeface="Calibri" pitchFamily="34" charset="-120"/>
              </a:rPr>
              <a:t>Duration:  </a:t>
            </a:r>
            <a:r>
              <a:rPr lang="en-US" sz="1600" dirty="0">
                <a:solidFill>
                  <a:schemeClr val="bg1"/>
                </a:solidFill>
                <a:latin typeface="Calibri" pitchFamily="34" charset="0"/>
                <a:ea typeface="Calibri" pitchFamily="34" charset="-122"/>
                <a:cs typeface="Calibri" pitchFamily="34" charset="-120"/>
              </a:rPr>
              <a:t>5</a:t>
            </a:r>
            <a:r>
              <a:rPr lang="en-US" sz="1600" baseline="30000" dirty="0">
                <a:solidFill>
                  <a:schemeClr val="bg1"/>
                </a:solidFill>
                <a:latin typeface="Calibri" pitchFamily="34" charset="0"/>
                <a:ea typeface="Calibri" pitchFamily="34" charset="-122"/>
                <a:cs typeface="Calibri" pitchFamily="34" charset="-120"/>
              </a:rPr>
              <a:t>th </a:t>
            </a:r>
            <a:r>
              <a:rPr lang="en-US" sz="1600" dirty="0">
                <a:solidFill>
                  <a:schemeClr val="bg1"/>
                </a:solidFill>
                <a:latin typeface="Calibri" pitchFamily="34" charset="0"/>
                <a:ea typeface="Calibri" pitchFamily="34" charset="-122"/>
                <a:cs typeface="Calibri" pitchFamily="34" charset="-120"/>
              </a:rPr>
              <a:t> June - 5</a:t>
            </a:r>
            <a:r>
              <a:rPr lang="en-US" sz="1600" baseline="30000" dirty="0">
                <a:solidFill>
                  <a:schemeClr val="bg1"/>
                </a:solidFill>
                <a:latin typeface="Calibri" pitchFamily="34" charset="0"/>
                <a:ea typeface="Calibri" pitchFamily="34" charset="-122"/>
                <a:cs typeface="Calibri" pitchFamily="34" charset="-120"/>
              </a:rPr>
              <a:t>th</a:t>
            </a:r>
            <a:r>
              <a:rPr lang="en-US" sz="1600" dirty="0">
                <a:solidFill>
                  <a:schemeClr val="bg1"/>
                </a:solidFill>
                <a:latin typeface="Calibri" pitchFamily="34" charset="0"/>
                <a:ea typeface="Calibri" pitchFamily="34" charset="-122"/>
                <a:cs typeface="Calibri" pitchFamily="34" charset="-120"/>
              </a:rPr>
              <a:t> August 2026
</a:t>
            </a:r>
            <a:r>
              <a:rPr lang="en-US" sz="1600" b="1" dirty="0">
                <a:solidFill>
                  <a:schemeClr val="bg1"/>
                </a:solidFill>
                <a:latin typeface="Calibri" pitchFamily="34" charset="0"/>
                <a:ea typeface="Calibri" pitchFamily="34" charset="-122"/>
                <a:cs typeface="Calibri" pitchFamily="34" charset="-120"/>
              </a:rPr>
              <a:t>Team Members:  </a:t>
            </a:r>
            <a:r>
              <a:rPr lang="en-US" sz="1600" dirty="0">
                <a:solidFill>
                  <a:schemeClr val="bg1"/>
                </a:solidFill>
                <a:latin typeface="Calibri" pitchFamily="34" charset="0"/>
                <a:ea typeface="Calibri" pitchFamily="34" charset="-122"/>
                <a:cs typeface="Calibri" pitchFamily="34" charset="-120"/>
              </a:rPr>
              <a:t>Arpita, Debanjan, Puja, Rakhi, Riya, Rohit, Sayan, Siuli, Subham, Tanushree, Tushar</a:t>
            </a:r>
            <a:endParaRPr lang="en-US" sz="1600" dirty="0">
              <a:solidFill>
                <a:schemeClr val="bg1"/>
              </a:solidFill>
            </a:endParaRPr>
          </a:p>
        </p:txBody>
      </p:sp>
      <p:pic>
        <p:nvPicPr>
          <p:cNvPr id="13" name="Picture 12">
            <a:extLst>
              <a:ext uri="{FF2B5EF4-FFF2-40B4-BE49-F238E27FC236}">
                <a16:creationId xmlns:a16="http://schemas.microsoft.com/office/drawing/2014/main" id="{323708F4-D74F-955A-A928-B04B2B14597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5512" b="89764" l="9581" r="91018">
                        <a14:foregroundMark x1="38922" y1="9449" x2="60479" y2="9449"/>
                        <a14:foregroundMark x1="20524" y1="14961" x2="25749" y2="18110"/>
                        <a14:foregroundMark x1="17910" y1="13386" x2="20524" y2="14961"/>
                        <a14:foregroundMark x1="11377" y1="9449" x2="17910" y2="13386"/>
                        <a14:foregroundMark x1="41317" y1="6299" x2="67665" y2="16535"/>
                        <a14:foregroundMark x1="89222" y1="18898" x2="89222" y2="25984"/>
                        <a14:foregroundMark x1="90419" y1="18898" x2="91018" y2="22835"/>
                        <a14:foregroundMark x1="10180" y1="10236" x2="10180" y2="10236"/>
                        <a14:foregroundMark x1="10180" y1="14961" x2="10180" y2="30709"/>
                        <a14:foregroundMark x1="10180" y1="13386" x2="10180" y2="14961"/>
                        <a14:foregroundMark x1="10180" y1="10236" x2="10180" y2="13386"/>
                        <a14:foregroundMark x1="44910" y1="88976" x2="44910" y2="88976"/>
                        <a14:backgroundMark x1="10180" y1="14961" x2="10180" y2="14961"/>
                        <a14:backgroundMark x1="10180" y1="13386" x2="10180" y2="13386"/>
                      </a14:backgroundRemoval>
                    </a14:imgEffect>
                  </a14:imgLayer>
                </a14:imgProps>
              </a:ext>
            </a:extLst>
          </a:blip>
          <a:stretch>
            <a:fillRect/>
          </a:stretch>
        </p:blipFill>
        <p:spPr>
          <a:xfrm>
            <a:off x="770890" y="652496"/>
            <a:ext cx="1750060" cy="1330884"/>
          </a:xfrm>
          <a:prstGeom prst="rect">
            <a:avLst/>
          </a:prstGeom>
        </p:spPr>
      </p:pic>
      <p:pic>
        <p:nvPicPr>
          <p:cNvPr id="21" name="Picture 20">
            <a:extLst>
              <a:ext uri="{FF2B5EF4-FFF2-40B4-BE49-F238E27FC236}">
                <a16:creationId xmlns:a16="http://schemas.microsoft.com/office/drawing/2014/main" id="{DB8641B6-2917-0CA0-2D45-AD5FE2912317}"/>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3491" b="97947" l="8367" r="96614">
                        <a14:foregroundMark x1="49004" y1="8008" x2="49004" y2="8008"/>
                        <a14:foregroundMark x1="50996" y1="3696" x2="50996" y2="3696"/>
                        <a14:foregroundMark x1="50398" y1="3901" x2="50398" y2="3901"/>
                        <a14:foregroundMark x1="47410" y1="4723" x2="47410" y2="4723"/>
                        <a14:foregroundMark x1="43825" y1="86037" x2="43825" y2="86037"/>
                        <a14:foregroundMark x1="50000" y1="88912" x2="50000" y2="88912"/>
                        <a14:foregroundMark x1="58566" y1="89938" x2="58566" y2="89938"/>
                        <a14:foregroundMark x1="91633" y1="63039" x2="91633" y2="63039"/>
                        <a14:foregroundMark x1="95020" y1="49897" x2="95020" y2="49897"/>
                        <a14:foregroundMark x1="24442" y1="16057" x2="22112" y2="17248"/>
                        <a14:foregroundMark x1="22112" y1="17248" x2="14143" y2="27310"/>
                        <a14:foregroundMark x1="9868" y1="44029" x2="8367" y2="49897"/>
                        <a14:foregroundMark x1="14143" y1="27310" x2="12270" y2="34635"/>
                        <a14:foregroundMark x1="13347" y1="38809" x2="20319" y2="25667"/>
                        <a14:foregroundMark x1="20319" y1="25667" x2="30279" y2="16427"/>
                        <a14:foregroundMark x1="30279" y1="16427" x2="45817" y2="9035"/>
                        <a14:foregroundMark x1="18327" y1="27721" x2="13347" y2="41273"/>
                        <a14:foregroundMark x1="74104" y1="89117" x2="74104" y2="89117"/>
                        <a14:foregroundMark x1="73506" y1="89733" x2="73506" y2="89733"/>
                        <a14:foregroundMark x1="78685" y1="86037" x2="77092" y2="87064"/>
                        <a14:foregroundMark x1="80876" y1="84189" x2="80080" y2="85010"/>
                        <a14:foregroundMark x1="54382" y1="97331" x2="54382" y2="97331"/>
                        <a14:foregroundMark x1="54582" y1="97125" x2="54582" y2="97125"/>
                        <a14:foregroundMark x1="55179" y1="97536" x2="55179" y2="97536"/>
                        <a14:foregroundMark x1="56972" y1="97125" x2="56972" y2="97125"/>
                        <a14:foregroundMark x1="54781" y1="97331" x2="56773" y2="97331"/>
                        <a14:foregroundMark x1="56773" y1="97331" x2="59163" y2="97125"/>
                        <a14:foregroundMark x1="61554" y1="96920" x2="63944" y2="96304"/>
                        <a14:foregroundMark x1="64741" y1="96099" x2="66534" y2="95688"/>
                        <a14:foregroundMark x1="66733" y1="95483" x2="68924" y2="94867"/>
                        <a14:foregroundMark x1="69522" y1="94456" x2="71315" y2="94045"/>
                        <a14:foregroundMark x1="71315" y1="93840" x2="74104" y2="92608"/>
                        <a14:foregroundMark x1="74502" y1="92402" x2="77689" y2="90760"/>
                        <a14:foregroundMark x1="77490" y1="90554" x2="80677" y2="88090"/>
                        <a14:foregroundMark x1="80876" y1="87885" x2="84861" y2="84189"/>
                        <a14:foregroundMark x1="85458" y1="83984" x2="90040" y2="78645"/>
                        <a14:foregroundMark x1="90239" y1="78234" x2="90239" y2="78234"/>
                        <a14:foregroundMark x1="90637" y1="77618" x2="90637" y2="77618"/>
                        <a14:foregroundMark x1="91235" y1="76591" x2="91235" y2="76591"/>
                        <a14:foregroundMark x1="91833" y1="75975" x2="91833" y2="75975"/>
                        <a14:foregroundMark x1="91633" y1="75975" x2="91971" y2="75206"/>
                        <a14:foregroundMark x1="96614" y1="64682" x2="96530" y2="64862"/>
                        <a14:foregroundMark x1="92007" y1="75227" x2="90239" y2="79055"/>
                        <a14:backgroundMark x1="61355" y1="95277" x2="62772" y2="94760"/>
                        <a14:backgroundMark x1="87640" y1="78547" x2="87787" y2="78313"/>
                        <a14:backgroundMark x1="86397" y1="80527" x2="85893" y2="81329"/>
                        <a14:backgroundMark x1="10757" y1="44353" x2="12196" y2="40843"/>
                        <a14:backgroundMark x1="30478" y1="12115" x2="30478" y2="12115"/>
                        <a14:backgroundMark x1="28685" y1="13758" x2="28685" y2="13758"/>
                        <a14:backgroundMark x1="32208" y1="12442" x2="36056" y2="10062"/>
                        <a14:backgroundMark x1="31869" y1="12652" x2="31784" y2="12705"/>
                        <a14:backgroundMark x1="25100" y1="16838" x2="31418" y2="12931"/>
                        <a14:backgroundMark x1="31993" y1="12357" x2="25100" y2="16222"/>
                        <a14:backgroundMark x1="36454" y1="9856" x2="32101" y2="12296"/>
                        <a14:backgroundMark x1="25100" y1="16222" x2="24900" y2="16427"/>
                        <a14:backgroundMark x1="11211" y1="40476" x2="10359" y2="44148"/>
                        <a14:backgroundMark x1="53785" y1="98152" x2="53785" y2="98152"/>
                        <a14:backgroundMark x1="53984" y1="98152" x2="53984" y2="98152"/>
                        <a14:backgroundMark x1="53785" y1="98152" x2="54274" y2="98152"/>
                        <a14:backgroundMark x1="79754" y1="85626" x2="78906" y2="86267"/>
                        <a14:backgroundMark x1="80316" y1="85202" x2="79754" y2="85626"/>
                        <a14:backgroundMark x1="85458" y1="81314" x2="81252" y2="84493"/>
                        <a14:backgroundMark x1="86292" y1="81907" x2="85528" y2="82604"/>
                        <a14:backgroundMark x1="62539" y1="95076" x2="59818" y2="96011"/>
                        <a14:backgroundMark x1="65927" y1="93912" x2="65064" y2="94208"/>
                        <a14:backgroundMark x1="70708" y1="92268" x2="70205" y2="92441"/>
                        <a14:backgroundMark x1="75322" y1="90683" x2="74993" y2="90796"/>
                        <a14:backgroundMark x1="93426" y1="69199" x2="93426" y2="69199"/>
                        <a14:backgroundMark x1="96215" y1="64682" x2="90438" y2="74333"/>
                      </a14:backgroundRemoval>
                    </a14:imgEffect>
                  </a14:imgLayer>
                </a14:imgProps>
              </a:ext>
            </a:extLst>
          </a:blip>
          <a:stretch>
            <a:fillRect/>
          </a:stretch>
        </p:blipFill>
        <p:spPr>
          <a:xfrm>
            <a:off x="6552868" y="1317938"/>
            <a:ext cx="3825572" cy="37112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57200"/>
            <a:ext cx="11091672" cy="640080"/>
          </a:xfrm>
          <a:prstGeom prst="rect">
            <a:avLst/>
          </a:prstGeom>
          <a:noFill/>
          <a:ln/>
        </p:spPr>
        <p:txBody>
          <a:bodyPr wrap="square" rtlCol="0" anchor="ctr"/>
          <a:lstStyle/>
          <a:p>
            <a:pPr marL="0" indent="0">
              <a:buNone/>
            </a:pPr>
            <a:r>
              <a:rPr lang="en-US" sz="3000" b="1" dirty="0">
                <a:solidFill>
                  <a:srgbClr val="2F3C7E"/>
                </a:solidFill>
                <a:latin typeface="Cambria" pitchFamily="34" charset="0"/>
                <a:ea typeface="Cambria" pitchFamily="34" charset="-122"/>
                <a:cs typeface="Cambria" pitchFamily="34" charset="-120"/>
              </a:rPr>
              <a:t>Agenda</a:t>
            </a:r>
            <a:endParaRPr lang="en-US" sz="3000" dirty="0"/>
          </a:p>
        </p:txBody>
      </p:sp>
      <p:sp>
        <p:nvSpPr>
          <p:cNvPr id="4" name="Shape 2"/>
          <p:cNvSpPr/>
          <p:nvPr/>
        </p:nvSpPr>
        <p:spPr>
          <a:xfrm>
            <a:off x="548640" y="1329690"/>
            <a:ext cx="5394960" cy="1051560"/>
          </a:xfrm>
          <a:prstGeom prst="roundRect">
            <a:avLst>
              <a:gd name="adj" fmla="val 6957"/>
            </a:avLst>
          </a:prstGeom>
          <a:solidFill>
            <a:srgbClr val="F7F7FB"/>
          </a:solidFill>
          <a:ln/>
        </p:spPr>
        <p:txBody>
          <a:bodyPr/>
          <a:lstStyle/>
          <a:p>
            <a:endParaRPr lang="en-IN"/>
          </a:p>
        </p:txBody>
      </p:sp>
      <p:sp>
        <p:nvSpPr>
          <p:cNvPr id="5" name="Shape 3"/>
          <p:cNvSpPr/>
          <p:nvPr/>
        </p:nvSpPr>
        <p:spPr>
          <a:xfrm>
            <a:off x="749808" y="1562862"/>
            <a:ext cx="585216" cy="585216"/>
          </a:xfrm>
          <a:prstGeom prst="ellipse">
            <a:avLst/>
          </a:prstGeom>
          <a:solidFill>
            <a:srgbClr val="2F3C7E"/>
          </a:solidFill>
          <a:ln/>
        </p:spPr>
        <p:txBody>
          <a:bodyPr/>
          <a:lstStyle/>
          <a:p>
            <a:endParaRPr lang="en-IN"/>
          </a:p>
        </p:txBody>
      </p:sp>
      <p:pic>
        <p:nvPicPr>
          <p:cNvPr id="6" name="Image 0" descr="/home/claude/pptxbuild/icons/diagram.png"/>
          <p:cNvPicPr>
            <a:picLocks noChangeAspect="1"/>
          </p:cNvPicPr>
          <p:nvPr/>
        </p:nvPicPr>
        <p:blipFill>
          <a:blip r:embed="rId3"/>
          <a:stretch>
            <a:fillRect/>
          </a:stretch>
        </p:blipFill>
        <p:spPr>
          <a:xfrm>
            <a:off x="890260" y="1703314"/>
            <a:ext cx="304312" cy="304312"/>
          </a:xfrm>
          <a:prstGeom prst="rect">
            <a:avLst/>
          </a:prstGeom>
        </p:spPr>
      </p:pic>
      <p:sp>
        <p:nvSpPr>
          <p:cNvPr id="7" name="Text 4"/>
          <p:cNvSpPr/>
          <p:nvPr/>
        </p:nvSpPr>
        <p:spPr>
          <a:xfrm>
            <a:off x="1508760" y="1448562"/>
            <a:ext cx="4206240" cy="320040"/>
          </a:xfrm>
          <a:prstGeom prst="rect">
            <a:avLst/>
          </a:prstGeom>
          <a:noFill/>
          <a:ln/>
        </p:spPr>
        <p:txBody>
          <a:bodyPr wrap="square"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Project Overview</a:t>
            </a:r>
            <a:endParaRPr lang="en-US" sz="1400" dirty="0"/>
          </a:p>
        </p:txBody>
      </p:sp>
      <p:sp>
        <p:nvSpPr>
          <p:cNvPr id="8" name="Text 5"/>
          <p:cNvSpPr/>
          <p:nvPr/>
        </p:nvSpPr>
        <p:spPr>
          <a:xfrm>
            <a:off x="1508760" y="1786890"/>
            <a:ext cx="4206240" cy="502920"/>
          </a:xfrm>
          <a:prstGeom prst="rect">
            <a:avLst/>
          </a:prstGeom>
          <a:noFill/>
          <a:ln/>
        </p:spPr>
        <p:txBody>
          <a:bodyPr wrap="square" rtlCol="0" anchor="t"/>
          <a:lstStyle/>
          <a:p>
            <a:pPr marL="0" indent="0">
              <a:buNone/>
            </a:pPr>
            <a:r>
              <a:rPr lang="en-US" sz="1400" dirty="0">
                <a:latin typeface="Calibri" pitchFamily="34" charset="0"/>
                <a:ea typeface="Calibri" pitchFamily="34" charset="-122"/>
                <a:cs typeface="Calibri" pitchFamily="34" charset="-120"/>
              </a:rPr>
              <a:t>Objectives, tools &amp; technology stack</a:t>
            </a:r>
            <a:endParaRPr lang="en-US" sz="1400" dirty="0"/>
          </a:p>
        </p:txBody>
      </p:sp>
      <p:sp>
        <p:nvSpPr>
          <p:cNvPr id="9" name="Shape 6"/>
          <p:cNvSpPr/>
          <p:nvPr/>
        </p:nvSpPr>
        <p:spPr>
          <a:xfrm>
            <a:off x="6263640" y="1329690"/>
            <a:ext cx="5394960" cy="1051560"/>
          </a:xfrm>
          <a:prstGeom prst="roundRect">
            <a:avLst>
              <a:gd name="adj" fmla="val 6957"/>
            </a:avLst>
          </a:prstGeom>
          <a:solidFill>
            <a:srgbClr val="F7F7FB"/>
          </a:solidFill>
          <a:ln/>
        </p:spPr>
        <p:txBody>
          <a:bodyPr/>
          <a:lstStyle/>
          <a:p>
            <a:endParaRPr lang="en-IN"/>
          </a:p>
        </p:txBody>
      </p:sp>
      <p:sp>
        <p:nvSpPr>
          <p:cNvPr id="10" name="Shape 7"/>
          <p:cNvSpPr/>
          <p:nvPr/>
        </p:nvSpPr>
        <p:spPr>
          <a:xfrm>
            <a:off x="6464808" y="1562862"/>
            <a:ext cx="585216" cy="585216"/>
          </a:xfrm>
          <a:prstGeom prst="ellipse">
            <a:avLst/>
          </a:prstGeom>
          <a:solidFill>
            <a:srgbClr val="2F3C7E"/>
          </a:solidFill>
          <a:ln/>
        </p:spPr>
        <p:txBody>
          <a:bodyPr/>
          <a:lstStyle/>
          <a:p>
            <a:endParaRPr lang="en-IN"/>
          </a:p>
        </p:txBody>
      </p:sp>
      <p:pic>
        <p:nvPicPr>
          <p:cNvPr id="11" name="Image 1" descr="/home/claude/pptxbuild/icons/layers.png"/>
          <p:cNvPicPr>
            <a:picLocks noChangeAspect="1"/>
          </p:cNvPicPr>
          <p:nvPr/>
        </p:nvPicPr>
        <p:blipFill>
          <a:blip r:embed="rId4"/>
          <a:stretch>
            <a:fillRect/>
          </a:stretch>
        </p:blipFill>
        <p:spPr>
          <a:xfrm>
            <a:off x="6605260" y="1703314"/>
            <a:ext cx="304312" cy="304312"/>
          </a:xfrm>
          <a:prstGeom prst="rect">
            <a:avLst/>
          </a:prstGeom>
        </p:spPr>
      </p:pic>
      <p:sp>
        <p:nvSpPr>
          <p:cNvPr id="12" name="Text 8"/>
          <p:cNvSpPr/>
          <p:nvPr/>
        </p:nvSpPr>
        <p:spPr>
          <a:xfrm>
            <a:off x="7223760" y="1448562"/>
            <a:ext cx="4206240" cy="320040"/>
          </a:xfrm>
          <a:prstGeom prst="rect">
            <a:avLst/>
          </a:prstGeom>
          <a:noFill/>
          <a:ln/>
        </p:spPr>
        <p:txBody>
          <a:bodyPr wrap="square"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Data Preparation</a:t>
            </a:r>
            <a:endParaRPr lang="en-US" sz="1400" dirty="0"/>
          </a:p>
        </p:txBody>
      </p:sp>
      <p:sp>
        <p:nvSpPr>
          <p:cNvPr id="13" name="Text 9"/>
          <p:cNvSpPr/>
          <p:nvPr/>
        </p:nvSpPr>
        <p:spPr>
          <a:xfrm>
            <a:off x="7223760" y="1786890"/>
            <a:ext cx="4206240" cy="502920"/>
          </a:xfrm>
          <a:prstGeom prst="rect">
            <a:avLst/>
          </a:prstGeom>
          <a:noFill/>
          <a:ln/>
        </p:spPr>
        <p:txBody>
          <a:bodyPr wrap="square" rtlCol="0" anchor="t"/>
          <a:lstStyle/>
          <a:p>
            <a:pPr marL="0" indent="0">
              <a:buNone/>
            </a:pPr>
            <a:r>
              <a:rPr lang="en-US" sz="1400" dirty="0">
                <a:latin typeface="Calibri" pitchFamily="34" charset="0"/>
                <a:ea typeface="Calibri" pitchFamily="34" charset="-122"/>
                <a:cs typeface="Calibri" pitchFamily="34" charset="-120"/>
              </a:rPr>
              <a:t>Cleaning &amp; validation performed in SSMS</a:t>
            </a:r>
            <a:endParaRPr lang="en-US" sz="1400" dirty="0"/>
          </a:p>
        </p:txBody>
      </p:sp>
      <p:sp>
        <p:nvSpPr>
          <p:cNvPr id="14" name="Shape 10"/>
          <p:cNvSpPr/>
          <p:nvPr/>
        </p:nvSpPr>
        <p:spPr>
          <a:xfrm>
            <a:off x="548640" y="2545842"/>
            <a:ext cx="5394960" cy="1051560"/>
          </a:xfrm>
          <a:prstGeom prst="roundRect">
            <a:avLst>
              <a:gd name="adj" fmla="val 6957"/>
            </a:avLst>
          </a:prstGeom>
          <a:solidFill>
            <a:srgbClr val="F7F7FB"/>
          </a:solidFill>
          <a:ln/>
        </p:spPr>
        <p:txBody>
          <a:bodyPr/>
          <a:lstStyle/>
          <a:p>
            <a:endParaRPr lang="en-IN"/>
          </a:p>
        </p:txBody>
      </p:sp>
      <p:sp>
        <p:nvSpPr>
          <p:cNvPr id="15" name="Shape 11"/>
          <p:cNvSpPr/>
          <p:nvPr/>
        </p:nvSpPr>
        <p:spPr>
          <a:xfrm>
            <a:off x="749808" y="2779014"/>
            <a:ext cx="585216" cy="585216"/>
          </a:xfrm>
          <a:prstGeom prst="ellipse">
            <a:avLst/>
          </a:prstGeom>
          <a:solidFill>
            <a:srgbClr val="2F3C7E"/>
          </a:solidFill>
          <a:ln/>
        </p:spPr>
        <p:txBody>
          <a:bodyPr/>
          <a:lstStyle/>
          <a:p>
            <a:endParaRPr lang="en-IN"/>
          </a:p>
        </p:txBody>
      </p:sp>
      <p:pic>
        <p:nvPicPr>
          <p:cNvPr id="16" name="Image 2" descr="/home/claude/pptxbuild/icons/database.png"/>
          <p:cNvPicPr>
            <a:picLocks noChangeAspect="1"/>
          </p:cNvPicPr>
          <p:nvPr/>
        </p:nvPicPr>
        <p:blipFill>
          <a:blip r:embed="rId5"/>
          <a:stretch>
            <a:fillRect/>
          </a:stretch>
        </p:blipFill>
        <p:spPr>
          <a:xfrm>
            <a:off x="890260" y="2919466"/>
            <a:ext cx="304312" cy="304312"/>
          </a:xfrm>
          <a:prstGeom prst="rect">
            <a:avLst/>
          </a:prstGeom>
        </p:spPr>
      </p:pic>
      <p:sp>
        <p:nvSpPr>
          <p:cNvPr id="17" name="Text 12"/>
          <p:cNvSpPr/>
          <p:nvPr/>
        </p:nvSpPr>
        <p:spPr>
          <a:xfrm>
            <a:off x="1508760" y="2664714"/>
            <a:ext cx="4206240" cy="320040"/>
          </a:xfrm>
          <a:prstGeom prst="rect">
            <a:avLst/>
          </a:prstGeom>
          <a:noFill/>
          <a:ln/>
        </p:spPr>
        <p:txBody>
          <a:bodyPr wrap="square"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Data Model</a:t>
            </a:r>
            <a:endParaRPr lang="en-US" sz="1400" dirty="0"/>
          </a:p>
        </p:txBody>
      </p:sp>
      <p:sp>
        <p:nvSpPr>
          <p:cNvPr id="18" name="Text 13"/>
          <p:cNvSpPr/>
          <p:nvPr/>
        </p:nvSpPr>
        <p:spPr>
          <a:xfrm>
            <a:off x="1508760" y="3003042"/>
            <a:ext cx="4206240" cy="502920"/>
          </a:xfrm>
          <a:prstGeom prst="rect">
            <a:avLst/>
          </a:prstGeom>
          <a:noFill/>
          <a:ln/>
        </p:spPr>
        <p:txBody>
          <a:bodyPr wrap="square" rtlCol="0" anchor="t"/>
          <a:lstStyle/>
          <a:p>
            <a:pPr marL="0" indent="0">
              <a:buNone/>
            </a:pPr>
            <a:r>
              <a:rPr lang="en-US" sz="1400" dirty="0">
                <a:latin typeface="Calibri" pitchFamily="34" charset="0"/>
                <a:ea typeface="Calibri" pitchFamily="34" charset="-122"/>
                <a:cs typeface="Calibri" pitchFamily="34" charset="-120"/>
              </a:rPr>
              <a:t>Source tables and the 36-measure catalog</a:t>
            </a:r>
            <a:endParaRPr lang="en-US" sz="1400" dirty="0"/>
          </a:p>
        </p:txBody>
      </p:sp>
      <p:sp>
        <p:nvSpPr>
          <p:cNvPr id="19" name="Shape 14"/>
          <p:cNvSpPr/>
          <p:nvPr/>
        </p:nvSpPr>
        <p:spPr>
          <a:xfrm>
            <a:off x="6263640" y="2545842"/>
            <a:ext cx="5394960" cy="1051560"/>
          </a:xfrm>
          <a:prstGeom prst="roundRect">
            <a:avLst>
              <a:gd name="adj" fmla="val 6957"/>
            </a:avLst>
          </a:prstGeom>
          <a:solidFill>
            <a:srgbClr val="F7F7FB"/>
          </a:solidFill>
          <a:ln/>
        </p:spPr>
        <p:txBody>
          <a:bodyPr/>
          <a:lstStyle/>
          <a:p>
            <a:endParaRPr lang="en-IN"/>
          </a:p>
        </p:txBody>
      </p:sp>
      <p:sp>
        <p:nvSpPr>
          <p:cNvPr id="20" name="Shape 15"/>
          <p:cNvSpPr/>
          <p:nvPr/>
        </p:nvSpPr>
        <p:spPr>
          <a:xfrm>
            <a:off x="6464808" y="2779014"/>
            <a:ext cx="585216" cy="585216"/>
          </a:xfrm>
          <a:prstGeom prst="ellipse">
            <a:avLst/>
          </a:prstGeom>
          <a:solidFill>
            <a:srgbClr val="2F3C7E"/>
          </a:solidFill>
          <a:ln/>
        </p:spPr>
        <p:txBody>
          <a:bodyPr/>
          <a:lstStyle/>
          <a:p>
            <a:endParaRPr lang="en-IN"/>
          </a:p>
        </p:txBody>
      </p:sp>
      <p:pic>
        <p:nvPicPr>
          <p:cNvPr id="21" name="Image 3" descr="/home/claude/pptxbuild/icons/clipboard.png"/>
          <p:cNvPicPr>
            <a:picLocks noChangeAspect="1"/>
          </p:cNvPicPr>
          <p:nvPr/>
        </p:nvPicPr>
        <p:blipFill>
          <a:blip r:embed="rId6"/>
          <a:stretch>
            <a:fillRect/>
          </a:stretch>
        </p:blipFill>
        <p:spPr>
          <a:xfrm>
            <a:off x="6605260" y="2919466"/>
            <a:ext cx="304312" cy="304312"/>
          </a:xfrm>
          <a:prstGeom prst="rect">
            <a:avLst/>
          </a:prstGeom>
        </p:spPr>
      </p:pic>
      <p:sp>
        <p:nvSpPr>
          <p:cNvPr id="22" name="Text 16"/>
          <p:cNvSpPr/>
          <p:nvPr/>
        </p:nvSpPr>
        <p:spPr>
          <a:xfrm>
            <a:off x="7223760" y="2664714"/>
            <a:ext cx="4206240" cy="320040"/>
          </a:xfrm>
          <a:prstGeom prst="rect">
            <a:avLst/>
          </a:prstGeom>
          <a:noFill/>
          <a:ln/>
        </p:spPr>
        <p:txBody>
          <a:bodyPr wrap="square"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Report Pages</a:t>
            </a:r>
            <a:endParaRPr lang="en-US" sz="1400" dirty="0"/>
          </a:p>
        </p:txBody>
      </p:sp>
      <p:sp>
        <p:nvSpPr>
          <p:cNvPr id="23" name="Text 17"/>
          <p:cNvSpPr/>
          <p:nvPr/>
        </p:nvSpPr>
        <p:spPr>
          <a:xfrm>
            <a:off x="7223760" y="3003042"/>
            <a:ext cx="4206240" cy="502920"/>
          </a:xfrm>
          <a:prstGeom prst="rect">
            <a:avLst/>
          </a:prstGeom>
          <a:noFill/>
          <a:ln/>
        </p:spPr>
        <p:txBody>
          <a:bodyPr wrap="square" rtlCol="0" anchor="t"/>
          <a:lstStyle/>
          <a:p>
            <a:pPr marL="0" indent="0">
              <a:buNone/>
            </a:pPr>
            <a:r>
              <a:rPr lang="en-US" sz="1400" dirty="0">
                <a:latin typeface="Calibri" pitchFamily="34" charset="0"/>
                <a:ea typeface="Calibri" pitchFamily="34" charset="-122"/>
                <a:cs typeface="Calibri" pitchFamily="34" charset="-120"/>
              </a:rPr>
              <a:t>Purpose &amp; content of all 7 pages</a:t>
            </a:r>
            <a:endParaRPr lang="en-US" sz="1400" dirty="0"/>
          </a:p>
        </p:txBody>
      </p:sp>
      <p:sp>
        <p:nvSpPr>
          <p:cNvPr id="29" name="Shape 22"/>
          <p:cNvSpPr/>
          <p:nvPr/>
        </p:nvSpPr>
        <p:spPr>
          <a:xfrm>
            <a:off x="6263640" y="3761994"/>
            <a:ext cx="5394960" cy="1051560"/>
          </a:xfrm>
          <a:prstGeom prst="roundRect">
            <a:avLst>
              <a:gd name="adj" fmla="val 6957"/>
            </a:avLst>
          </a:prstGeom>
          <a:solidFill>
            <a:srgbClr val="F7F7FB"/>
          </a:solidFill>
          <a:ln/>
        </p:spPr>
        <p:txBody>
          <a:bodyPr/>
          <a:lstStyle/>
          <a:p>
            <a:endParaRPr lang="en-IN"/>
          </a:p>
        </p:txBody>
      </p:sp>
      <p:sp>
        <p:nvSpPr>
          <p:cNvPr id="30" name="Shape 23"/>
          <p:cNvSpPr/>
          <p:nvPr/>
        </p:nvSpPr>
        <p:spPr>
          <a:xfrm>
            <a:off x="6464808" y="3995166"/>
            <a:ext cx="585216" cy="585216"/>
          </a:xfrm>
          <a:prstGeom prst="ellipse">
            <a:avLst/>
          </a:prstGeom>
          <a:solidFill>
            <a:srgbClr val="2F3C7E"/>
          </a:solidFill>
          <a:ln/>
        </p:spPr>
        <p:txBody>
          <a:bodyPr/>
          <a:lstStyle/>
          <a:p>
            <a:endParaRPr lang="en-IN"/>
          </a:p>
        </p:txBody>
      </p:sp>
      <p:pic>
        <p:nvPicPr>
          <p:cNvPr id="31" name="Image 5" descr="/home/claude/pptxbuild/icons/filter.png"/>
          <p:cNvPicPr>
            <a:picLocks noChangeAspect="1"/>
          </p:cNvPicPr>
          <p:nvPr/>
        </p:nvPicPr>
        <p:blipFill>
          <a:blip r:embed="rId7"/>
          <a:stretch>
            <a:fillRect/>
          </a:stretch>
        </p:blipFill>
        <p:spPr>
          <a:xfrm>
            <a:off x="6605260" y="4135618"/>
            <a:ext cx="304312" cy="304312"/>
          </a:xfrm>
          <a:prstGeom prst="rect">
            <a:avLst/>
          </a:prstGeom>
        </p:spPr>
      </p:pic>
      <p:sp>
        <p:nvSpPr>
          <p:cNvPr id="32" name="Text 24"/>
          <p:cNvSpPr/>
          <p:nvPr/>
        </p:nvSpPr>
        <p:spPr>
          <a:xfrm>
            <a:off x="7223760" y="3880866"/>
            <a:ext cx="4206240" cy="320040"/>
          </a:xfrm>
          <a:prstGeom prst="rect">
            <a:avLst/>
          </a:prstGeom>
          <a:noFill/>
          <a:ln/>
        </p:spPr>
        <p:txBody>
          <a:bodyPr wrap="square"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Filters &amp; Interactivity</a:t>
            </a:r>
            <a:endParaRPr lang="en-US" sz="1400" dirty="0"/>
          </a:p>
        </p:txBody>
      </p:sp>
      <p:sp>
        <p:nvSpPr>
          <p:cNvPr id="33" name="Text 25"/>
          <p:cNvSpPr/>
          <p:nvPr/>
        </p:nvSpPr>
        <p:spPr>
          <a:xfrm>
            <a:off x="7223760" y="4219194"/>
            <a:ext cx="4206240" cy="502920"/>
          </a:xfrm>
          <a:prstGeom prst="rect">
            <a:avLst/>
          </a:prstGeom>
          <a:noFill/>
          <a:ln/>
        </p:spPr>
        <p:txBody>
          <a:bodyPr wrap="square" rtlCol="0" anchor="t"/>
          <a:lstStyle/>
          <a:p>
            <a:pPr marL="0" indent="0">
              <a:buNone/>
            </a:pPr>
            <a:r>
              <a:rPr lang="en-US" sz="1400" dirty="0">
                <a:latin typeface="Calibri" pitchFamily="34" charset="0"/>
                <a:ea typeface="Calibri" pitchFamily="34" charset="-122"/>
                <a:cs typeface="Calibri" pitchFamily="34" charset="-120"/>
              </a:rPr>
              <a:t>19 slicers driving self-service analysis</a:t>
            </a:r>
            <a:endParaRPr lang="en-US" sz="1400" dirty="0"/>
          </a:p>
        </p:txBody>
      </p:sp>
      <p:sp>
        <p:nvSpPr>
          <p:cNvPr id="34" name="Shape 26"/>
          <p:cNvSpPr/>
          <p:nvPr/>
        </p:nvSpPr>
        <p:spPr>
          <a:xfrm>
            <a:off x="548640" y="3827282"/>
            <a:ext cx="5394960" cy="1051560"/>
          </a:xfrm>
          <a:prstGeom prst="roundRect">
            <a:avLst>
              <a:gd name="adj" fmla="val 6957"/>
            </a:avLst>
          </a:prstGeom>
          <a:solidFill>
            <a:srgbClr val="F7F7FB"/>
          </a:solidFill>
          <a:ln/>
        </p:spPr>
        <p:txBody>
          <a:bodyPr/>
          <a:lstStyle/>
          <a:p>
            <a:endParaRPr lang="en-IN"/>
          </a:p>
        </p:txBody>
      </p:sp>
      <p:sp>
        <p:nvSpPr>
          <p:cNvPr id="35" name="Shape 27"/>
          <p:cNvSpPr/>
          <p:nvPr/>
        </p:nvSpPr>
        <p:spPr>
          <a:xfrm>
            <a:off x="749808" y="4060454"/>
            <a:ext cx="585216" cy="585216"/>
          </a:xfrm>
          <a:prstGeom prst="ellipse">
            <a:avLst/>
          </a:prstGeom>
          <a:solidFill>
            <a:srgbClr val="2F3C7E"/>
          </a:solidFill>
          <a:ln/>
        </p:spPr>
        <p:txBody>
          <a:bodyPr/>
          <a:lstStyle/>
          <a:p>
            <a:endParaRPr lang="en-IN"/>
          </a:p>
        </p:txBody>
      </p:sp>
      <p:pic>
        <p:nvPicPr>
          <p:cNvPr id="36" name="Image 6" descr="/home/claude/pptxbuild/icons/warning.png"/>
          <p:cNvPicPr>
            <a:picLocks noChangeAspect="1"/>
          </p:cNvPicPr>
          <p:nvPr/>
        </p:nvPicPr>
        <p:blipFill>
          <a:blip r:embed="rId8"/>
          <a:stretch>
            <a:fillRect/>
          </a:stretch>
        </p:blipFill>
        <p:spPr>
          <a:xfrm>
            <a:off x="890260" y="4200906"/>
            <a:ext cx="304312" cy="304312"/>
          </a:xfrm>
          <a:prstGeom prst="rect">
            <a:avLst/>
          </a:prstGeom>
        </p:spPr>
      </p:pic>
      <p:sp>
        <p:nvSpPr>
          <p:cNvPr id="37" name="Text 28"/>
          <p:cNvSpPr/>
          <p:nvPr/>
        </p:nvSpPr>
        <p:spPr>
          <a:xfrm>
            <a:off x="1508760" y="3946154"/>
            <a:ext cx="4206240" cy="320040"/>
          </a:xfrm>
          <a:prstGeom prst="rect">
            <a:avLst/>
          </a:prstGeom>
          <a:noFill/>
          <a:ln/>
        </p:spPr>
        <p:txBody>
          <a:bodyPr wrap="square"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Technical Notes</a:t>
            </a:r>
            <a:endParaRPr lang="en-US" sz="1400" dirty="0"/>
          </a:p>
        </p:txBody>
      </p:sp>
      <p:sp>
        <p:nvSpPr>
          <p:cNvPr id="38" name="Text 29"/>
          <p:cNvSpPr/>
          <p:nvPr/>
        </p:nvSpPr>
        <p:spPr>
          <a:xfrm>
            <a:off x="1508760" y="4284482"/>
            <a:ext cx="4206240" cy="502920"/>
          </a:xfrm>
          <a:prstGeom prst="rect">
            <a:avLst/>
          </a:prstGeom>
          <a:noFill/>
          <a:ln/>
        </p:spPr>
        <p:txBody>
          <a:bodyPr wrap="square" rtlCol="0" anchor="t"/>
          <a:lstStyle/>
          <a:p>
            <a:pPr marL="0" indent="0">
              <a:buNone/>
            </a:pPr>
            <a:r>
              <a:rPr lang="en-US" sz="1400" dirty="0">
                <a:latin typeface="Calibri" pitchFamily="34" charset="0"/>
                <a:ea typeface="Calibri" pitchFamily="34" charset="-122"/>
                <a:cs typeface="Calibri" pitchFamily="34" charset="-120"/>
              </a:rPr>
              <a:t>File details &amp; documentation limitations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2F3C7E"/>
                </a:solidFill>
                <a:latin typeface="Cambria" pitchFamily="34" charset="0"/>
                <a:ea typeface="Cambria" pitchFamily="34" charset="-122"/>
                <a:cs typeface="Cambria" pitchFamily="34" charset="-120"/>
              </a:rPr>
              <a:t>1. Project Overview</a:t>
            </a:r>
            <a:endParaRPr lang="en-US" sz="3000" dirty="0"/>
          </a:p>
        </p:txBody>
      </p:sp>
      <p:sp>
        <p:nvSpPr>
          <p:cNvPr id="3" name="Text 1"/>
          <p:cNvSpPr/>
          <p:nvPr/>
        </p:nvSpPr>
        <p:spPr>
          <a:xfrm>
            <a:off x="548640" y="1051560"/>
            <a:ext cx="6400800" cy="1463040"/>
          </a:xfrm>
          <a:prstGeom prst="rect">
            <a:avLst/>
          </a:prstGeom>
          <a:noFill/>
          <a:ln/>
        </p:spPr>
        <p:txBody>
          <a:bodyPr wrap="square" rtlCol="0" anchor="ctr"/>
          <a:lstStyle/>
          <a:p>
            <a:pPr marL="0" indent="0">
              <a:lnSpc>
                <a:spcPct val="125000"/>
              </a:lnSpc>
              <a:buNone/>
            </a:pPr>
            <a:r>
              <a:rPr lang="en-US" sz="1400" dirty="0">
                <a:solidFill>
                  <a:srgbClr val="2B2B2B"/>
                </a:solidFill>
                <a:latin typeface="Calibri" pitchFamily="34" charset="0"/>
                <a:ea typeface="Calibri" pitchFamily="34" charset="-122"/>
                <a:cs typeface="Calibri" pitchFamily="34" charset="-120"/>
              </a:rPr>
              <a:t>An end-to-end analytics solution for an e-commerce toys business, covering sales performance, product &amp; inventory analysis, customer behaviour, transaction detail, and website traffic and traffic conversion, sourced from SQL Server and delivered in Power BI across multiple pages and visuals.</a:t>
            </a:r>
            <a:endParaRPr lang="en-US" sz="1400" dirty="0"/>
          </a:p>
        </p:txBody>
      </p:sp>
      <p:sp>
        <p:nvSpPr>
          <p:cNvPr id="4" name="Text 2"/>
          <p:cNvSpPr/>
          <p:nvPr/>
        </p:nvSpPr>
        <p:spPr>
          <a:xfrm>
            <a:off x="548640" y="2468880"/>
            <a:ext cx="5486400" cy="320040"/>
          </a:xfrm>
          <a:prstGeom prst="rect">
            <a:avLst/>
          </a:prstGeom>
          <a:noFill/>
          <a:ln/>
        </p:spPr>
        <p:txBody>
          <a:bodyPr wrap="square" rtlCol="0" anchor="ctr"/>
          <a:lstStyle/>
          <a:p>
            <a:pPr marL="0" indent="0">
              <a:buNone/>
            </a:pPr>
            <a:r>
              <a:rPr lang="en-US" sz="1600" b="1" kern="0" spc="100" dirty="0">
                <a:solidFill>
                  <a:srgbClr val="F96167"/>
                </a:solidFill>
                <a:latin typeface="Calibri" pitchFamily="34" charset="0"/>
                <a:ea typeface="Calibri" pitchFamily="34" charset="-122"/>
                <a:cs typeface="Calibri" pitchFamily="34" charset="-120"/>
              </a:rPr>
              <a:t>OBJECTIVES</a:t>
            </a:r>
            <a:endParaRPr lang="en-US" sz="1600" dirty="0"/>
          </a:p>
        </p:txBody>
      </p:sp>
      <p:sp>
        <p:nvSpPr>
          <p:cNvPr id="5" name="Shape 3"/>
          <p:cNvSpPr/>
          <p:nvPr/>
        </p:nvSpPr>
        <p:spPr>
          <a:xfrm>
            <a:off x="548640" y="2944368"/>
            <a:ext cx="91440" cy="91440"/>
          </a:xfrm>
          <a:prstGeom prst="ellipse">
            <a:avLst/>
          </a:prstGeom>
          <a:solidFill>
            <a:srgbClr val="F96167"/>
          </a:solidFill>
          <a:ln/>
        </p:spPr>
        <p:txBody>
          <a:bodyPr/>
          <a:lstStyle/>
          <a:p>
            <a:endParaRPr lang="en-IN" sz="1400"/>
          </a:p>
        </p:txBody>
      </p:sp>
      <p:sp>
        <p:nvSpPr>
          <p:cNvPr id="6" name="Text 4"/>
          <p:cNvSpPr/>
          <p:nvPr/>
        </p:nvSpPr>
        <p:spPr>
          <a:xfrm>
            <a:off x="777240" y="2807208"/>
            <a:ext cx="5852160" cy="457200"/>
          </a:xfrm>
          <a:prstGeom prst="rect">
            <a:avLst/>
          </a:prstGeom>
          <a:noFill/>
          <a:ln/>
        </p:spPr>
        <p:txBody>
          <a:bodyPr wrap="square" rtlCol="0" anchor="t"/>
          <a:lstStyle/>
          <a:p>
            <a:pPr marL="0" indent="0">
              <a:buNone/>
            </a:pPr>
            <a:r>
              <a:rPr lang="en-US" sz="1400" dirty="0">
                <a:solidFill>
                  <a:srgbClr val="2B2B2B"/>
                </a:solidFill>
                <a:latin typeface="Calibri" pitchFamily="34" charset="0"/>
                <a:ea typeface="Calibri" pitchFamily="34" charset="-122"/>
                <a:cs typeface="Calibri" pitchFamily="34" charset="-120"/>
              </a:rPr>
              <a:t>Give the top management a view of revenue, profit, orders &amp; customer KPIs at a glance.</a:t>
            </a:r>
            <a:endParaRPr lang="en-US" sz="1400" dirty="0"/>
          </a:p>
        </p:txBody>
      </p:sp>
      <p:sp>
        <p:nvSpPr>
          <p:cNvPr id="7" name="Shape 5"/>
          <p:cNvSpPr/>
          <p:nvPr/>
        </p:nvSpPr>
        <p:spPr>
          <a:xfrm>
            <a:off x="548640" y="3511296"/>
            <a:ext cx="91440" cy="91440"/>
          </a:xfrm>
          <a:prstGeom prst="ellipse">
            <a:avLst/>
          </a:prstGeom>
          <a:solidFill>
            <a:srgbClr val="F96167"/>
          </a:solidFill>
          <a:ln/>
        </p:spPr>
        <p:txBody>
          <a:bodyPr/>
          <a:lstStyle/>
          <a:p>
            <a:endParaRPr lang="en-IN" sz="1400"/>
          </a:p>
        </p:txBody>
      </p:sp>
      <p:sp>
        <p:nvSpPr>
          <p:cNvPr id="8" name="Text 6"/>
          <p:cNvSpPr/>
          <p:nvPr/>
        </p:nvSpPr>
        <p:spPr>
          <a:xfrm>
            <a:off x="777240" y="3374136"/>
            <a:ext cx="5852160" cy="457200"/>
          </a:xfrm>
          <a:prstGeom prst="rect">
            <a:avLst/>
          </a:prstGeom>
          <a:noFill/>
          <a:ln/>
        </p:spPr>
        <p:txBody>
          <a:bodyPr wrap="square" rtlCol="0" anchor="t"/>
          <a:lstStyle/>
          <a:p>
            <a:pPr marL="0" indent="0">
              <a:buNone/>
            </a:pPr>
            <a:r>
              <a:rPr lang="en-US" sz="1400" dirty="0">
                <a:solidFill>
                  <a:srgbClr val="2B2B2B"/>
                </a:solidFill>
                <a:latin typeface="Calibri" pitchFamily="34" charset="0"/>
                <a:ea typeface="Calibri" pitchFamily="34" charset="-122"/>
                <a:cs typeface="Calibri" pitchFamily="34" charset="-120"/>
              </a:rPr>
              <a:t>Break down performance by product for data-driven merchandising decisions.</a:t>
            </a:r>
            <a:endParaRPr lang="en-US" sz="1400" dirty="0"/>
          </a:p>
        </p:txBody>
      </p:sp>
      <p:sp>
        <p:nvSpPr>
          <p:cNvPr id="9" name="Shape 7"/>
          <p:cNvSpPr/>
          <p:nvPr/>
        </p:nvSpPr>
        <p:spPr>
          <a:xfrm>
            <a:off x="548640" y="4078224"/>
            <a:ext cx="91440" cy="91440"/>
          </a:xfrm>
          <a:prstGeom prst="ellipse">
            <a:avLst/>
          </a:prstGeom>
          <a:solidFill>
            <a:srgbClr val="F96167"/>
          </a:solidFill>
          <a:ln/>
        </p:spPr>
        <p:txBody>
          <a:bodyPr/>
          <a:lstStyle/>
          <a:p>
            <a:endParaRPr lang="en-IN" sz="1400"/>
          </a:p>
        </p:txBody>
      </p:sp>
      <p:sp>
        <p:nvSpPr>
          <p:cNvPr id="10" name="Text 8"/>
          <p:cNvSpPr/>
          <p:nvPr/>
        </p:nvSpPr>
        <p:spPr>
          <a:xfrm>
            <a:off x="777240" y="3941064"/>
            <a:ext cx="5852160" cy="457200"/>
          </a:xfrm>
          <a:prstGeom prst="rect">
            <a:avLst/>
          </a:prstGeom>
          <a:noFill/>
          <a:ln/>
        </p:spPr>
        <p:txBody>
          <a:bodyPr wrap="square" rtlCol="0" anchor="t"/>
          <a:lstStyle/>
          <a:p>
            <a:pPr marL="0" indent="0">
              <a:buNone/>
            </a:pPr>
            <a:r>
              <a:rPr lang="en-US" sz="1400" dirty="0">
                <a:solidFill>
                  <a:srgbClr val="2B2B2B"/>
                </a:solidFill>
                <a:latin typeface="Calibri" pitchFamily="34" charset="0"/>
                <a:ea typeface="Calibri" pitchFamily="34" charset="-122"/>
                <a:cs typeface="Calibri" pitchFamily="34" charset="-120"/>
              </a:rPr>
              <a:t>Understand customer segments, like new vs repeat, at risk vs active.</a:t>
            </a:r>
            <a:endParaRPr lang="en-US" sz="1400" dirty="0"/>
          </a:p>
        </p:txBody>
      </p:sp>
      <p:sp>
        <p:nvSpPr>
          <p:cNvPr id="11" name="Shape 9"/>
          <p:cNvSpPr/>
          <p:nvPr/>
        </p:nvSpPr>
        <p:spPr>
          <a:xfrm>
            <a:off x="548640" y="4645152"/>
            <a:ext cx="91440" cy="91440"/>
          </a:xfrm>
          <a:prstGeom prst="ellipse">
            <a:avLst/>
          </a:prstGeom>
          <a:solidFill>
            <a:srgbClr val="F96167"/>
          </a:solidFill>
          <a:ln/>
        </p:spPr>
        <p:txBody>
          <a:bodyPr/>
          <a:lstStyle/>
          <a:p>
            <a:endParaRPr lang="en-IN" sz="1400"/>
          </a:p>
        </p:txBody>
      </p:sp>
      <p:sp>
        <p:nvSpPr>
          <p:cNvPr id="12" name="Text 10"/>
          <p:cNvSpPr/>
          <p:nvPr/>
        </p:nvSpPr>
        <p:spPr>
          <a:xfrm>
            <a:off x="777240" y="4507992"/>
            <a:ext cx="5852160" cy="457200"/>
          </a:xfrm>
          <a:prstGeom prst="rect">
            <a:avLst/>
          </a:prstGeom>
          <a:noFill/>
          <a:ln/>
        </p:spPr>
        <p:txBody>
          <a:bodyPr wrap="square" rtlCol="0" anchor="t"/>
          <a:lstStyle/>
          <a:p>
            <a:pPr marL="0" indent="0">
              <a:buNone/>
            </a:pPr>
            <a:r>
              <a:rPr lang="en-US" sz="1400" dirty="0">
                <a:solidFill>
                  <a:srgbClr val="2B2B2B"/>
                </a:solidFill>
                <a:latin typeface="Calibri" pitchFamily="34" charset="0"/>
                <a:ea typeface="Calibri" pitchFamily="34" charset="-122"/>
                <a:cs typeface="Calibri" pitchFamily="34" charset="-120"/>
              </a:rPr>
              <a:t>Provide transaction and website session level detail for operational analysis.</a:t>
            </a:r>
            <a:endParaRPr lang="en-US" sz="1400" dirty="0"/>
          </a:p>
        </p:txBody>
      </p:sp>
      <p:sp>
        <p:nvSpPr>
          <p:cNvPr id="13" name="Shape 11"/>
          <p:cNvSpPr/>
          <p:nvPr/>
        </p:nvSpPr>
        <p:spPr>
          <a:xfrm>
            <a:off x="548640" y="5212080"/>
            <a:ext cx="91440" cy="91440"/>
          </a:xfrm>
          <a:prstGeom prst="ellipse">
            <a:avLst/>
          </a:prstGeom>
          <a:solidFill>
            <a:srgbClr val="F96167"/>
          </a:solidFill>
          <a:ln/>
        </p:spPr>
        <p:txBody>
          <a:bodyPr/>
          <a:lstStyle/>
          <a:p>
            <a:endParaRPr lang="en-IN" sz="1400"/>
          </a:p>
        </p:txBody>
      </p:sp>
      <p:sp>
        <p:nvSpPr>
          <p:cNvPr id="14" name="Text 12"/>
          <p:cNvSpPr/>
          <p:nvPr/>
        </p:nvSpPr>
        <p:spPr>
          <a:xfrm>
            <a:off x="777240" y="5074920"/>
            <a:ext cx="5852160" cy="457200"/>
          </a:xfrm>
          <a:prstGeom prst="rect">
            <a:avLst/>
          </a:prstGeom>
          <a:noFill/>
          <a:ln/>
        </p:spPr>
        <p:txBody>
          <a:bodyPr wrap="square" rtlCol="0" anchor="t"/>
          <a:lstStyle/>
          <a:p>
            <a:pPr marL="0" indent="0">
              <a:buNone/>
            </a:pPr>
            <a:r>
              <a:rPr lang="en-US" sz="1400" dirty="0">
                <a:solidFill>
                  <a:srgbClr val="2B2B2B"/>
                </a:solidFill>
                <a:latin typeface="Calibri" pitchFamily="34" charset="0"/>
                <a:ea typeface="Calibri" pitchFamily="34" charset="-122"/>
                <a:cs typeface="Calibri" pitchFamily="34" charset="-120"/>
              </a:rPr>
              <a:t>Support self-service exploration via consistent slicers on every page.</a:t>
            </a:r>
            <a:endParaRPr lang="en-US" sz="1400" dirty="0"/>
          </a:p>
        </p:txBody>
      </p:sp>
      <p:sp>
        <p:nvSpPr>
          <p:cNvPr id="15" name="Shape 13"/>
          <p:cNvSpPr/>
          <p:nvPr/>
        </p:nvSpPr>
        <p:spPr>
          <a:xfrm>
            <a:off x="7223761" y="1051560"/>
            <a:ext cx="914399" cy="1554480"/>
          </a:xfrm>
          <a:prstGeom prst="roundRect">
            <a:avLst>
              <a:gd name="adj" fmla="val 4706"/>
            </a:avLst>
          </a:prstGeom>
          <a:solidFill>
            <a:srgbClr val="2F3C7E"/>
          </a:solidFill>
          <a:ln/>
        </p:spPr>
        <p:txBody>
          <a:bodyPr/>
          <a:lstStyle/>
          <a:p>
            <a:endParaRPr lang="en-IN"/>
          </a:p>
        </p:txBody>
      </p:sp>
      <p:sp>
        <p:nvSpPr>
          <p:cNvPr id="16" name="Text 14"/>
          <p:cNvSpPr/>
          <p:nvPr/>
        </p:nvSpPr>
        <p:spPr>
          <a:xfrm>
            <a:off x="7223761" y="1188720"/>
            <a:ext cx="914399" cy="777240"/>
          </a:xfrm>
          <a:prstGeom prst="rect">
            <a:avLst/>
          </a:prstGeom>
          <a:noFill/>
          <a:ln/>
        </p:spPr>
        <p:txBody>
          <a:bodyPr wrap="square" rtlCol="0" anchor="ctr"/>
          <a:lstStyle/>
          <a:p>
            <a:pPr marL="0" indent="0" algn="ctr">
              <a:buNone/>
            </a:pPr>
            <a:r>
              <a:rPr lang="en-US" sz="3400" b="1" dirty="0">
                <a:solidFill>
                  <a:srgbClr val="F9E795"/>
                </a:solidFill>
                <a:ea typeface="Cambria" pitchFamily="34" charset="-122"/>
                <a:cs typeface="Cambria" pitchFamily="34" charset="-120"/>
              </a:rPr>
              <a:t>7</a:t>
            </a:r>
            <a:endParaRPr lang="en-US" sz="3400" dirty="0"/>
          </a:p>
        </p:txBody>
      </p:sp>
      <p:sp>
        <p:nvSpPr>
          <p:cNvPr id="17" name="Text 15"/>
          <p:cNvSpPr/>
          <p:nvPr/>
        </p:nvSpPr>
        <p:spPr>
          <a:xfrm>
            <a:off x="7223761" y="1920240"/>
            <a:ext cx="914400" cy="548640"/>
          </a:xfrm>
          <a:prstGeom prst="rect">
            <a:avLst/>
          </a:prstGeom>
          <a:noFill/>
          <a:ln/>
        </p:spPr>
        <p:txBody>
          <a:bodyPr wrap="square" rtlCol="0" anchor="ctr"/>
          <a:lstStyle/>
          <a:p>
            <a:pPr marL="0" indent="0" algn="ctr">
              <a:lnSpc>
                <a:spcPct val="100000"/>
              </a:lnSpc>
              <a:buNone/>
            </a:pPr>
            <a:r>
              <a:rPr lang="en-US" sz="1050" dirty="0">
                <a:solidFill>
                  <a:srgbClr val="FFFFFF"/>
                </a:solidFill>
                <a:latin typeface="Calibri" pitchFamily="34" charset="0"/>
                <a:ea typeface="Calibri" pitchFamily="34" charset="-122"/>
                <a:cs typeface="Calibri" pitchFamily="34" charset="-120"/>
              </a:rPr>
              <a:t>Report</a:t>
            </a:r>
            <a:endParaRPr lang="en-US" sz="1050" dirty="0"/>
          </a:p>
          <a:p>
            <a:pPr marL="0" indent="0" algn="ctr">
              <a:lnSpc>
                <a:spcPct val="100000"/>
              </a:lnSpc>
              <a:buNone/>
            </a:pPr>
            <a:r>
              <a:rPr lang="en-US" sz="1050" dirty="0">
                <a:solidFill>
                  <a:srgbClr val="FFFFFF"/>
                </a:solidFill>
                <a:latin typeface="Calibri" pitchFamily="34" charset="0"/>
                <a:ea typeface="Calibri" pitchFamily="34" charset="-122"/>
                <a:cs typeface="Calibri" pitchFamily="34" charset="-120"/>
              </a:rPr>
              <a:t>Pages</a:t>
            </a:r>
            <a:endParaRPr lang="en-US" sz="1050" dirty="0"/>
          </a:p>
        </p:txBody>
      </p:sp>
      <p:sp>
        <p:nvSpPr>
          <p:cNvPr id="18" name="Shape 16"/>
          <p:cNvSpPr/>
          <p:nvPr/>
        </p:nvSpPr>
        <p:spPr>
          <a:xfrm>
            <a:off x="8287701" y="1041082"/>
            <a:ext cx="1137285" cy="1575435"/>
          </a:xfrm>
          <a:prstGeom prst="roundRect">
            <a:avLst>
              <a:gd name="adj" fmla="val 4706"/>
            </a:avLst>
          </a:prstGeom>
          <a:solidFill>
            <a:srgbClr val="2F3C7E"/>
          </a:solidFill>
          <a:ln/>
        </p:spPr>
        <p:txBody>
          <a:bodyPr/>
          <a:lstStyle/>
          <a:p>
            <a:endParaRPr lang="en-IN"/>
          </a:p>
        </p:txBody>
      </p:sp>
      <p:sp>
        <p:nvSpPr>
          <p:cNvPr id="19" name="Text 17"/>
          <p:cNvSpPr/>
          <p:nvPr/>
        </p:nvSpPr>
        <p:spPr>
          <a:xfrm>
            <a:off x="8301988" y="1188720"/>
            <a:ext cx="1079186" cy="685800"/>
          </a:xfrm>
          <a:prstGeom prst="rect">
            <a:avLst/>
          </a:prstGeom>
          <a:noFill/>
          <a:ln/>
        </p:spPr>
        <p:txBody>
          <a:bodyPr wrap="square" rtlCol="0" anchor="ctr"/>
          <a:lstStyle/>
          <a:p>
            <a:pPr marL="0" indent="0" algn="ctr">
              <a:buNone/>
            </a:pPr>
            <a:r>
              <a:rPr lang="en-US" sz="3400" b="1" dirty="0">
                <a:solidFill>
                  <a:srgbClr val="F9E795"/>
                </a:solidFill>
                <a:ea typeface="Cambria" pitchFamily="34" charset="-122"/>
                <a:cs typeface="Cambria" pitchFamily="34" charset="-120"/>
              </a:rPr>
              <a:t>60</a:t>
            </a:r>
            <a:endParaRPr lang="en-US" sz="3400" dirty="0"/>
          </a:p>
        </p:txBody>
      </p:sp>
      <p:sp>
        <p:nvSpPr>
          <p:cNvPr id="20" name="Text 18"/>
          <p:cNvSpPr/>
          <p:nvPr/>
        </p:nvSpPr>
        <p:spPr>
          <a:xfrm>
            <a:off x="8313420" y="1965960"/>
            <a:ext cx="1067754" cy="548640"/>
          </a:xfrm>
          <a:prstGeom prst="rect">
            <a:avLst/>
          </a:prstGeom>
          <a:noFill/>
          <a:ln/>
        </p:spPr>
        <p:txBody>
          <a:bodyPr wrap="square" rtlCol="0" anchor="ctr"/>
          <a:lstStyle/>
          <a:p>
            <a:pPr marL="0" indent="0" algn="ctr">
              <a:lnSpc>
                <a:spcPct val="100000"/>
              </a:lnSpc>
              <a:buNone/>
            </a:pPr>
            <a:r>
              <a:rPr lang="en-US" sz="1050" dirty="0">
                <a:solidFill>
                  <a:srgbClr val="FFFFFF"/>
                </a:solidFill>
                <a:latin typeface="Calibri" pitchFamily="34" charset="0"/>
                <a:ea typeface="Calibri" pitchFamily="34" charset="-122"/>
                <a:cs typeface="Calibri" pitchFamily="34" charset="-120"/>
              </a:rPr>
              <a:t>Total</a:t>
            </a:r>
            <a:endParaRPr lang="en-US" sz="1050" dirty="0"/>
          </a:p>
          <a:p>
            <a:pPr marL="0" indent="0" algn="ctr">
              <a:lnSpc>
                <a:spcPct val="100000"/>
              </a:lnSpc>
              <a:buNone/>
            </a:pPr>
            <a:r>
              <a:rPr lang="en-US" sz="1050" dirty="0">
                <a:solidFill>
                  <a:srgbClr val="FFFFFF"/>
                </a:solidFill>
                <a:latin typeface="Calibri" pitchFamily="34" charset="0"/>
                <a:ea typeface="Calibri" pitchFamily="34" charset="-122"/>
                <a:cs typeface="Calibri" pitchFamily="34" charset="-120"/>
              </a:rPr>
              <a:t>Visuals</a:t>
            </a:r>
            <a:endParaRPr lang="en-US" sz="1050" dirty="0"/>
          </a:p>
        </p:txBody>
      </p:sp>
      <p:sp>
        <p:nvSpPr>
          <p:cNvPr id="21" name="Shape 19"/>
          <p:cNvSpPr/>
          <p:nvPr/>
        </p:nvSpPr>
        <p:spPr>
          <a:xfrm>
            <a:off x="9588814" y="1051560"/>
            <a:ext cx="1068705" cy="1573530"/>
          </a:xfrm>
          <a:prstGeom prst="roundRect">
            <a:avLst>
              <a:gd name="adj" fmla="val 4706"/>
            </a:avLst>
          </a:prstGeom>
          <a:solidFill>
            <a:srgbClr val="2F3C7E"/>
          </a:solidFill>
          <a:ln/>
        </p:spPr>
        <p:txBody>
          <a:bodyPr/>
          <a:lstStyle/>
          <a:p>
            <a:endParaRPr lang="en-IN"/>
          </a:p>
        </p:txBody>
      </p:sp>
      <p:sp>
        <p:nvSpPr>
          <p:cNvPr id="22" name="Text 20"/>
          <p:cNvSpPr/>
          <p:nvPr/>
        </p:nvSpPr>
        <p:spPr>
          <a:xfrm>
            <a:off x="9616439" y="1188720"/>
            <a:ext cx="1029649" cy="777240"/>
          </a:xfrm>
          <a:prstGeom prst="rect">
            <a:avLst/>
          </a:prstGeom>
          <a:noFill/>
          <a:ln/>
        </p:spPr>
        <p:txBody>
          <a:bodyPr wrap="square" rtlCol="0" anchor="ctr"/>
          <a:lstStyle/>
          <a:p>
            <a:pPr marL="0" indent="0" algn="ctr">
              <a:buNone/>
            </a:pPr>
            <a:r>
              <a:rPr lang="en-US" sz="3400" b="1" dirty="0">
                <a:solidFill>
                  <a:srgbClr val="F9E795"/>
                </a:solidFill>
                <a:ea typeface="Cambria" pitchFamily="34" charset="-122"/>
                <a:cs typeface="Cambria" pitchFamily="34" charset="-120"/>
              </a:rPr>
              <a:t>42</a:t>
            </a:r>
            <a:endParaRPr lang="en-US" sz="3400" dirty="0"/>
          </a:p>
        </p:txBody>
      </p:sp>
      <p:sp>
        <p:nvSpPr>
          <p:cNvPr id="23" name="Text 21"/>
          <p:cNvSpPr/>
          <p:nvPr/>
        </p:nvSpPr>
        <p:spPr>
          <a:xfrm>
            <a:off x="9588814" y="1965960"/>
            <a:ext cx="1057274" cy="548640"/>
          </a:xfrm>
          <a:prstGeom prst="rect">
            <a:avLst/>
          </a:prstGeom>
          <a:noFill/>
          <a:ln/>
        </p:spPr>
        <p:txBody>
          <a:bodyPr wrap="square" rtlCol="0" anchor="ctr"/>
          <a:lstStyle/>
          <a:p>
            <a:pPr marL="0" indent="0" algn="ctr">
              <a:lnSpc>
                <a:spcPct val="100000"/>
              </a:lnSpc>
              <a:buNone/>
            </a:pPr>
            <a:r>
              <a:rPr lang="en-US" sz="1050" dirty="0">
                <a:solidFill>
                  <a:srgbClr val="FFFFFF"/>
                </a:solidFill>
                <a:latin typeface="Calibri" pitchFamily="34" charset="0"/>
                <a:ea typeface="Calibri" pitchFamily="34" charset="-122"/>
                <a:cs typeface="Calibri" pitchFamily="34" charset="-120"/>
              </a:rPr>
              <a:t>DAX</a:t>
            </a:r>
            <a:endParaRPr lang="en-US" sz="1050" dirty="0"/>
          </a:p>
          <a:p>
            <a:pPr marL="0" indent="0" algn="ctr">
              <a:lnSpc>
                <a:spcPct val="100000"/>
              </a:lnSpc>
              <a:buNone/>
            </a:pPr>
            <a:r>
              <a:rPr lang="en-US" sz="1050" dirty="0">
                <a:solidFill>
                  <a:srgbClr val="FFFFFF"/>
                </a:solidFill>
                <a:latin typeface="Calibri" pitchFamily="34" charset="0"/>
                <a:ea typeface="Calibri" pitchFamily="34" charset="-122"/>
                <a:cs typeface="Calibri" pitchFamily="34" charset="-120"/>
              </a:rPr>
              <a:t>Measures</a:t>
            </a:r>
            <a:endParaRPr lang="en-US" sz="1050" dirty="0"/>
          </a:p>
        </p:txBody>
      </p:sp>
      <p:sp>
        <p:nvSpPr>
          <p:cNvPr id="24" name="Shape 22"/>
          <p:cNvSpPr/>
          <p:nvPr/>
        </p:nvSpPr>
        <p:spPr>
          <a:xfrm>
            <a:off x="10845166" y="1051560"/>
            <a:ext cx="919163" cy="1554480"/>
          </a:xfrm>
          <a:prstGeom prst="roundRect">
            <a:avLst>
              <a:gd name="adj" fmla="val 4706"/>
            </a:avLst>
          </a:prstGeom>
          <a:solidFill>
            <a:srgbClr val="2F3C7E"/>
          </a:solidFill>
          <a:ln/>
        </p:spPr>
        <p:txBody>
          <a:bodyPr/>
          <a:lstStyle/>
          <a:p>
            <a:endParaRPr lang="en-IN"/>
          </a:p>
        </p:txBody>
      </p:sp>
      <p:sp>
        <p:nvSpPr>
          <p:cNvPr id="25" name="Text 23"/>
          <p:cNvSpPr/>
          <p:nvPr/>
        </p:nvSpPr>
        <p:spPr>
          <a:xfrm>
            <a:off x="10868029" y="1188720"/>
            <a:ext cx="860867" cy="777240"/>
          </a:xfrm>
          <a:prstGeom prst="rect">
            <a:avLst/>
          </a:prstGeom>
          <a:noFill/>
          <a:ln/>
        </p:spPr>
        <p:txBody>
          <a:bodyPr wrap="square" rtlCol="0" anchor="ctr"/>
          <a:lstStyle/>
          <a:p>
            <a:pPr marL="0" indent="0" algn="ctr">
              <a:buNone/>
            </a:pPr>
            <a:r>
              <a:rPr lang="en-US" sz="3400" b="1" dirty="0">
                <a:solidFill>
                  <a:srgbClr val="F9E795"/>
                </a:solidFill>
                <a:ea typeface="Cambria" pitchFamily="34" charset="-122"/>
                <a:cs typeface="Cambria" pitchFamily="34" charset="-120"/>
              </a:rPr>
              <a:t>6</a:t>
            </a:r>
            <a:endParaRPr lang="en-US" sz="3400" dirty="0"/>
          </a:p>
        </p:txBody>
      </p:sp>
      <p:sp>
        <p:nvSpPr>
          <p:cNvPr id="26" name="Text 24"/>
          <p:cNvSpPr/>
          <p:nvPr/>
        </p:nvSpPr>
        <p:spPr>
          <a:xfrm>
            <a:off x="10878503" y="1920240"/>
            <a:ext cx="885826" cy="548640"/>
          </a:xfrm>
          <a:prstGeom prst="rect">
            <a:avLst/>
          </a:prstGeom>
          <a:noFill/>
          <a:ln/>
        </p:spPr>
        <p:txBody>
          <a:bodyPr wrap="square" rtlCol="0" anchor="ctr"/>
          <a:lstStyle/>
          <a:p>
            <a:pPr marL="0" indent="0" algn="ctr">
              <a:lnSpc>
                <a:spcPct val="100000"/>
              </a:lnSpc>
              <a:buNone/>
            </a:pPr>
            <a:r>
              <a:rPr lang="en-US" sz="1050" dirty="0">
                <a:solidFill>
                  <a:srgbClr val="FFFFFF"/>
                </a:solidFill>
                <a:latin typeface="Calibri" pitchFamily="34" charset="0"/>
                <a:ea typeface="Calibri" pitchFamily="34" charset="-122"/>
                <a:cs typeface="Calibri" pitchFamily="34" charset="-120"/>
              </a:rPr>
              <a:t>Source</a:t>
            </a:r>
            <a:endParaRPr lang="en-US" sz="1050" dirty="0"/>
          </a:p>
          <a:p>
            <a:pPr marL="0" indent="0" algn="ctr">
              <a:lnSpc>
                <a:spcPct val="100000"/>
              </a:lnSpc>
              <a:buNone/>
            </a:pPr>
            <a:r>
              <a:rPr lang="en-US" sz="1050" dirty="0">
                <a:solidFill>
                  <a:srgbClr val="FFFFFF"/>
                </a:solidFill>
                <a:latin typeface="Calibri" pitchFamily="34" charset="0"/>
                <a:ea typeface="Calibri" pitchFamily="34" charset="-122"/>
                <a:cs typeface="Calibri" pitchFamily="34" charset="-120"/>
              </a:rPr>
              <a:t>Tables</a:t>
            </a:r>
            <a:endParaRPr lang="en-US" sz="1050" dirty="0"/>
          </a:p>
        </p:txBody>
      </p:sp>
      <p:sp>
        <p:nvSpPr>
          <p:cNvPr id="27" name="Shape 25"/>
          <p:cNvSpPr/>
          <p:nvPr/>
        </p:nvSpPr>
        <p:spPr>
          <a:xfrm>
            <a:off x="7223760" y="2834640"/>
            <a:ext cx="4434840" cy="2468880"/>
          </a:xfrm>
          <a:prstGeom prst="roundRect">
            <a:avLst>
              <a:gd name="adj" fmla="val 2667"/>
            </a:avLst>
          </a:prstGeom>
          <a:solidFill>
            <a:srgbClr val="F7F7FB"/>
          </a:solidFill>
          <a:ln/>
        </p:spPr>
        <p:txBody>
          <a:bodyPr/>
          <a:lstStyle/>
          <a:p>
            <a:endParaRPr lang="en-IN"/>
          </a:p>
        </p:txBody>
      </p:sp>
      <p:sp>
        <p:nvSpPr>
          <p:cNvPr id="28" name="Shape 26"/>
          <p:cNvSpPr/>
          <p:nvPr/>
        </p:nvSpPr>
        <p:spPr>
          <a:xfrm>
            <a:off x="7452360" y="3026664"/>
            <a:ext cx="548640" cy="548640"/>
          </a:xfrm>
          <a:prstGeom prst="ellipse">
            <a:avLst/>
          </a:prstGeom>
          <a:solidFill>
            <a:srgbClr val="F96167"/>
          </a:solidFill>
          <a:ln/>
        </p:spPr>
        <p:txBody>
          <a:bodyPr/>
          <a:lstStyle/>
          <a:p>
            <a:endParaRPr lang="en-IN" dirty="0"/>
          </a:p>
        </p:txBody>
      </p:sp>
      <p:sp>
        <p:nvSpPr>
          <p:cNvPr id="30" name="Text 27"/>
          <p:cNvSpPr/>
          <p:nvPr/>
        </p:nvSpPr>
        <p:spPr>
          <a:xfrm>
            <a:off x="8138160" y="3063240"/>
            <a:ext cx="3291840" cy="365760"/>
          </a:xfrm>
          <a:prstGeom prst="rect">
            <a:avLst/>
          </a:prstGeom>
          <a:noFill/>
          <a:ln/>
        </p:spPr>
        <p:txBody>
          <a:bodyPr wrap="square" rtlCol="0" anchor="ctr"/>
          <a:lstStyle/>
          <a:p>
            <a:pPr marL="0" indent="0">
              <a:buNone/>
            </a:pPr>
            <a:r>
              <a:rPr lang="en-US" sz="1600" b="1" dirty="0">
                <a:solidFill>
                  <a:srgbClr val="2B2B2B"/>
                </a:solidFill>
                <a:latin typeface="Calibri" pitchFamily="34" charset="0"/>
                <a:ea typeface="Calibri" pitchFamily="34" charset="-122"/>
                <a:cs typeface="Calibri" pitchFamily="34" charset="-120"/>
              </a:rPr>
              <a:t>Tools &amp; Technology</a:t>
            </a:r>
            <a:endParaRPr lang="en-US" sz="1600" dirty="0"/>
          </a:p>
        </p:txBody>
      </p:sp>
      <p:sp>
        <p:nvSpPr>
          <p:cNvPr id="31" name="Text 28"/>
          <p:cNvSpPr/>
          <p:nvPr/>
        </p:nvSpPr>
        <p:spPr>
          <a:xfrm>
            <a:off x="7452360" y="3657600"/>
            <a:ext cx="3977640" cy="1645920"/>
          </a:xfrm>
          <a:prstGeom prst="rect">
            <a:avLst/>
          </a:prstGeom>
          <a:noFill/>
          <a:ln/>
        </p:spPr>
        <p:txBody>
          <a:bodyPr wrap="square" rtlCol="0" anchor="t"/>
          <a:lstStyle/>
          <a:p>
            <a:pPr marL="0" indent="0">
              <a:lnSpc>
                <a:spcPct val="120000"/>
              </a:lnSpc>
              <a:buNone/>
            </a:pPr>
            <a:r>
              <a:rPr lang="en-US" sz="1600" b="1" dirty="0">
                <a:solidFill>
                  <a:srgbClr val="2F3C7E"/>
                </a:solidFill>
                <a:latin typeface="Calibri" pitchFamily="34" charset="0"/>
                <a:ea typeface="Calibri" pitchFamily="34" charset="-122"/>
                <a:cs typeface="Calibri" pitchFamily="34" charset="-120"/>
              </a:rPr>
              <a:t>SQL Server: </a:t>
            </a:r>
            <a:r>
              <a:rPr lang="en-US" sz="1400" dirty="0">
                <a:solidFill>
                  <a:srgbClr val="2B2B2B"/>
                </a:solidFill>
                <a:latin typeface="Calibri" pitchFamily="34" charset="0"/>
                <a:ea typeface="Calibri" pitchFamily="34" charset="-122"/>
                <a:cs typeface="Calibri" pitchFamily="34" charset="-120"/>
              </a:rPr>
              <a:t>Data Processing- checking for NULL values, outliers.</a:t>
            </a:r>
            <a:r>
              <a:rPr lang="en-US" sz="1600" dirty="0">
                <a:solidFill>
                  <a:srgbClr val="2B2B2B"/>
                </a:solidFill>
                <a:latin typeface="Calibri" pitchFamily="34" charset="0"/>
                <a:ea typeface="Calibri" pitchFamily="34" charset="-122"/>
                <a:cs typeface="Calibri" pitchFamily="34" charset="-120"/>
              </a:rPr>
              <a:t>
</a:t>
            </a:r>
            <a:r>
              <a:rPr lang="en-US" sz="1600" b="1" dirty="0">
                <a:solidFill>
                  <a:srgbClr val="2F3C7E"/>
                </a:solidFill>
                <a:latin typeface="Calibri" pitchFamily="34" charset="0"/>
                <a:ea typeface="Calibri" pitchFamily="34" charset="-122"/>
                <a:cs typeface="Calibri" pitchFamily="34" charset="-120"/>
              </a:rPr>
              <a:t>Power BI Desktop: </a:t>
            </a:r>
            <a:r>
              <a:rPr lang="en-US" sz="1400" dirty="0">
                <a:solidFill>
                  <a:srgbClr val="2B2B2B"/>
                </a:solidFill>
                <a:latin typeface="Calibri" pitchFamily="34" charset="0"/>
                <a:ea typeface="Calibri" pitchFamily="34" charset="-122"/>
                <a:cs typeface="Calibri" pitchFamily="34" charset="-120"/>
              </a:rPr>
              <a:t>Data modelling, DAX measures, Visualisations.
</a:t>
            </a:r>
            <a:endParaRPr lang="en-US" sz="1400" dirty="0"/>
          </a:p>
        </p:txBody>
      </p:sp>
      <p:pic>
        <p:nvPicPr>
          <p:cNvPr id="35" name="Graphic 34" descr="Tools with solid fill">
            <a:extLst>
              <a:ext uri="{FF2B5EF4-FFF2-40B4-BE49-F238E27FC236}">
                <a16:creationId xmlns:a16="http://schemas.microsoft.com/office/drawing/2014/main" id="{4D8E4D0D-24DE-0A70-21EB-BBF736BA72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31566" y="3131540"/>
            <a:ext cx="377994" cy="33832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88BDD1B6-0594-D013-3D5F-5AF1143D7815}"/>
              </a:ext>
            </a:extLst>
          </p:cNvPr>
          <p:cNvSpPr/>
          <p:nvPr/>
        </p:nvSpPr>
        <p:spPr>
          <a:xfrm>
            <a:off x="548640" y="347400"/>
            <a:ext cx="11091672" cy="658440"/>
          </a:xfrm>
          <a:prstGeom prst="rect">
            <a:avLst/>
          </a:prstGeom>
          <a:noFill/>
          <a:ln/>
        </p:spPr>
        <p:txBody>
          <a:bodyPr wrap="square" rtlCol="0" anchor="ctr"/>
          <a:lstStyle/>
          <a:p>
            <a:pPr marL="0" indent="0">
              <a:buNone/>
            </a:pPr>
            <a:r>
              <a:rPr lang="en-US" sz="3000" b="1" dirty="0">
                <a:solidFill>
                  <a:srgbClr val="2F3C7E"/>
                </a:solidFill>
                <a:latin typeface="Cambria" pitchFamily="34" charset="0"/>
                <a:ea typeface="Cambria" pitchFamily="34" charset="-122"/>
                <a:cs typeface="Cambria" pitchFamily="34" charset="-120"/>
              </a:rPr>
              <a:t>2. Project Workflow</a:t>
            </a:r>
            <a:endParaRPr lang="en-US" sz="3000" dirty="0"/>
          </a:p>
        </p:txBody>
      </p:sp>
      <p:pic>
        <p:nvPicPr>
          <p:cNvPr id="6" name="Graphic 5" descr="Database with solid fill">
            <a:extLst>
              <a:ext uri="{FF2B5EF4-FFF2-40B4-BE49-F238E27FC236}">
                <a16:creationId xmlns:a16="http://schemas.microsoft.com/office/drawing/2014/main" id="{B440BE7A-013C-F0AE-2B83-CAD6B549AF5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89085" y="2052410"/>
            <a:ext cx="466530" cy="445993"/>
          </a:xfrm>
          <a:prstGeom prst="rect">
            <a:avLst/>
          </a:prstGeom>
        </p:spPr>
      </p:pic>
      <p:pic>
        <p:nvPicPr>
          <p:cNvPr id="10" name="Graphic 9" descr="Document with solid fill">
            <a:extLst>
              <a:ext uri="{FF2B5EF4-FFF2-40B4-BE49-F238E27FC236}">
                <a16:creationId xmlns:a16="http://schemas.microsoft.com/office/drawing/2014/main" id="{6856E9C6-252D-4DB7-38A6-DBC299A4D9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89085" y="1239581"/>
            <a:ext cx="466530" cy="445993"/>
          </a:xfrm>
          <a:prstGeom prst="rect">
            <a:avLst/>
          </a:prstGeom>
        </p:spPr>
      </p:pic>
      <p:pic>
        <p:nvPicPr>
          <p:cNvPr id="12" name="Picture 11">
            <a:extLst>
              <a:ext uri="{FF2B5EF4-FFF2-40B4-BE49-F238E27FC236}">
                <a16:creationId xmlns:a16="http://schemas.microsoft.com/office/drawing/2014/main" id="{5DE28EAC-C1C0-B012-0E69-FBFCE24A8807}"/>
              </a:ext>
            </a:extLst>
          </p:cNvPr>
          <p:cNvPicPr>
            <a:picLocks noChangeAspect="1"/>
          </p:cNvPicPr>
          <p:nvPr/>
        </p:nvPicPr>
        <p:blipFill>
          <a:blip r:embed="rId4"/>
          <a:stretch>
            <a:fillRect/>
          </a:stretch>
        </p:blipFill>
        <p:spPr>
          <a:xfrm>
            <a:off x="4521252" y="2781712"/>
            <a:ext cx="466530" cy="445993"/>
          </a:xfrm>
          <a:prstGeom prst="rect">
            <a:avLst/>
          </a:prstGeom>
        </p:spPr>
      </p:pic>
      <p:pic>
        <p:nvPicPr>
          <p:cNvPr id="14" name="Picture 13">
            <a:extLst>
              <a:ext uri="{FF2B5EF4-FFF2-40B4-BE49-F238E27FC236}">
                <a16:creationId xmlns:a16="http://schemas.microsoft.com/office/drawing/2014/main" id="{A18598D6-856C-EF5B-BE44-F3FCD54127A9}"/>
              </a:ext>
            </a:extLst>
          </p:cNvPr>
          <p:cNvPicPr>
            <a:picLocks noChangeAspect="1"/>
          </p:cNvPicPr>
          <p:nvPr/>
        </p:nvPicPr>
        <p:blipFill>
          <a:blip r:embed="rId5"/>
          <a:stretch>
            <a:fillRect/>
          </a:stretch>
        </p:blipFill>
        <p:spPr>
          <a:xfrm>
            <a:off x="4458477" y="3595224"/>
            <a:ext cx="466530" cy="445993"/>
          </a:xfrm>
          <a:prstGeom prst="rect">
            <a:avLst/>
          </a:prstGeom>
        </p:spPr>
      </p:pic>
      <p:pic>
        <p:nvPicPr>
          <p:cNvPr id="20" name="Picture 19">
            <a:extLst>
              <a:ext uri="{FF2B5EF4-FFF2-40B4-BE49-F238E27FC236}">
                <a16:creationId xmlns:a16="http://schemas.microsoft.com/office/drawing/2014/main" id="{EDADD0CE-3024-83AD-8E1E-F63F9C15E941}"/>
              </a:ext>
            </a:extLst>
          </p:cNvPr>
          <p:cNvPicPr>
            <a:picLocks noChangeAspect="1"/>
          </p:cNvPicPr>
          <p:nvPr/>
        </p:nvPicPr>
        <p:blipFill>
          <a:blip r:embed="rId6"/>
          <a:stretch>
            <a:fillRect/>
          </a:stretch>
        </p:blipFill>
        <p:spPr>
          <a:xfrm>
            <a:off x="4490643" y="4419891"/>
            <a:ext cx="466531" cy="445994"/>
          </a:xfrm>
          <a:prstGeom prst="rect">
            <a:avLst/>
          </a:prstGeom>
        </p:spPr>
      </p:pic>
      <p:pic>
        <p:nvPicPr>
          <p:cNvPr id="22" name="Picture 21">
            <a:extLst>
              <a:ext uri="{FF2B5EF4-FFF2-40B4-BE49-F238E27FC236}">
                <a16:creationId xmlns:a16="http://schemas.microsoft.com/office/drawing/2014/main" id="{D24F6C97-75E2-956F-8E95-8CA0FC8410EE}"/>
              </a:ext>
            </a:extLst>
          </p:cNvPr>
          <p:cNvPicPr>
            <a:picLocks noChangeAspect="1"/>
          </p:cNvPicPr>
          <p:nvPr/>
        </p:nvPicPr>
        <p:blipFill>
          <a:blip r:embed="rId7"/>
          <a:stretch>
            <a:fillRect/>
          </a:stretch>
        </p:blipFill>
        <p:spPr>
          <a:xfrm>
            <a:off x="4490641" y="5303608"/>
            <a:ext cx="466531" cy="445994"/>
          </a:xfrm>
          <a:prstGeom prst="rect">
            <a:avLst/>
          </a:prstGeom>
        </p:spPr>
      </p:pic>
      <p:sp>
        <p:nvSpPr>
          <p:cNvPr id="23" name="TextBox 22">
            <a:extLst>
              <a:ext uri="{FF2B5EF4-FFF2-40B4-BE49-F238E27FC236}">
                <a16:creationId xmlns:a16="http://schemas.microsoft.com/office/drawing/2014/main" id="{4EA423D2-8D6E-2C86-6517-5AFED8400C89}"/>
              </a:ext>
            </a:extLst>
          </p:cNvPr>
          <p:cNvSpPr txBox="1"/>
          <p:nvPr/>
        </p:nvSpPr>
        <p:spPr>
          <a:xfrm>
            <a:off x="5209590" y="1293300"/>
            <a:ext cx="1351384" cy="338554"/>
          </a:xfrm>
          <a:prstGeom prst="rect">
            <a:avLst/>
          </a:prstGeom>
          <a:noFill/>
        </p:spPr>
        <p:txBody>
          <a:bodyPr wrap="square" rtlCol="0">
            <a:spAutoFit/>
          </a:bodyPr>
          <a:lstStyle/>
          <a:p>
            <a:r>
              <a:rPr lang="en-US" sz="1600" b="1" dirty="0">
                <a:solidFill>
                  <a:srgbClr val="2B2B2B"/>
                </a:solidFill>
                <a:latin typeface="Calibri" pitchFamily="34" charset="0"/>
                <a:ea typeface="Calibri" pitchFamily="34" charset="-122"/>
                <a:cs typeface="Calibri" pitchFamily="34" charset="-120"/>
              </a:rPr>
              <a:t>Raw Data</a:t>
            </a:r>
            <a:endParaRPr lang="en-US" sz="1600" dirty="0"/>
          </a:p>
        </p:txBody>
      </p:sp>
      <p:sp>
        <p:nvSpPr>
          <p:cNvPr id="27" name="TextBox 26">
            <a:extLst>
              <a:ext uri="{FF2B5EF4-FFF2-40B4-BE49-F238E27FC236}">
                <a16:creationId xmlns:a16="http://schemas.microsoft.com/office/drawing/2014/main" id="{01999CA6-EC6B-3FBC-A79C-87A2B4266E87}"/>
              </a:ext>
            </a:extLst>
          </p:cNvPr>
          <p:cNvSpPr txBox="1"/>
          <p:nvPr/>
        </p:nvSpPr>
        <p:spPr>
          <a:xfrm>
            <a:off x="5209590" y="2122312"/>
            <a:ext cx="1351384" cy="338554"/>
          </a:xfrm>
          <a:prstGeom prst="rect">
            <a:avLst/>
          </a:prstGeom>
          <a:noFill/>
        </p:spPr>
        <p:txBody>
          <a:bodyPr wrap="square" rtlCol="0">
            <a:spAutoFit/>
          </a:bodyPr>
          <a:lstStyle/>
          <a:p>
            <a:r>
              <a:rPr lang="en-US" sz="1600" b="1" dirty="0">
                <a:solidFill>
                  <a:srgbClr val="2B2B2B"/>
                </a:solidFill>
                <a:latin typeface="Calibri" pitchFamily="34" charset="0"/>
                <a:ea typeface="Calibri" pitchFamily="34" charset="-122"/>
                <a:cs typeface="Calibri" pitchFamily="34" charset="-120"/>
              </a:rPr>
              <a:t>SQL Server</a:t>
            </a:r>
            <a:endParaRPr lang="en-US" sz="1600" dirty="0"/>
          </a:p>
        </p:txBody>
      </p:sp>
      <p:sp>
        <p:nvSpPr>
          <p:cNvPr id="29" name="TextBox 28">
            <a:extLst>
              <a:ext uri="{FF2B5EF4-FFF2-40B4-BE49-F238E27FC236}">
                <a16:creationId xmlns:a16="http://schemas.microsoft.com/office/drawing/2014/main" id="{BFBEF108-4537-1A34-650E-2C5EE9E19B39}"/>
              </a:ext>
            </a:extLst>
          </p:cNvPr>
          <p:cNvSpPr txBox="1"/>
          <p:nvPr/>
        </p:nvSpPr>
        <p:spPr>
          <a:xfrm>
            <a:off x="5211147" y="2857621"/>
            <a:ext cx="1351384" cy="338554"/>
          </a:xfrm>
          <a:prstGeom prst="rect">
            <a:avLst/>
          </a:prstGeom>
          <a:noFill/>
        </p:spPr>
        <p:txBody>
          <a:bodyPr wrap="square" rtlCol="0">
            <a:spAutoFit/>
          </a:bodyPr>
          <a:lstStyle/>
          <a:p>
            <a:r>
              <a:rPr lang="en-US" sz="1600" b="1" dirty="0">
                <a:solidFill>
                  <a:srgbClr val="2B2B2B"/>
                </a:solidFill>
                <a:latin typeface="Calibri" pitchFamily="34" charset="0"/>
                <a:ea typeface="Calibri" pitchFamily="34" charset="-122"/>
                <a:cs typeface="Calibri" pitchFamily="34" charset="-120"/>
              </a:rPr>
              <a:t>Data Cleaning</a:t>
            </a:r>
            <a:endParaRPr lang="en-US" sz="1600" dirty="0"/>
          </a:p>
        </p:txBody>
      </p:sp>
      <p:sp>
        <p:nvSpPr>
          <p:cNvPr id="31" name="TextBox 30">
            <a:extLst>
              <a:ext uri="{FF2B5EF4-FFF2-40B4-BE49-F238E27FC236}">
                <a16:creationId xmlns:a16="http://schemas.microsoft.com/office/drawing/2014/main" id="{DBA42E5D-C802-A84A-8E65-C61F658F2654}"/>
              </a:ext>
            </a:extLst>
          </p:cNvPr>
          <p:cNvSpPr txBox="1"/>
          <p:nvPr/>
        </p:nvSpPr>
        <p:spPr>
          <a:xfrm>
            <a:off x="5178980" y="3687317"/>
            <a:ext cx="2010747" cy="338554"/>
          </a:xfrm>
          <a:prstGeom prst="rect">
            <a:avLst/>
          </a:prstGeom>
          <a:noFill/>
        </p:spPr>
        <p:txBody>
          <a:bodyPr wrap="square" rtlCol="0">
            <a:spAutoFit/>
          </a:bodyPr>
          <a:lstStyle/>
          <a:p>
            <a:r>
              <a:rPr lang="en-US" sz="1600" b="1" dirty="0">
                <a:solidFill>
                  <a:srgbClr val="2B2B2B"/>
                </a:solidFill>
                <a:latin typeface="Calibri" pitchFamily="34" charset="0"/>
                <a:ea typeface="Calibri" pitchFamily="34" charset="-122"/>
                <a:cs typeface="Calibri" pitchFamily="34" charset="-120"/>
              </a:rPr>
              <a:t>Power BI Modelling</a:t>
            </a:r>
            <a:endParaRPr lang="en-US" sz="1600" dirty="0"/>
          </a:p>
        </p:txBody>
      </p:sp>
      <p:sp>
        <p:nvSpPr>
          <p:cNvPr id="33" name="TextBox 32">
            <a:extLst>
              <a:ext uri="{FF2B5EF4-FFF2-40B4-BE49-F238E27FC236}">
                <a16:creationId xmlns:a16="http://schemas.microsoft.com/office/drawing/2014/main" id="{37472AC7-D18A-64FA-AC48-4D91BEA6A17B}"/>
              </a:ext>
            </a:extLst>
          </p:cNvPr>
          <p:cNvSpPr txBox="1"/>
          <p:nvPr/>
        </p:nvSpPr>
        <p:spPr>
          <a:xfrm>
            <a:off x="5211145" y="4473611"/>
            <a:ext cx="2281337" cy="338554"/>
          </a:xfrm>
          <a:prstGeom prst="rect">
            <a:avLst/>
          </a:prstGeom>
          <a:noFill/>
        </p:spPr>
        <p:txBody>
          <a:bodyPr wrap="square" rtlCol="0">
            <a:spAutoFit/>
          </a:bodyPr>
          <a:lstStyle/>
          <a:p>
            <a:r>
              <a:rPr lang="en-US" sz="1600" b="1" dirty="0">
                <a:solidFill>
                  <a:srgbClr val="2B2B2B"/>
                </a:solidFill>
                <a:latin typeface="Calibri" pitchFamily="34" charset="0"/>
                <a:ea typeface="Calibri" pitchFamily="34" charset="-122"/>
                <a:cs typeface="Calibri" pitchFamily="34" charset="-120"/>
              </a:rPr>
              <a:t>Dashboard Preparation</a:t>
            </a:r>
            <a:endParaRPr lang="en-US" sz="1600" dirty="0"/>
          </a:p>
        </p:txBody>
      </p:sp>
      <p:sp>
        <p:nvSpPr>
          <p:cNvPr id="35" name="TextBox 34">
            <a:extLst>
              <a:ext uri="{FF2B5EF4-FFF2-40B4-BE49-F238E27FC236}">
                <a16:creationId xmlns:a16="http://schemas.microsoft.com/office/drawing/2014/main" id="{EF64DC34-A73B-FB8F-863B-812C20BA2CA5}"/>
              </a:ext>
            </a:extLst>
          </p:cNvPr>
          <p:cNvSpPr txBox="1"/>
          <p:nvPr/>
        </p:nvSpPr>
        <p:spPr>
          <a:xfrm>
            <a:off x="5211147" y="5357328"/>
            <a:ext cx="2010747" cy="338554"/>
          </a:xfrm>
          <a:prstGeom prst="rect">
            <a:avLst/>
          </a:prstGeom>
          <a:noFill/>
        </p:spPr>
        <p:txBody>
          <a:bodyPr wrap="square" rtlCol="0">
            <a:spAutoFit/>
          </a:bodyPr>
          <a:lstStyle/>
          <a:p>
            <a:r>
              <a:rPr lang="en-US" sz="1600" b="1" dirty="0">
                <a:solidFill>
                  <a:srgbClr val="2B2B2B"/>
                </a:solidFill>
                <a:latin typeface="Calibri" pitchFamily="34" charset="0"/>
                <a:ea typeface="Calibri" pitchFamily="34" charset="-122"/>
                <a:cs typeface="Calibri" pitchFamily="34" charset="-120"/>
              </a:rPr>
              <a:t>Business Insights</a:t>
            </a:r>
            <a:endParaRPr lang="en-US" sz="1600" dirty="0"/>
          </a:p>
        </p:txBody>
      </p:sp>
      <p:cxnSp>
        <p:nvCxnSpPr>
          <p:cNvPr id="37" name="Straight Arrow Connector 36">
            <a:extLst>
              <a:ext uri="{FF2B5EF4-FFF2-40B4-BE49-F238E27FC236}">
                <a16:creationId xmlns:a16="http://schemas.microsoft.com/office/drawing/2014/main" id="{0028D8E3-530B-142F-752B-A7DD642D6B76}"/>
              </a:ext>
            </a:extLst>
          </p:cNvPr>
          <p:cNvCxnSpPr>
            <a:endCxn id="27" idx="0"/>
          </p:cNvCxnSpPr>
          <p:nvPr/>
        </p:nvCxnSpPr>
        <p:spPr>
          <a:xfrm>
            <a:off x="5878286" y="1631854"/>
            <a:ext cx="0" cy="490458"/>
          </a:xfrm>
          <a:prstGeom prst="straightConnector1">
            <a:avLst/>
          </a:prstGeom>
          <a:ln w="76200">
            <a:tailEnd type="triangle"/>
          </a:ln>
          <a:effectLst>
            <a:innerShdw blurRad="63500" dist="50800" dir="13500000">
              <a:prstClr val="black">
                <a:alpha val="50000"/>
              </a:prstClr>
            </a:innerShdw>
          </a:effectLst>
        </p:spPr>
        <p:style>
          <a:lnRef idx="3">
            <a:schemeClr val="accent5"/>
          </a:lnRef>
          <a:fillRef idx="0">
            <a:schemeClr val="accent5"/>
          </a:fillRef>
          <a:effectRef idx="2">
            <a:schemeClr val="accent5"/>
          </a:effectRef>
          <a:fontRef idx="minor">
            <a:schemeClr val="tx1"/>
          </a:fontRef>
        </p:style>
      </p:cxnSp>
      <p:cxnSp>
        <p:nvCxnSpPr>
          <p:cNvPr id="38" name="Straight Arrow Connector 37">
            <a:extLst>
              <a:ext uri="{FF2B5EF4-FFF2-40B4-BE49-F238E27FC236}">
                <a16:creationId xmlns:a16="http://schemas.microsoft.com/office/drawing/2014/main" id="{F75A6A6B-56EF-D3E3-A45C-06129F4E9CA8}"/>
              </a:ext>
            </a:extLst>
          </p:cNvPr>
          <p:cNvCxnSpPr>
            <a:cxnSpLocks/>
            <a:endCxn id="29" idx="0"/>
          </p:cNvCxnSpPr>
          <p:nvPr/>
        </p:nvCxnSpPr>
        <p:spPr>
          <a:xfrm>
            <a:off x="5881396" y="2460866"/>
            <a:ext cx="5443" cy="396755"/>
          </a:xfrm>
          <a:prstGeom prst="straightConnector1">
            <a:avLst/>
          </a:prstGeom>
          <a:ln w="76200">
            <a:tailEnd type="triangle"/>
          </a:ln>
          <a:effectLst>
            <a:innerShdw blurRad="63500" dist="50800" dir="13500000">
              <a:prstClr val="black">
                <a:alpha val="50000"/>
              </a:prstClr>
            </a:innerShdw>
          </a:effectLst>
        </p:spPr>
        <p:style>
          <a:lnRef idx="3">
            <a:schemeClr val="accent5"/>
          </a:lnRef>
          <a:fillRef idx="0">
            <a:schemeClr val="accent5"/>
          </a:fillRef>
          <a:effectRef idx="2">
            <a:schemeClr val="accent5"/>
          </a:effectRef>
          <a:fontRef idx="minor">
            <a:schemeClr val="tx1"/>
          </a:fontRef>
        </p:style>
      </p:cxnSp>
      <p:cxnSp>
        <p:nvCxnSpPr>
          <p:cNvPr id="40" name="Straight Arrow Connector 39">
            <a:extLst>
              <a:ext uri="{FF2B5EF4-FFF2-40B4-BE49-F238E27FC236}">
                <a16:creationId xmlns:a16="http://schemas.microsoft.com/office/drawing/2014/main" id="{96F192A3-8AED-8E13-3DCB-98EEF3D89CF7}"/>
              </a:ext>
            </a:extLst>
          </p:cNvPr>
          <p:cNvCxnSpPr>
            <a:cxnSpLocks/>
          </p:cNvCxnSpPr>
          <p:nvPr/>
        </p:nvCxnSpPr>
        <p:spPr>
          <a:xfrm>
            <a:off x="5871290" y="3203487"/>
            <a:ext cx="6996" cy="458339"/>
          </a:xfrm>
          <a:prstGeom prst="straightConnector1">
            <a:avLst/>
          </a:prstGeom>
          <a:ln w="76200">
            <a:tailEnd type="triangle"/>
          </a:ln>
          <a:effectLst>
            <a:innerShdw blurRad="63500" dist="50800" dir="13500000">
              <a:prstClr val="black">
                <a:alpha val="50000"/>
              </a:prstClr>
            </a:innerShdw>
          </a:effectLst>
        </p:spPr>
        <p:style>
          <a:lnRef idx="3">
            <a:schemeClr val="accent5"/>
          </a:lnRef>
          <a:fillRef idx="0">
            <a:schemeClr val="accent5"/>
          </a:fillRef>
          <a:effectRef idx="2">
            <a:schemeClr val="accent5"/>
          </a:effectRef>
          <a:fontRef idx="minor">
            <a:schemeClr val="tx1"/>
          </a:fontRef>
        </p:style>
      </p:cxnSp>
      <p:cxnSp>
        <p:nvCxnSpPr>
          <p:cNvPr id="43" name="Straight Arrow Connector 42">
            <a:extLst>
              <a:ext uri="{FF2B5EF4-FFF2-40B4-BE49-F238E27FC236}">
                <a16:creationId xmlns:a16="http://schemas.microsoft.com/office/drawing/2014/main" id="{B17A61CC-10C2-A897-2B3B-99F157C19FBF}"/>
              </a:ext>
            </a:extLst>
          </p:cNvPr>
          <p:cNvCxnSpPr>
            <a:cxnSpLocks/>
          </p:cNvCxnSpPr>
          <p:nvPr/>
        </p:nvCxnSpPr>
        <p:spPr>
          <a:xfrm>
            <a:off x="5892284" y="4004091"/>
            <a:ext cx="6996" cy="469520"/>
          </a:xfrm>
          <a:prstGeom prst="straightConnector1">
            <a:avLst/>
          </a:prstGeom>
          <a:ln w="76200">
            <a:tailEnd type="triangle"/>
          </a:ln>
          <a:effectLst>
            <a:innerShdw blurRad="63500" dist="50800" dir="13500000">
              <a:prstClr val="black">
                <a:alpha val="50000"/>
              </a:prstClr>
            </a:innerShdw>
          </a:effectLst>
        </p:spPr>
        <p:style>
          <a:lnRef idx="3">
            <a:schemeClr val="accent5"/>
          </a:lnRef>
          <a:fillRef idx="0">
            <a:schemeClr val="accent5"/>
          </a:fillRef>
          <a:effectRef idx="2">
            <a:schemeClr val="accent5"/>
          </a:effectRef>
          <a:fontRef idx="minor">
            <a:schemeClr val="tx1"/>
          </a:fontRef>
        </p:style>
      </p:cxnSp>
      <p:cxnSp>
        <p:nvCxnSpPr>
          <p:cNvPr id="45" name="Straight Arrow Connector 44">
            <a:extLst>
              <a:ext uri="{FF2B5EF4-FFF2-40B4-BE49-F238E27FC236}">
                <a16:creationId xmlns:a16="http://schemas.microsoft.com/office/drawing/2014/main" id="{9AA156B9-10C1-3FF4-51E1-D6587BCC8EBC}"/>
              </a:ext>
            </a:extLst>
          </p:cNvPr>
          <p:cNvCxnSpPr>
            <a:cxnSpLocks/>
          </p:cNvCxnSpPr>
          <p:nvPr/>
        </p:nvCxnSpPr>
        <p:spPr>
          <a:xfrm flipH="1">
            <a:off x="5887229" y="4832496"/>
            <a:ext cx="5055" cy="524832"/>
          </a:xfrm>
          <a:prstGeom prst="straightConnector1">
            <a:avLst/>
          </a:prstGeom>
          <a:ln w="76200">
            <a:tailEnd type="triangle"/>
          </a:ln>
          <a:effectLst>
            <a:innerShdw blurRad="63500" dist="50800" dir="13500000">
              <a:prstClr val="black">
                <a:alpha val="50000"/>
              </a:prstClr>
            </a:innerShdw>
          </a:effectLst>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646149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2F3C7E"/>
                </a:solidFill>
                <a:latin typeface="Cambria" pitchFamily="34" charset="0"/>
                <a:ea typeface="Cambria" pitchFamily="34" charset="-122"/>
                <a:cs typeface="Cambria" pitchFamily="34" charset="-120"/>
              </a:rPr>
              <a:t>3. Data Preparation (SSMS)</a:t>
            </a:r>
            <a:endParaRPr lang="en-US" sz="3000" dirty="0"/>
          </a:p>
        </p:txBody>
      </p:sp>
      <p:sp>
        <p:nvSpPr>
          <p:cNvPr id="3" name="Text 1"/>
          <p:cNvSpPr/>
          <p:nvPr/>
        </p:nvSpPr>
        <p:spPr>
          <a:xfrm>
            <a:off x="548640" y="1005840"/>
            <a:ext cx="11064240" cy="685800"/>
          </a:xfrm>
          <a:prstGeom prst="rect">
            <a:avLst/>
          </a:prstGeom>
          <a:noFill/>
          <a:ln/>
        </p:spPr>
        <p:txBody>
          <a:bodyPr wrap="square" rtlCol="0" anchor="ctr"/>
          <a:lstStyle/>
          <a:p>
            <a:pPr marL="0" indent="0">
              <a:lnSpc>
                <a:spcPct val="125000"/>
              </a:lnSpc>
              <a:buNone/>
            </a:pPr>
            <a:r>
              <a:rPr lang="en-US" sz="1400" dirty="0">
                <a:solidFill>
                  <a:srgbClr val="2B2B2B"/>
                </a:solidFill>
                <a:latin typeface="Calibri" pitchFamily="34" charset="0"/>
                <a:ea typeface="Calibri" pitchFamily="34" charset="-122"/>
                <a:cs typeface="Calibri" pitchFamily="34" charset="-120"/>
              </a:rPr>
              <a:t>Before modelling in Power BI, the raw CSV exports were loaded into SQL Server and worked through in SSMS. Checked for missing values, scanned for duplicates and statistical outliers, and validated against expected business rules across the 6 tables and roughly 17 Lakh rows.</a:t>
            </a:r>
            <a:endParaRPr lang="en-US" sz="1400" dirty="0"/>
          </a:p>
        </p:txBody>
      </p:sp>
      <p:sp>
        <p:nvSpPr>
          <p:cNvPr id="4" name="Shape 2"/>
          <p:cNvSpPr/>
          <p:nvPr/>
        </p:nvSpPr>
        <p:spPr>
          <a:xfrm>
            <a:off x="548640" y="1874520"/>
            <a:ext cx="2651760" cy="1280160"/>
          </a:xfrm>
          <a:prstGeom prst="roundRect">
            <a:avLst>
              <a:gd name="adj" fmla="val 5714"/>
            </a:avLst>
          </a:prstGeom>
          <a:solidFill>
            <a:srgbClr val="2F3C7E"/>
          </a:solidFill>
          <a:ln/>
        </p:spPr>
        <p:txBody>
          <a:bodyPr/>
          <a:lstStyle/>
          <a:p>
            <a:endParaRPr lang="en-IN"/>
          </a:p>
        </p:txBody>
      </p:sp>
      <p:sp>
        <p:nvSpPr>
          <p:cNvPr id="5" name="Text 3"/>
          <p:cNvSpPr/>
          <p:nvPr/>
        </p:nvSpPr>
        <p:spPr>
          <a:xfrm>
            <a:off x="548640" y="1965960"/>
            <a:ext cx="2651760" cy="640080"/>
          </a:xfrm>
          <a:prstGeom prst="rect">
            <a:avLst/>
          </a:prstGeom>
          <a:noFill/>
          <a:ln/>
        </p:spPr>
        <p:txBody>
          <a:bodyPr wrap="square" rtlCol="0" anchor="ctr"/>
          <a:lstStyle/>
          <a:p>
            <a:pPr marL="0" indent="0" algn="ctr">
              <a:buNone/>
            </a:pPr>
            <a:r>
              <a:rPr lang="en-US" sz="2600" b="1" dirty="0">
                <a:solidFill>
                  <a:srgbClr val="F9E795"/>
                </a:solidFill>
                <a:latin typeface="Cambria" pitchFamily="34" charset="0"/>
                <a:ea typeface="Cambria" pitchFamily="34" charset="-122"/>
                <a:cs typeface="Cambria" pitchFamily="34" charset="-120"/>
              </a:rPr>
              <a:t>6</a:t>
            </a:r>
            <a:endParaRPr lang="en-US" sz="2600" dirty="0"/>
          </a:p>
        </p:txBody>
      </p:sp>
      <p:sp>
        <p:nvSpPr>
          <p:cNvPr id="6" name="Text 4"/>
          <p:cNvSpPr/>
          <p:nvPr/>
        </p:nvSpPr>
        <p:spPr>
          <a:xfrm>
            <a:off x="548640" y="2578608"/>
            <a:ext cx="2651760" cy="502920"/>
          </a:xfrm>
          <a:prstGeom prst="rect">
            <a:avLst/>
          </a:prstGeom>
          <a:noFill/>
          <a:ln/>
        </p:spPr>
        <p:txBody>
          <a:bodyPr wrap="square" rtlCol="0" anchor="ctr"/>
          <a:lstStyle/>
          <a:p>
            <a:pPr marL="0" indent="0" algn="ctr">
              <a:lnSpc>
                <a:spcPct val="100000"/>
              </a:lnSpc>
              <a:buNone/>
            </a:pPr>
            <a:r>
              <a:rPr lang="en-US" sz="1400" dirty="0">
                <a:solidFill>
                  <a:srgbClr val="FFFFFF"/>
                </a:solidFill>
                <a:latin typeface="Calibri" pitchFamily="34" charset="0"/>
                <a:ea typeface="Calibri" pitchFamily="34" charset="-122"/>
                <a:cs typeface="Calibri" pitchFamily="34" charset="-120"/>
              </a:rPr>
              <a:t>Tables</a:t>
            </a:r>
            <a:endParaRPr lang="en-US" sz="1400" dirty="0"/>
          </a:p>
          <a:p>
            <a:pPr marL="0" indent="0" algn="ctr">
              <a:lnSpc>
                <a:spcPct val="100000"/>
              </a:lnSpc>
              <a:buNone/>
            </a:pPr>
            <a:r>
              <a:rPr lang="en-US" sz="1400" dirty="0">
                <a:solidFill>
                  <a:srgbClr val="FFFFFF"/>
                </a:solidFill>
                <a:latin typeface="Calibri" pitchFamily="34" charset="0"/>
                <a:ea typeface="Calibri" pitchFamily="34" charset="-122"/>
                <a:cs typeface="Calibri" pitchFamily="34" charset="-120"/>
              </a:rPr>
              <a:t>Loaded</a:t>
            </a:r>
            <a:endParaRPr lang="en-US" sz="1400" dirty="0"/>
          </a:p>
        </p:txBody>
      </p:sp>
      <p:sp>
        <p:nvSpPr>
          <p:cNvPr id="7" name="Shape 5"/>
          <p:cNvSpPr/>
          <p:nvPr/>
        </p:nvSpPr>
        <p:spPr>
          <a:xfrm>
            <a:off x="3364992" y="1874520"/>
            <a:ext cx="2651760" cy="1280160"/>
          </a:xfrm>
          <a:prstGeom prst="roundRect">
            <a:avLst>
              <a:gd name="adj" fmla="val 5714"/>
            </a:avLst>
          </a:prstGeom>
          <a:solidFill>
            <a:srgbClr val="2F3C7E"/>
          </a:solidFill>
          <a:ln/>
        </p:spPr>
        <p:txBody>
          <a:bodyPr/>
          <a:lstStyle/>
          <a:p>
            <a:endParaRPr lang="en-IN"/>
          </a:p>
        </p:txBody>
      </p:sp>
      <p:sp>
        <p:nvSpPr>
          <p:cNvPr id="8" name="Text 6"/>
          <p:cNvSpPr/>
          <p:nvPr/>
        </p:nvSpPr>
        <p:spPr>
          <a:xfrm>
            <a:off x="3364992" y="1965960"/>
            <a:ext cx="2651760" cy="640080"/>
          </a:xfrm>
          <a:prstGeom prst="rect">
            <a:avLst/>
          </a:prstGeom>
          <a:noFill/>
          <a:ln/>
        </p:spPr>
        <p:txBody>
          <a:bodyPr wrap="square" rtlCol="0" anchor="ctr"/>
          <a:lstStyle/>
          <a:p>
            <a:pPr marL="0" indent="0" algn="ctr">
              <a:buNone/>
            </a:pPr>
            <a:r>
              <a:rPr lang="en-US" sz="2600" b="1" dirty="0">
                <a:solidFill>
                  <a:srgbClr val="F9E795"/>
                </a:solidFill>
                <a:latin typeface="Cambria" pitchFamily="34" charset="0"/>
                <a:ea typeface="Cambria" pitchFamily="34" charset="-122"/>
                <a:cs typeface="Cambria" pitchFamily="34" charset="-120"/>
              </a:rPr>
              <a:t>17 L</a:t>
            </a:r>
            <a:endParaRPr lang="en-US" sz="2600" dirty="0"/>
          </a:p>
        </p:txBody>
      </p:sp>
      <p:sp>
        <p:nvSpPr>
          <p:cNvPr id="9" name="Text 7"/>
          <p:cNvSpPr/>
          <p:nvPr/>
        </p:nvSpPr>
        <p:spPr>
          <a:xfrm>
            <a:off x="3364992" y="2578608"/>
            <a:ext cx="2651760" cy="502920"/>
          </a:xfrm>
          <a:prstGeom prst="rect">
            <a:avLst/>
          </a:prstGeom>
          <a:noFill/>
          <a:ln/>
        </p:spPr>
        <p:txBody>
          <a:bodyPr wrap="square" rtlCol="0" anchor="ctr"/>
          <a:lstStyle/>
          <a:p>
            <a:pPr marL="0" indent="0" algn="ctr">
              <a:lnSpc>
                <a:spcPct val="100000"/>
              </a:lnSpc>
              <a:buNone/>
            </a:pPr>
            <a:r>
              <a:rPr lang="en-US" sz="1400" dirty="0">
                <a:solidFill>
                  <a:srgbClr val="FFFFFF"/>
                </a:solidFill>
                <a:latin typeface="Calibri" pitchFamily="34" charset="0"/>
                <a:ea typeface="Calibri" pitchFamily="34" charset="-122"/>
                <a:cs typeface="Calibri" pitchFamily="34" charset="-120"/>
              </a:rPr>
              <a:t>Total</a:t>
            </a:r>
            <a:endParaRPr lang="en-US" sz="1400" dirty="0"/>
          </a:p>
          <a:p>
            <a:pPr marL="0" indent="0" algn="ctr">
              <a:lnSpc>
                <a:spcPct val="100000"/>
              </a:lnSpc>
              <a:buNone/>
            </a:pPr>
            <a:r>
              <a:rPr lang="en-US" sz="1400" dirty="0">
                <a:solidFill>
                  <a:srgbClr val="FFFFFF"/>
                </a:solidFill>
                <a:latin typeface="Calibri" pitchFamily="34" charset="0"/>
                <a:ea typeface="Calibri" pitchFamily="34" charset="-122"/>
                <a:cs typeface="Calibri" pitchFamily="34" charset="-120"/>
              </a:rPr>
              <a:t>Rows</a:t>
            </a:r>
            <a:endParaRPr lang="en-US" sz="1400" dirty="0"/>
          </a:p>
        </p:txBody>
      </p:sp>
      <p:sp>
        <p:nvSpPr>
          <p:cNvPr id="10" name="Shape 8"/>
          <p:cNvSpPr/>
          <p:nvPr/>
        </p:nvSpPr>
        <p:spPr>
          <a:xfrm>
            <a:off x="6181344" y="1874520"/>
            <a:ext cx="2651760" cy="1280160"/>
          </a:xfrm>
          <a:prstGeom prst="roundRect">
            <a:avLst>
              <a:gd name="adj" fmla="val 5714"/>
            </a:avLst>
          </a:prstGeom>
          <a:solidFill>
            <a:srgbClr val="2F3C7E"/>
          </a:solidFill>
          <a:ln/>
        </p:spPr>
        <p:txBody>
          <a:bodyPr/>
          <a:lstStyle/>
          <a:p>
            <a:endParaRPr lang="en-IN"/>
          </a:p>
        </p:txBody>
      </p:sp>
      <p:sp>
        <p:nvSpPr>
          <p:cNvPr id="11" name="Text 9"/>
          <p:cNvSpPr/>
          <p:nvPr/>
        </p:nvSpPr>
        <p:spPr>
          <a:xfrm>
            <a:off x="6181344" y="1965960"/>
            <a:ext cx="2651760" cy="640080"/>
          </a:xfrm>
          <a:prstGeom prst="rect">
            <a:avLst/>
          </a:prstGeom>
          <a:noFill/>
          <a:ln/>
        </p:spPr>
        <p:txBody>
          <a:bodyPr wrap="square" rtlCol="0" anchor="ctr"/>
          <a:lstStyle/>
          <a:p>
            <a:pPr marL="0" indent="0" algn="ctr">
              <a:buNone/>
            </a:pPr>
            <a:r>
              <a:rPr lang="en-US" sz="2600" b="1" dirty="0">
                <a:solidFill>
                  <a:srgbClr val="F9E795"/>
                </a:solidFill>
                <a:latin typeface="Cambria" pitchFamily="34" charset="0"/>
                <a:ea typeface="Cambria" pitchFamily="34" charset="-122"/>
                <a:cs typeface="Cambria" pitchFamily="34" charset="-120"/>
              </a:rPr>
              <a:t>0</a:t>
            </a:r>
            <a:endParaRPr lang="en-US" sz="2600" dirty="0"/>
          </a:p>
        </p:txBody>
      </p:sp>
      <p:sp>
        <p:nvSpPr>
          <p:cNvPr id="12" name="Text 10"/>
          <p:cNvSpPr/>
          <p:nvPr/>
        </p:nvSpPr>
        <p:spPr>
          <a:xfrm>
            <a:off x="6181344" y="2578608"/>
            <a:ext cx="2651760" cy="502920"/>
          </a:xfrm>
          <a:prstGeom prst="rect">
            <a:avLst/>
          </a:prstGeom>
          <a:noFill/>
          <a:ln/>
        </p:spPr>
        <p:txBody>
          <a:bodyPr wrap="square" rtlCol="0" anchor="ctr"/>
          <a:lstStyle/>
          <a:p>
            <a:pPr marL="0" indent="0" algn="ctr">
              <a:lnSpc>
                <a:spcPct val="100000"/>
              </a:lnSpc>
              <a:buNone/>
            </a:pPr>
            <a:r>
              <a:rPr lang="en-US" sz="1400" dirty="0">
                <a:solidFill>
                  <a:srgbClr val="FFFFFF"/>
                </a:solidFill>
                <a:latin typeface="Calibri" pitchFamily="34" charset="0"/>
                <a:ea typeface="Calibri" pitchFamily="34" charset="-122"/>
                <a:cs typeface="Calibri" pitchFamily="34" charset="-120"/>
              </a:rPr>
              <a:t>Duplicate</a:t>
            </a:r>
            <a:endParaRPr lang="en-US" sz="1400" dirty="0"/>
          </a:p>
          <a:p>
            <a:pPr marL="0" indent="0" algn="ctr">
              <a:lnSpc>
                <a:spcPct val="100000"/>
              </a:lnSpc>
              <a:buNone/>
            </a:pPr>
            <a:r>
              <a:rPr lang="en-US" sz="1400" dirty="0">
                <a:solidFill>
                  <a:srgbClr val="FFFFFF"/>
                </a:solidFill>
                <a:latin typeface="Calibri" pitchFamily="34" charset="0"/>
                <a:ea typeface="Calibri" pitchFamily="34" charset="-122"/>
                <a:cs typeface="Calibri" pitchFamily="34" charset="-120"/>
              </a:rPr>
              <a:t>Rows Found</a:t>
            </a:r>
            <a:endParaRPr lang="en-US" sz="1400" dirty="0"/>
          </a:p>
        </p:txBody>
      </p:sp>
      <p:sp>
        <p:nvSpPr>
          <p:cNvPr id="13" name="Shape 11"/>
          <p:cNvSpPr/>
          <p:nvPr/>
        </p:nvSpPr>
        <p:spPr>
          <a:xfrm>
            <a:off x="8997696" y="1874520"/>
            <a:ext cx="2651760" cy="1280160"/>
          </a:xfrm>
          <a:prstGeom prst="roundRect">
            <a:avLst>
              <a:gd name="adj" fmla="val 5714"/>
            </a:avLst>
          </a:prstGeom>
          <a:solidFill>
            <a:srgbClr val="2F3C7E"/>
          </a:solidFill>
          <a:ln/>
        </p:spPr>
        <p:txBody>
          <a:bodyPr/>
          <a:lstStyle/>
          <a:p>
            <a:endParaRPr lang="en-IN"/>
          </a:p>
        </p:txBody>
      </p:sp>
      <p:sp>
        <p:nvSpPr>
          <p:cNvPr id="14" name="Text 12"/>
          <p:cNvSpPr/>
          <p:nvPr/>
        </p:nvSpPr>
        <p:spPr>
          <a:xfrm>
            <a:off x="8997696" y="1965960"/>
            <a:ext cx="2651760" cy="640080"/>
          </a:xfrm>
          <a:prstGeom prst="rect">
            <a:avLst/>
          </a:prstGeom>
          <a:noFill/>
          <a:ln/>
        </p:spPr>
        <p:txBody>
          <a:bodyPr wrap="square" rtlCol="0" anchor="ctr"/>
          <a:lstStyle/>
          <a:p>
            <a:pPr marL="0" indent="0" algn="ctr">
              <a:buNone/>
            </a:pPr>
            <a:r>
              <a:rPr lang="en-US" sz="2600" b="1" dirty="0">
                <a:solidFill>
                  <a:srgbClr val="F9E795"/>
                </a:solidFill>
                <a:latin typeface="Cambria" pitchFamily="34" charset="0"/>
                <a:ea typeface="Cambria" pitchFamily="34" charset="-122"/>
                <a:cs typeface="Cambria" pitchFamily="34" charset="-120"/>
              </a:rPr>
              <a:t>2</a:t>
            </a:r>
            <a:endParaRPr lang="en-US" sz="2600" dirty="0"/>
          </a:p>
        </p:txBody>
      </p:sp>
      <p:sp>
        <p:nvSpPr>
          <p:cNvPr id="15" name="Text 13"/>
          <p:cNvSpPr/>
          <p:nvPr/>
        </p:nvSpPr>
        <p:spPr>
          <a:xfrm>
            <a:off x="8997696" y="2578608"/>
            <a:ext cx="2651760" cy="502920"/>
          </a:xfrm>
          <a:prstGeom prst="rect">
            <a:avLst/>
          </a:prstGeom>
          <a:noFill/>
          <a:ln/>
        </p:spPr>
        <p:txBody>
          <a:bodyPr wrap="square" rtlCol="0" anchor="ctr"/>
          <a:lstStyle/>
          <a:p>
            <a:pPr marL="0" indent="0" algn="ctr">
              <a:lnSpc>
                <a:spcPct val="100000"/>
              </a:lnSpc>
              <a:buNone/>
            </a:pPr>
            <a:r>
              <a:rPr lang="en-US" sz="1400" dirty="0">
                <a:solidFill>
                  <a:srgbClr val="FFFFFF"/>
                </a:solidFill>
                <a:latin typeface="Calibri" pitchFamily="34" charset="0"/>
                <a:ea typeface="Calibri" pitchFamily="34" charset="-122"/>
                <a:cs typeface="Calibri" pitchFamily="34" charset="-120"/>
              </a:rPr>
              <a:t>Columns with</a:t>
            </a:r>
            <a:endParaRPr lang="en-US" sz="1400" dirty="0"/>
          </a:p>
          <a:p>
            <a:pPr marL="0" indent="0" algn="ctr">
              <a:lnSpc>
                <a:spcPct val="100000"/>
              </a:lnSpc>
              <a:buNone/>
            </a:pPr>
            <a:r>
              <a:rPr lang="en-US" sz="1400" dirty="0">
                <a:solidFill>
                  <a:srgbClr val="FFFFFF"/>
                </a:solidFill>
                <a:latin typeface="Calibri" pitchFamily="34" charset="0"/>
                <a:ea typeface="Calibri" pitchFamily="34" charset="-122"/>
                <a:cs typeface="Calibri" pitchFamily="34" charset="-120"/>
              </a:rPr>
              <a:t>Expected Nulls</a:t>
            </a:r>
            <a:endParaRPr lang="en-US" sz="1400" dirty="0"/>
          </a:p>
        </p:txBody>
      </p:sp>
      <p:sp>
        <p:nvSpPr>
          <p:cNvPr id="16" name="Text 14"/>
          <p:cNvSpPr/>
          <p:nvPr/>
        </p:nvSpPr>
        <p:spPr>
          <a:xfrm>
            <a:off x="548640" y="3429000"/>
            <a:ext cx="7315200" cy="320040"/>
          </a:xfrm>
          <a:prstGeom prst="rect">
            <a:avLst/>
          </a:prstGeom>
          <a:noFill/>
          <a:ln/>
        </p:spPr>
        <p:txBody>
          <a:bodyPr wrap="square" rtlCol="0" anchor="ctr"/>
          <a:lstStyle/>
          <a:p>
            <a:pPr marL="0" indent="0">
              <a:buNone/>
            </a:pPr>
            <a:r>
              <a:rPr lang="en-US" sz="1600" b="1" kern="0" spc="100" dirty="0">
                <a:solidFill>
                  <a:srgbClr val="F96167"/>
                </a:solidFill>
                <a:latin typeface="Calibri" pitchFamily="34" charset="0"/>
                <a:ea typeface="Calibri" pitchFamily="34" charset="-122"/>
                <a:cs typeface="Calibri" pitchFamily="34" charset="-120"/>
              </a:rPr>
              <a:t>CHECKS PERFORMED IN SSMS</a:t>
            </a:r>
            <a:endParaRPr lang="en-US" sz="1600" dirty="0"/>
          </a:p>
        </p:txBody>
      </p:sp>
      <p:sp>
        <p:nvSpPr>
          <p:cNvPr id="17" name="Shape 15"/>
          <p:cNvSpPr/>
          <p:nvPr/>
        </p:nvSpPr>
        <p:spPr>
          <a:xfrm>
            <a:off x="548640" y="3794760"/>
            <a:ext cx="5440680" cy="1234440"/>
          </a:xfrm>
          <a:prstGeom prst="roundRect">
            <a:avLst>
              <a:gd name="adj" fmla="val 5926"/>
            </a:avLst>
          </a:prstGeom>
          <a:solidFill>
            <a:srgbClr val="F7F7FB"/>
          </a:solidFill>
          <a:ln/>
        </p:spPr>
        <p:txBody>
          <a:bodyPr/>
          <a:lstStyle/>
          <a:p>
            <a:endParaRPr lang="en-IN"/>
          </a:p>
        </p:txBody>
      </p:sp>
      <p:sp>
        <p:nvSpPr>
          <p:cNvPr id="18" name="Shape 16"/>
          <p:cNvSpPr/>
          <p:nvPr/>
        </p:nvSpPr>
        <p:spPr>
          <a:xfrm>
            <a:off x="731520" y="3977640"/>
            <a:ext cx="530352" cy="530352"/>
          </a:xfrm>
          <a:prstGeom prst="ellipse">
            <a:avLst/>
          </a:prstGeom>
          <a:solidFill>
            <a:srgbClr val="2F3C7E"/>
          </a:solidFill>
          <a:ln/>
        </p:spPr>
        <p:txBody>
          <a:bodyPr/>
          <a:lstStyle/>
          <a:p>
            <a:endParaRPr lang="en-IN" sz="2000"/>
          </a:p>
        </p:txBody>
      </p:sp>
      <p:sp>
        <p:nvSpPr>
          <p:cNvPr id="20" name="Text 17"/>
          <p:cNvSpPr/>
          <p:nvPr/>
        </p:nvSpPr>
        <p:spPr>
          <a:xfrm>
            <a:off x="1417320" y="3922776"/>
            <a:ext cx="4389120" cy="320040"/>
          </a:xfrm>
          <a:prstGeom prst="rect">
            <a:avLst/>
          </a:prstGeom>
          <a:noFill/>
          <a:ln/>
        </p:spPr>
        <p:txBody>
          <a:bodyPr wrap="square" rtlCol="0" anchor="ctr"/>
          <a:lstStyle/>
          <a:p>
            <a:pPr marL="0" indent="0">
              <a:buNone/>
            </a:pPr>
            <a:r>
              <a:rPr lang="en-US" sz="1600" b="1" dirty="0">
                <a:solidFill>
                  <a:srgbClr val="2B2B2B"/>
                </a:solidFill>
                <a:latin typeface="Calibri" pitchFamily="34" charset="0"/>
                <a:ea typeface="Calibri" pitchFamily="34" charset="-122"/>
                <a:cs typeface="Calibri" pitchFamily="34" charset="-120"/>
              </a:rPr>
              <a:t>Null-Value Review</a:t>
            </a:r>
            <a:endParaRPr lang="en-US" sz="1600" dirty="0"/>
          </a:p>
        </p:txBody>
      </p:sp>
      <p:sp>
        <p:nvSpPr>
          <p:cNvPr id="21" name="Text 18"/>
          <p:cNvSpPr/>
          <p:nvPr/>
        </p:nvSpPr>
        <p:spPr>
          <a:xfrm>
            <a:off x="1417320" y="4270248"/>
            <a:ext cx="4389120" cy="685800"/>
          </a:xfrm>
          <a:prstGeom prst="rect">
            <a:avLst/>
          </a:prstGeom>
          <a:noFill/>
          <a:ln/>
        </p:spPr>
        <p:txBody>
          <a:bodyPr wrap="square" rtlCol="0" anchor="t"/>
          <a:lstStyle/>
          <a:p>
            <a:pPr marL="0" indent="0">
              <a:lnSpc>
                <a:spcPct val="115000"/>
              </a:lnSpc>
              <a:buNone/>
            </a:pPr>
            <a:r>
              <a:rPr lang="en-US" sz="1400" dirty="0">
                <a:latin typeface="Calibri" pitchFamily="34" charset="0"/>
                <a:ea typeface="Calibri" pitchFamily="34" charset="-122"/>
                <a:cs typeface="Calibri" pitchFamily="34" charset="-120"/>
              </a:rPr>
              <a:t>Every table scanned column-by-column for NULL values.</a:t>
            </a:r>
            <a:endParaRPr lang="en-US" sz="1400" dirty="0"/>
          </a:p>
        </p:txBody>
      </p:sp>
      <p:sp>
        <p:nvSpPr>
          <p:cNvPr id="22" name="Shape 19"/>
          <p:cNvSpPr/>
          <p:nvPr/>
        </p:nvSpPr>
        <p:spPr>
          <a:xfrm>
            <a:off x="6263640" y="3794760"/>
            <a:ext cx="5440680" cy="1234440"/>
          </a:xfrm>
          <a:prstGeom prst="roundRect">
            <a:avLst>
              <a:gd name="adj" fmla="val 5926"/>
            </a:avLst>
          </a:prstGeom>
          <a:solidFill>
            <a:srgbClr val="F7F7FB"/>
          </a:solidFill>
          <a:ln/>
        </p:spPr>
        <p:txBody>
          <a:bodyPr/>
          <a:lstStyle/>
          <a:p>
            <a:endParaRPr lang="en-IN"/>
          </a:p>
        </p:txBody>
      </p:sp>
      <p:sp>
        <p:nvSpPr>
          <p:cNvPr id="23" name="Shape 20"/>
          <p:cNvSpPr/>
          <p:nvPr/>
        </p:nvSpPr>
        <p:spPr>
          <a:xfrm>
            <a:off x="6446520" y="3977640"/>
            <a:ext cx="530352" cy="530352"/>
          </a:xfrm>
          <a:prstGeom prst="ellipse">
            <a:avLst/>
          </a:prstGeom>
          <a:solidFill>
            <a:srgbClr val="F96167"/>
          </a:solidFill>
          <a:ln/>
        </p:spPr>
        <p:txBody>
          <a:bodyPr/>
          <a:lstStyle/>
          <a:p>
            <a:endParaRPr lang="en-IN" sz="2000"/>
          </a:p>
        </p:txBody>
      </p:sp>
      <p:pic>
        <p:nvPicPr>
          <p:cNvPr id="24" name="Image 1" descr="/home/claude/pptxbuild/icons/layers.png"/>
          <p:cNvPicPr>
            <a:picLocks noChangeAspect="1"/>
          </p:cNvPicPr>
          <p:nvPr/>
        </p:nvPicPr>
        <p:blipFill>
          <a:blip r:embed="rId3"/>
          <a:stretch>
            <a:fillRect/>
          </a:stretch>
        </p:blipFill>
        <p:spPr>
          <a:xfrm>
            <a:off x="6573804" y="4104924"/>
            <a:ext cx="275783" cy="275783"/>
          </a:xfrm>
          <a:prstGeom prst="rect">
            <a:avLst/>
          </a:prstGeom>
        </p:spPr>
      </p:pic>
      <p:sp>
        <p:nvSpPr>
          <p:cNvPr id="25" name="Text 21"/>
          <p:cNvSpPr/>
          <p:nvPr/>
        </p:nvSpPr>
        <p:spPr>
          <a:xfrm>
            <a:off x="7132320" y="3922776"/>
            <a:ext cx="4389120" cy="320040"/>
          </a:xfrm>
          <a:prstGeom prst="rect">
            <a:avLst/>
          </a:prstGeom>
          <a:noFill/>
          <a:ln/>
        </p:spPr>
        <p:txBody>
          <a:bodyPr wrap="square" rtlCol="0" anchor="ctr"/>
          <a:lstStyle/>
          <a:p>
            <a:pPr marL="0" indent="0">
              <a:buNone/>
            </a:pPr>
            <a:r>
              <a:rPr lang="en-US" sz="1600" b="1" dirty="0">
                <a:solidFill>
                  <a:srgbClr val="2B2B2B"/>
                </a:solidFill>
                <a:latin typeface="Calibri" pitchFamily="34" charset="0"/>
                <a:ea typeface="Calibri" pitchFamily="34" charset="-122"/>
                <a:cs typeface="Calibri" pitchFamily="34" charset="-120"/>
              </a:rPr>
              <a:t>Duplicate Check</a:t>
            </a:r>
            <a:endParaRPr lang="en-US" sz="1600" dirty="0"/>
          </a:p>
        </p:txBody>
      </p:sp>
      <p:sp>
        <p:nvSpPr>
          <p:cNvPr id="26" name="Text 22"/>
          <p:cNvSpPr/>
          <p:nvPr/>
        </p:nvSpPr>
        <p:spPr>
          <a:xfrm>
            <a:off x="7132320" y="4270248"/>
            <a:ext cx="4389120" cy="685800"/>
          </a:xfrm>
          <a:prstGeom prst="rect">
            <a:avLst/>
          </a:prstGeom>
          <a:noFill/>
          <a:ln/>
        </p:spPr>
        <p:txBody>
          <a:bodyPr wrap="square" rtlCol="0" anchor="t"/>
          <a:lstStyle/>
          <a:p>
            <a:pPr marL="0" indent="0">
              <a:lnSpc>
                <a:spcPct val="115000"/>
              </a:lnSpc>
              <a:buNone/>
            </a:pPr>
            <a:r>
              <a:rPr lang="en-US" sz="1400" dirty="0">
                <a:latin typeface="Calibri" pitchFamily="34" charset="0"/>
                <a:ea typeface="Calibri" pitchFamily="34" charset="-122"/>
                <a:cs typeface="Calibri" pitchFamily="34" charset="-120"/>
              </a:rPr>
              <a:t>Full-row duplicate scan across all 6 tables.</a:t>
            </a:r>
            <a:endParaRPr lang="en-US" sz="1400" dirty="0"/>
          </a:p>
        </p:txBody>
      </p:sp>
      <p:sp>
        <p:nvSpPr>
          <p:cNvPr id="27" name="Shape 23"/>
          <p:cNvSpPr/>
          <p:nvPr/>
        </p:nvSpPr>
        <p:spPr>
          <a:xfrm>
            <a:off x="548640" y="5212080"/>
            <a:ext cx="5440680" cy="1234440"/>
          </a:xfrm>
          <a:prstGeom prst="roundRect">
            <a:avLst>
              <a:gd name="adj" fmla="val 5926"/>
            </a:avLst>
          </a:prstGeom>
          <a:solidFill>
            <a:srgbClr val="F7F7FB"/>
          </a:solidFill>
          <a:ln/>
        </p:spPr>
        <p:txBody>
          <a:bodyPr/>
          <a:lstStyle/>
          <a:p>
            <a:endParaRPr lang="en-IN" sz="2000"/>
          </a:p>
        </p:txBody>
      </p:sp>
      <p:sp>
        <p:nvSpPr>
          <p:cNvPr id="28" name="Shape 24"/>
          <p:cNvSpPr/>
          <p:nvPr/>
        </p:nvSpPr>
        <p:spPr>
          <a:xfrm>
            <a:off x="731520" y="5394960"/>
            <a:ext cx="530352" cy="530352"/>
          </a:xfrm>
          <a:prstGeom prst="ellipse">
            <a:avLst/>
          </a:prstGeom>
          <a:solidFill>
            <a:srgbClr val="2F3C7E"/>
          </a:solidFill>
          <a:ln/>
        </p:spPr>
        <p:txBody>
          <a:bodyPr/>
          <a:lstStyle/>
          <a:p>
            <a:endParaRPr lang="en-IN" sz="2000"/>
          </a:p>
        </p:txBody>
      </p:sp>
      <p:pic>
        <p:nvPicPr>
          <p:cNvPr id="29" name="Image 2" descr="/home/claude/pptxbuild/icons/chartline.png"/>
          <p:cNvPicPr>
            <a:picLocks noChangeAspect="1"/>
          </p:cNvPicPr>
          <p:nvPr/>
        </p:nvPicPr>
        <p:blipFill>
          <a:blip r:embed="rId4"/>
          <a:stretch>
            <a:fillRect/>
          </a:stretch>
        </p:blipFill>
        <p:spPr>
          <a:xfrm>
            <a:off x="858804" y="5522244"/>
            <a:ext cx="275783" cy="275783"/>
          </a:xfrm>
          <a:prstGeom prst="rect">
            <a:avLst/>
          </a:prstGeom>
        </p:spPr>
      </p:pic>
      <p:sp>
        <p:nvSpPr>
          <p:cNvPr id="30" name="Text 25"/>
          <p:cNvSpPr/>
          <p:nvPr/>
        </p:nvSpPr>
        <p:spPr>
          <a:xfrm>
            <a:off x="1417320" y="5340096"/>
            <a:ext cx="4389120" cy="320040"/>
          </a:xfrm>
          <a:prstGeom prst="rect">
            <a:avLst/>
          </a:prstGeom>
          <a:noFill/>
          <a:ln/>
        </p:spPr>
        <p:txBody>
          <a:bodyPr wrap="square" rtlCol="0" anchor="ctr"/>
          <a:lstStyle/>
          <a:p>
            <a:pPr marL="0" indent="0">
              <a:buNone/>
            </a:pPr>
            <a:r>
              <a:rPr lang="en-US" sz="1600" b="1" dirty="0">
                <a:solidFill>
                  <a:srgbClr val="2B2B2B"/>
                </a:solidFill>
                <a:latin typeface="Calibri" pitchFamily="34" charset="0"/>
                <a:ea typeface="Calibri" pitchFamily="34" charset="-122"/>
                <a:cs typeface="Calibri" pitchFamily="34" charset="-120"/>
              </a:rPr>
              <a:t>Outlier Check</a:t>
            </a:r>
            <a:endParaRPr lang="en-US" sz="1600" dirty="0"/>
          </a:p>
        </p:txBody>
      </p:sp>
      <p:sp>
        <p:nvSpPr>
          <p:cNvPr id="31" name="Text 26"/>
          <p:cNvSpPr/>
          <p:nvPr/>
        </p:nvSpPr>
        <p:spPr>
          <a:xfrm>
            <a:off x="1417320" y="5687568"/>
            <a:ext cx="4389120" cy="685800"/>
          </a:xfrm>
          <a:prstGeom prst="rect">
            <a:avLst/>
          </a:prstGeom>
          <a:noFill/>
          <a:ln/>
        </p:spPr>
        <p:txBody>
          <a:bodyPr wrap="square" rtlCol="0" anchor="t"/>
          <a:lstStyle/>
          <a:p>
            <a:pPr marL="0" indent="0">
              <a:lnSpc>
                <a:spcPct val="115000"/>
              </a:lnSpc>
              <a:buNone/>
            </a:pPr>
            <a:r>
              <a:rPr lang="en-US" sz="1400" dirty="0">
                <a:latin typeface="Calibri" pitchFamily="34" charset="0"/>
                <a:ea typeface="Calibri" pitchFamily="34" charset="-122"/>
                <a:cs typeface="Calibri" pitchFamily="34" charset="-120"/>
              </a:rPr>
              <a:t>Z-Score based outlier check performed on price, COGS, refund-amount and quantity fields to flag any unusual values.</a:t>
            </a:r>
            <a:endParaRPr lang="en-US" sz="1400" dirty="0"/>
          </a:p>
        </p:txBody>
      </p:sp>
      <p:sp>
        <p:nvSpPr>
          <p:cNvPr id="32" name="Shape 27"/>
          <p:cNvSpPr/>
          <p:nvPr/>
        </p:nvSpPr>
        <p:spPr>
          <a:xfrm>
            <a:off x="6263640" y="5212080"/>
            <a:ext cx="5440680" cy="1234440"/>
          </a:xfrm>
          <a:prstGeom prst="roundRect">
            <a:avLst>
              <a:gd name="adj" fmla="val 5926"/>
            </a:avLst>
          </a:prstGeom>
          <a:solidFill>
            <a:srgbClr val="F7F7FB"/>
          </a:solidFill>
          <a:ln/>
        </p:spPr>
        <p:txBody>
          <a:bodyPr/>
          <a:lstStyle/>
          <a:p>
            <a:endParaRPr lang="en-IN" sz="2000"/>
          </a:p>
        </p:txBody>
      </p:sp>
      <p:sp>
        <p:nvSpPr>
          <p:cNvPr id="33" name="Shape 28"/>
          <p:cNvSpPr/>
          <p:nvPr/>
        </p:nvSpPr>
        <p:spPr>
          <a:xfrm>
            <a:off x="6446520" y="5394960"/>
            <a:ext cx="530352" cy="530352"/>
          </a:xfrm>
          <a:prstGeom prst="ellipse">
            <a:avLst/>
          </a:prstGeom>
          <a:solidFill>
            <a:srgbClr val="F96167"/>
          </a:solidFill>
          <a:ln/>
        </p:spPr>
        <p:txBody>
          <a:bodyPr/>
          <a:lstStyle/>
          <a:p>
            <a:endParaRPr lang="en-IN" sz="2000"/>
          </a:p>
        </p:txBody>
      </p:sp>
      <p:pic>
        <p:nvPicPr>
          <p:cNvPr id="34" name="Image 3" descr="/home/claude/pptxbuild/icons/clipboard.png"/>
          <p:cNvPicPr>
            <a:picLocks noChangeAspect="1"/>
          </p:cNvPicPr>
          <p:nvPr/>
        </p:nvPicPr>
        <p:blipFill>
          <a:blip r:embed="rId5"/>
          <a:stretch>
            <a:fillRect/>
          </a:stretch>
        </p:blipFill>
        <p:spPr>
          <a:xfrm>
            <a:off x="6573804" y="5522244"/>
            <a:ext cx="275783" cy="275783"/>
          </a:xfrm>
          <a:prstGeom prst="rect">
            <a:avLst/>
          </a:prstGeom>
        </p:spPr>
      </p:pic>
      <p:sp>
        <p:nvSpPr>
          <p:cNvPr id="35" name="Text 29"/>
          <p:cNvSpPr/>
          <p:nvPr/>
        </p:nvSpPr>
        <p:spPr>
          <a:xfrm>
            <a:off x="7132320" y="5340096"/>
            <a:ext cx="4389120" cy="320040"/>
          </a:xfrm>
          <a:prstGeom prst="rect">
            <a:avLst/>
          </a:prstGeom>
          <a:noFill/>
          <a:ln/>
        </p:spPr>
        <p:txBody>
          <a:bodyPr wrap="square" rtlCol="0" anchor="ctr"/>
          <a:lstStyle/>
          <a:p>
            <a:pPr marL="0" indent="0">
              <a:buNone/>
            </a:pPr>
            <a:r>
              <a:rPr lang="en-US" sz="1600" b="1" dirty="0">
                <a:solidFill>
                  <a:srgbClr val="2B2B2B"/>
                </a:solidFill>
                <a:latin typeface="Calibri" pitchFamily="34" charset="0"/>
                <a:ea typeface="Calibri" pitchFamily="34" charset="-122"/>
                <a:cs typeface="Calibri" pitchFamily="34" charset="-120"/>
              </a:rPr>
              <a:t>Business-Logic Validation</a:t>
            </a:r>
            <a:endParaRPr lang="en-US" sz="1600" dirty="0"/>
          </a:p>
        </p:txBody>
      </p:sp>
      <p:sp>
        <p:nvSpPr>
          <p:cNvPr id="36" name="Text 30"/>
          <p:cNvSpPr/>
          <p:nvPr/>
        </p:nvSpPr>
        <p:spPr>
          <a:xfrm>
            <a:off x="7132320" y="5687568"/>
            <a:ext cx="4389120" cy="685800"/>
          </a:xfrm>
          <a:prstGeom prst="rect">
            <a:avLst/>
          </a:prstGeom>
          <a:noFill/>
          <a:ln/>
        </p:spPr>
        <p:txBody>
          <a:bodyPr wrap="square" rtlCol="0" anchor="t"/>
          <a:lstStyle/>
          <a:p>
            <a:pPr marL="0" indent="0">
              <a:lnSpc>
                <a:spcPct val="115000"/>
              </a:lnSpc>
              <a:buNone/>
            </a:pPr>
            <a:r>
              <a:rPr lang="en-US" sz="1400" dirty="0">
                <a:latin typeface="Calibri" pitchFamily="34" charset="0"/>
                <a:ea typeface="Calibri" pitchFamily="34" charset="-122"/>
                <a:cs typeface="Calibri" pitchFamily="34" charset="-120"/>
              </a:rPr>
              <a:t>Confirmed COGS is always below price, no negative/zero monetary values, and dates fall in valid ranges.</a:t>
            </a:r>
            <a:endParaRPr lang="en-US" sz="1400" dirty="0"/>
          </a:p>
        </p:txBody>
      </p:sp>
      <p:pic>
        <p:nvPicPr>
          <p:cNvPr id="40" name="Graphic 39" descr="Warning with solid fill">
            <a:extLst>
              <a:ext uri="{FF2B5EF4-FFF2-40B4-BE49-F238E27FC236}">
                <a16:creationId xmlns:a16="http://schemas.microsoft.com/office/drawing/2014/main" id="{C3C40637-B605-E3E8-10A9-6E5A1A1C9CB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4150" y="4029254"/>
            <a:ext cx="343631" cy="34363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2F3C7E"/>
                </a:solidFill>
                <a:latin typeface="Cambria" pitchFamily="34" charset="0"/>
                <a:ea typeface="Cambria" pitchFamily="34" charset="-122"/>
                <a:cs typeface="Cambria" pitchFamily="34" charset="-120"/>
              </a:rPr>
              <a:t>3.1  Dataset Summary &amp; Quality Checks</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3286171091"/>
              </p:ext>
            </p:extLst>
          </p:nvPr>
        </p:nvGraphicFramePr>
        <p:xfrm>
          <a:off x="548640" y="1417320"/>
          <a:ext cx="11064240" cy="2413000"/>
        </p:xfrm>
        <a:graphic>
          <a:graphicData uri="http://schemas.openxmlformats.org/drawingml/2006/table">
            <a:tbl>
              <a:tblPr/>
              <a:tblGrid>
                <a:gridCol w="2185229">
                  <a:extLst>
                    <a:ext uri="{9D8B030D-6E8A-4147-A177-3AD203B41FA5}">
                      <a16:colId xmlns:a16="http://schemas.microsoft.com/office/drawing/2014/main" val="20000"/>
                    </a:ext>
                  </a:extLst>
                </a:gridCol>
                <a:gridCol w="1138335">
                  <a:extLst>
                    <a:ext uri="{9D8B030D-6E8A-4147-A177-3AD203B41FA5}">
                      <a16:colId xmlns:a16="http://schemas.microsoft.com/office/drawing/2014/main" val="20001"/>
                    </a:ext>
                  </a:extLst>
                </a:gridCol>
                <a:gridCol w="1866123">
                  <a:extLst>
                    <a:ext uri="{9D8B030D-6E8A-4147-A177-3AD203B41FA5}">
                      <a16:colId xmlns:a16="http://schemas.microsoft.com/office/drawing/2014/main" val="20002"/>
                    </a:ext>
                  </a:extLst>
                </a:gridCol>
                <a:gridCol w="5874553">
                  <a:extLst>
                    <a:ext uri="{9D8B030D-6E8A-4147-A177-3AD203B41FA5}">
                      <a16:colId xmlns:a16="http://schemas.microsoft.com/office/drawing/2014/main" val="20003"/>
                    </a:ext>
                  </a:extLst>
                </a:gridCol>
              </a:tblGrid>
              <a:tr h="0">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Dataset</a:t>
                      </a:r>
                      <a:endParaRPr lang="en-US" sz="1600" dirty="0">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2F3C7E"/>
                    </a:solidFill>
                  </a:tcPr>
                </a:tc>
                <a:tc>
                  <a:txBody>
                    <a:bodyPr/>
                    <a:lstStyle/>
                    <a:p>
                      <a:pPr marL="0" indent="0" algn="r">
                        <a:buNone/>
                      </a:pPr>
                      <a:r>
                        <a:rPr lang="en-US" sz="1600" b="1" dirty="0">
                          <a:solidFill>
                            <a:srgbClr val="FFFFFF"/>
                          </a:solidFill>
                          <a:latin typeface="Calibri" pitchFamily="34" charset="0"/>
                          <a:ea typeface="Calibri" pitchFamily="34" charset="-122"/>
                          <a:cs typeface="Calibri" pitchFamily="34" charset="-120"/>
                        </a:rPr>
                        <a:t>Rows</a:t>
                      </a:r>
                      <a:endParaRPr lang="en-US" sz="1600" dirty="0">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2F3C7E"/>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Date Range</a:t>
                      </a:r>
                      <a:endParaRPr lang="en-US" sz="1600" dirty="0">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2F3C7E"/>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Cleaning Notes</a:t>
                      </a:r>
                      <a:endParaRPr lang="en-US" sz="1600" dirty="0">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2F3C7E"/>
                    </a:solidFill>
                  </a:tcPr>
                </a:tc>
                <a:extLst>
                  <a:ext uri="{0D108BD9-81ED-4DB2-BD59-A6C34878D82A}">
                    <a16:rowId xmlns:a16="http://schemas.microsoft.com/office/drawing/2014/main" val="10000"/>
                  </a:ext>
                </a:extLst>
              </a:tr>
              <a:tr h="176763">
                <a:tc>
                  <a:txBody>
                    <a:bodyPr/>
                    <a:lstStyle/>
                    <a:p>
                      <a:pPr marL="0" indent="0">
                        <a:buNone/>
                      </a:pPr>
                      <a:r>
                        <a:rPr lang="en-US" sz="1400" b="1" dirty="0">
                          <a:solidFill>
                            <a:srgbClr val="2B2B2B"/>
                          </a:solidFill>
                          <a:latin typeface="Calibri" pitchFamily="34" charset="0"/>
                          <a:ea typeface="Calibri" pitchFamily="34" charset="-122"/>
                          <a:cs typeface="Calibri" pitchFamily="34" charset="-120"/>
                        </a:rPr>
                        <a:t>Orders</a:t>
                      </a:r>
                      <a:endParaRPr lang="en-US" sz="1400" dirty="0">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7F7FB"/>
                    </a:solidFill>
                  </a:tcPr>
                </a:tc>
                <a:tc>
                  <a:txBody>
                    <a:bodyPr/>
                    <a:lstStyle/>
                    <a:p>
                      <a:pPr marL="0" indent="0" algn="r">
                        <a:buNone/>
                      </a:pPr>
                      <a:r>
                        <a:rPr lang="en-US" sz="1400" dirty="0">
                          <a:solidFill>
                            <a:schemeClr val="tx1"/>
                          </a:solidFill>
                          <a:latin typeface="Calibri" pitchFamily="34" charset="0"/>
                          <a:ea typeface="Calibri" pitchFamily="34" charset="-122"/>
                          <a:cs typeface="Calibri" pitchFamily="34" charset="-120"/>
                        </a:rPr>
                        <a:t>32,313</a:t>
                      </a:r>
                      <a:endParaRPr lang="en-US" sz="1400" dirty="0">
                        <a:solidFill>
                          <a:schemeClr val="tx1"/>
                        </a:solidFill>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7F7FB"/>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Mar 2012 – Mar 2015</a:t>
                      </a:r>
                      <a:endParaRPr lang="en-US" sz="1400" dirty="0">
                        <a:solidFill>
                          <a:schemeClr val="tx1"/>
                        </a:solidFill>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7F7FB"/>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No nulls • no duplicates • COGS always &lt; price</a:t>
                      </a:r>
                      <a:endParaRPr lang="en-US" sz="1400" dirty="0">
                        <a:solidFill>
                          <a:schemeClr val="tx1"/>
                        </a:solidFill>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7F7FB"/>
                    </a:solidFill>
                  </a:tcPr>
                </a:tc>
                <a:extLst>
                  <a:ext uri="{0D108BD9-81ED-4DB2-BD59-A6C34878D82A}">
                    <a16:rowId xmlns:a16="http://schemas.microsoft.com/office/drawing/2014/main" val="10001"/>
                  </a:ext>
                </a:extLst>
              </a:tr>
              <a:tr h="0">
                <a:tc>
                  <a:txBody>
                    <a:bodyPr/>
                    <a:lstStyle/>
                    <a:p>
                      <a:pPr marL="0" indent="0">
                        <a:buNone/>
                      </a:pPr>
                      <a:r>
                        <a:rPr lang="en-US" sz="1400" b="1" dirty="0">
                          <a:solidFill>
                            <a:srgbClr val="2B2B2B"/>
                          </a:solidFill>
                          <a:latin typeface="Calibri" pitchFamily="34" charset="0"/>
                          <a:ea typeface="Calibri" pitchFamily="34" charset="-122"/>
                          <a:cs typeface="Calibri" pitchFamily="34" charset="-120"/>
                        </a:rPr>
                        <a:t>Order Items</a:t>
                      </a:r>
                      <a:endParaRPr lang="en-US" sz="1400" dirty="0">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FFFFF"/>
                    </a:solidFill>
                  </a:tcPr>
                </a:tc>
                <a:tc>
                  <a:txBody>
                    <a:bodyPr/>
                    <a:lstStyle/>
                    <a:p>
                      <a:pPr marL="0" indent="0" algn="r">
                        <a:buNone/>
                      </a:pPr>
                      <a:r>
                        <a:rPr lang="en-US" sz="1400" dirty="0">
                          <a:solidFill>
                            <a:schemeClr val="tx1"/>
                          </a:solidFill>
                          <a:latin typeface="Calibri" pitchFamily="34" charset="0"/>
                          <a:ea typeface="Calibri" pitchFamily="34" charset="-122"/>
                          <a:cs typeface="Calibri" pitchFamily="34" charset="-120"/>
                        </a:rPr>
                        <a:t>40,025</a:t>
                      </a:r>
                      <a:endParaRPr lang="en-US" sz="1400" dirty="0">
                        <a:solidFill>
                          <a:schemeClr val="tx1"/>
                        </a:solidFill>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Mar 2012 – Mar 2015</a:t>
                      </a:r>
                      <a:endParaRPr lang="en-US" sz="1400" dirty="0">
                        <a:solidFill>
                          <a:schemeClr val="tx1"/>
                        </a:solidFill>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No nulls • no duplicates</a:t>
                      </a:r>
                      <a:endParaRPr lang="en-US" sz="1400" dirty="0">
                        <a:solidFill>
                          <a:schemeClr val="tx1"/>
                        </a:solidFill>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400" b="1" dirty="0">
                          <a:solidFill>
                            <a:srgbClr val="2B2B2B"/>
                          </a:solidFill>
                          <a:latin typeface="Calibri" pitchFamily="34" charset="0"/>
                          <a:ea typeface="Calibri" pitchFamily="34" charset="-122"/>
                          <a:cs typeface="Calibri" pitchFamily="34" charset="-120"/>
                        </a:rPr>
                        <a:t>Order Item Refunds</a:t>
                      </a:r>
                      <a:endParaRPr lang="en-US" sz="1400" dirty="0">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7F7FB"/>
                    </a:solidFill>
                  </a:tcPr>
                </a:tc>
                <a:tc>
                  <a:txBody>
                    <a:bodyPr/>
                    <a:lstStyle/>
                    <a:p>
                      <a:pPr marL="0" indent="0" algn="r">
                        <a:buNone/>
                      </a:pPr>
                      <a:r>
                        <a:rPr lang="en-US" sz="1400" dirty="0">
                          <a:solidFill>
                            <a:schemeClr val="tx1"/>
                          </a:solidFill>
                          <a:latin typeface="Calibri" pitchFamily="34" charset="0"/>
                          <a:ea typeface="Calibri" pitchFamily="34" charset="-122"/>
                          <a:cs typeface="Calibri" pitchFamily="34" charset="-120"/>
                        </a:rPr>
                        <a:t>1,731</a:t>
                      </a:r>
                      <a:endParaRPr lang="en-US" sz="1400" dirty="0">
                        <a:solidFill>
                          <a:schemeClr val="tx1"/>
                        </a:solidFill>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7F7FB"/>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Apr 2012 – Apr 2015</a:t>
                      </a:r>
                      <a:endParaRPr lang="en-US" sz="1400" dirty="0">
                        <a:solidFill>
                          <a:schemeClr val="tx1"/>
                        </a:solidFill>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7F7FB"/>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No nulls • no duplicates</a:t>
                      </a:r>
                      <a:endParaRPr lang="en-US" sz="1400" dirty="0">
                        <a:solidFill>
                          <a:schemeClr val="tx1"/>
                        </a:solidFill>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7F7FB"/>
                    </a:solidFill>
                  </a:tcPr>
                </a:tc>
                <a:extLst>
                  <a:ext uri="{0D108BD9-81ED-4DB2-BD59-A6C34878D82A}">
                    <a16:rowId xmlns:a16="http://schemas.microsoft.com/office/drawing/2014/main" val="10003"/>
                  </a:ext>
                </a:extLst>
              </a:tr>
              <a:tr h="0">
                <a:tc>
                  <a:txBody>
                    <a:bodyPr/>
                    <a:lstStyle/>
                    <a:p>
                      <a:pPr marL="0" indent="0">
                        <a:buNone/>
                      </a:pPr>
                      <a:r>
                        <a:rPr lang="en-US" sz="1400" b="1" dirty="0">
                          <a:solidFill>
                            <a:srgbClr val="2B2B2B"/>
                          </a:solidFill>
                          <a:latin typeface="Calibri" pitchFamily="34" charset="0"/>
                          <a:ea typeface="Calibri" pitchFamily="34" charset="-122"/>
                          <a:cs typeface="Calibri" pitchFamily="34" charset="-120"/>
                        </a:rPr>
                        <a:t>Products</a:t>
                      </a:r>
                      <a:endParaRPr lang="en-US" sz="1400" dirty="0">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FFFFF"/>
                    </a:solidFill>
                  </a:tcPr>
                </a:tc>
                <a:tc>
                  <a:txBody>
                    <a:bodyPr/>
                    <a:lstStyle/>
                    <a:p>
                      <a:pPr marL="0" indent="0" algn="r">
                        <a:buNone/>
                      </a:pPr>
                      <a:r>
                        <a:rPr lang="en-US" sz="1400" dirty="0">
                          <a:solidFill>
                            <a:schemeClr val="tx1"/>
                          </a:solidFill>
                          <a:latin typeface="Calibri" pitchFamily="34" charset="0"/>
                          <a:ea typeface="Calibri" pitchFamily="34" charset="-122"/>
                          <a:cs typeface="Calibri" pitchFamily="34" charset="-120"/>
                        </a:rPr>
                        <a:t>4</a:t>
                      </a:r>
                      <a:endParaRPr lang="en-US" sz="1400" dirty="0">
                        <a:solidFill>
                          <a:schemeClr val="tx1"/>
                        </a:solidFill>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Mar 2012 – Feb 2014</a:t>
                      </a:r>
                      <a:endParaRPr lang="en-US" sz="1400" dirty="0">
                        <a:solidFill>
                          <a:schemeClr val="tx1"/>
                        </a:solidFill>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Reference table — verified complete</a:t>
                      </a:r>
                      <a:endParaRPr lang="en-US" sz="1400" dirty="0">
                        <a:solidFill>
                          <a:schemeClr val="tx1"/>
                        </a:solidFill>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400" b="1" dirty="0">
                          <a:solidFill>
                            <a:srgbClr val="2B2B2B"/>
                          </a:solidFill>
                          <a:latin typeface="Calibri" pitchFamily="34" charset="0"/>
                          <a:ea typeface="Calibri" pitchFamily="34" charset="-122"/>
                          <a:cs typeface="Calibri" pitchFamily="34" charset="-120"/>
                        </a:rPr>
                        <a:t>Website Pageviews</a:t>
                      </a:r>
                      <a:endParaRPr lang="en-US" sz="1400" dirty="0">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7F7FB"/>
                    </a:solidFill>
                  </a:tcPr>
                </a:tc>
                <a:tc>
                  <a:txBody>
                    <a:bodyPr/>
                    <a:lstStyle/>
                    <a:p>
                      <a:pPr marL="0" indent="0" algn="r">
                        <a:buNone/>
                      </a:pPr>
                      <a:r>
                        <a:rPr lang="en-US" sz="1400" dirty="0">
                          <a:solidFill>
                            <a:schemeClr val="tx1"/>
                          </a:solidFill>
                          <a:latin typeface="Calibri" pitchFamily="34" charset="0"/>
                          <a:ea typeface="Calibri" pitchFamily="34" charset="-122"/>
                          <a:cs typeface="Calibri" pitchFamily="34" charset="-120"/>
                        </a:rPr>
                        <a:t>1,188,124</a:t>
                      </a:r>
                      <a:endParaRPr lang="en-US" sz="1400" dirty="0">
                        <a:solidFill>
                          <a:schemeClr val="tx1"/>
                        </a:solidFill>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7F7FB"/>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Mar 2012 – Mar 2015</a:t>
                      </a:r>
                      <a:endParaRPr lang="en-US" sz="1400" dirty="0">
                        <a:solidFill>
                          <a:schemeClr val="tx1"/>
                        </a:solidFill>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7F7FB"/>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No nulls • no duplicates</a:t>
                      </a:r>
                      <a:endParaRPr lang="en-US" sz="1400" dirty="0">
                        <a:solidFill>
                          <a:schemeClr val="tx1"/>
                        </a:solidFill>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7F7FB"/>
                    </a:solidFill>
                  </a:tcPr>
                </a:tc>
                <a:extLst>
                  <a:ext uri="{0D108BD9-81ED-4DB2-BD59-A6C34878D82A}">
                    <a16:rowId xmlns:a16="http://schemas.microsoft.com/office/drawing/2014/main" val="10005"/>
                  </a:ext>
                </a:extLst>
              </a:tr>
              <a:tr h="0">
                <a:tc>
                  <a:txBody>
                    <a:bodyPr/>
                    <a:lstStyle/>
                    <a:p>
                      <a:pPr marL="0" indent="0">
                        <a:buNone/>
                      </a:pPr>
                      <a:r>
                        <a:rPr lang="en-US" sz="1400" b="1" dirty="0">
                          <a:solidFill>
                            <a:srgbClr val="2B2B2B"/>
                          </a:solidFill>
                          <a:latin typeface="Calibri" pitchFamily="34" charset="0"/>
                          <a:ea typeface="Calibri" pitchFamily="34" charset="-122"/>
                          <a:cs typeface="Calibri" pitchFamily="34" charset="-120"/>
                        </a:rPr>
                        <a:t>Website Sessions</a:t>
                      </a:r>
                      <a:endParaRPr lang="en-US" sz="1400" dirty="0">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FFFFF"/>
                    </a:solidFill>
                  </a:tcPr>
                </a:tc>
                <a:tc>
                  <a:txBody>
                    <a:bodyPr/>
                    <a:lstStyle/>
                    <a:p>
                      <a:pPr marL="0" indent="0" algn="r">
                        <a:buNone/>
                      </a:pPr>
                      <a:r>
                        <a:rPr lang="en-US" sz="1400" dirty="0">
                          <a:solidFill>
                            <a:schemeClr val="tx1"/>
                          </a:solidFill>
                          <a:latin typeface="Calibri" pitchFamily="34" charset="0"/>
                          <a:ea typeface="Calibri" pitchFamily="34" charset="-122"/>
                          <a:cs typeface="Calibri" pitchFamily="34" charset="-120"/>
                        </a:rPr>
                        <a:t>472,871</a:t>
                      </a:r>
                      <a:endParaRPr lang="en-US" sz="1400" dirty="0">
                        <a:solidFill>
                          <a:schemeClr val="tx1"/>
                        </a:solidFill>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Mar 2012 – Mar 2015</a:t>
                      </a:r>
                      <a:endParaRPr lang="en-US" sz="1400" dirty="0">
                        <a:solidFill>
                          <a:schemeClr val="tx1"/>
                        </a:solidFill>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utm_campaign/utm_content blank for 83,328 “Direct” sessions</a:t>
                      </a:r>
                      <a:endParaRPr lang="en-US" sz="1400" dirty="0">
                        <a:solidFill>
                          <a:schemeClr val="tx1"/>
                        </a:solidFill>
                        <a:latin typeface="Calibri" charset="0"/>
                        <a:ea typeface="Calibri" charset="0"/>
                        <a:cs typeface="Calibri" charset="0"/>
                      </a:endParaRPr>
                    </a:p>
                  </a:txBody>
                  <a:tcPr marL="101600" marR="101600" marT="63500" marB="63500" anchor="ctr">
                    <a:lnL w="9525" cap="flat" cmpd="sng" algn="ctr">
                      <a:solidFill>
                        <a:srgbClr val="E6E6EE"/>
                      </a:solidFill>
                      <a:prstDash val="solid"/>
                      <a:round/>
                      <a:headEnd type="none" w="med" len="med"/>
                      <a:tailEnd type="none" w="med" len="med"/>
                    </a:lnL>
                    <a:lnR w="9525" cap="flat" cmpd="sng" algn="ctr">
                      <a:solidFill>
                        <a:srgbClr val="E6E6EE"/>
                      </a:solidFill>
                      <a:prstDash val="solid"/>
                      <a:round/>
                      <a:headEnd type="none" w="med" len="med"/>
                      <a:tailEnd type="none" w="med" len="med"/>
                    </a:lnR>
                    <a:lnT w="9525" cap="flat" cmpd="sng" algn="ctr">
                      <a:solidFill>
                        <a:srgbClr val="E6E6EE"/>
                      </a:solidFill>
                      <a:prstDash val="solid"/>
                      <a:round/>
                      <a:headEnd type="none" w="med" len="med"/>
                      <a:tailEnd type="none" w="med" len="med"/>
                    </a:lnT>
                    <a:lnB w="9525" cap="flat" cmpd="sng" algn="ctr">
                      <a:solidFill>
                        <a:srgbClr val="E6E6E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576072" y="4807077"/>
            <a:ext cx="11064240" cy="1051560"/>
          </a:xfrm>
          <a:prstGeom prst="roundRect">
            <a:avLst>
              <a:gd name="adj" fmla="val 6957"/>
            </a:avLst>
          </a:prstGeom>
          <a:solidFill>
            <a:srgbClr val="F96167"/>
          </a:solidFill>
          <a:ln/>
        </p:spPr>
        <p:txBody>
          <a:bodyPr/>
          <a:lstStyle/>
          <a:p>
            <a:endParaRPr lang="en-IN" sz="1400"/>
          </a:p>
        </p:txBody>
      </p:sp>
      <p:sp>
        <p:nvSpPr>
          <p:cNvPr id="4" name="Text 3"/>
          <p:cNvSpPr/>
          <p:nvPr/>
        </p:nvSpPr>
        <p:spPr>
          <a:xfrm>
            <a:off x="741045" y="4943475"/>
            <a:ext cx="10515600" cy="778764"/>
          </a:xfrm>
          <a:prstGeom prst="rect">
            <a:avLst/>
          </a:prstGeom>
          <a:noFill/>
          <a:ln/>
        </p:spPr>
        <p:txBody>
          <a:bodyPr wrap="square" rtlCol="0" anchor="ctr"/>
          <a:lstStyle/>
          <a:p>
            <a:pPr marL="0" indent="0">
              <a:lnSpc>
                <a:spcPct val="120000"/>
              </a:lnSpc>
              <a:buNone/>
            </a:pPr>
            <a:r>
              <a:rPr lang="en-US" sz="1400" b="1" dirty="0">
                <a:solidFill>
                  <a:srgbClr val="FFFFFF"/>
                </a:solidFill>
                <a:latin typeface="Calibri" pitchFamily="34" charset="0"/>
                <a:ea typeface="Calibri" pitchFamily="34" charset="-122"/>
                <a:cs typeface="Calibri" pitchFamily="34" charset="-120"/>
              </a:rPr>
              <a:t>Outlier Check: </a:t>
            </a:r>
            <a:r>
              <a:rPr lang="en-US" sz="1400" dirty="0">
                <a:solidFill>
                  <a:srgbClr val="FFF3F2"/>
                </a:solidFill>
                <a:latin typeface="Calibri" pitchFamily="34" charset="0"/>
                <a:ea typeface="Calibri" pitchFamily="34" charset="-122"/>
                <a:cs typeface="Calibri" pitchFamily="34" charset="-120"/>
              </a:rPr>
              <a:t>The Z-score based check flagged a large share of price_usd, cogs_usd and </a:t>
            </a:r>
            <a:r>
              <a:rPr lang="en-US" sz="1400" dirty="0" err="1">
                <a:solidFill>
                  <a:srgbClr val="FFF3F2"/>
                </a:solidFill>
                <a:latin typeface="Calibri" pitchFamily="34" charset="0"/>
                <a:ea typeface="Calibri" pitchFamily="34" charset="-122"/>
                <a:cs typeface="Calibri" pitchFamily="34" charset="-120"/>
              </a:rPr>
              <a:t>items_purchased</a:t>
            </a:r>
            <a:r>
              <a:rPr lang="en-US" sz="1400" dirty="0">
                <a:solidFill>
                  <a:srgbClr val="FFF3F2"/>
                </a:solidFill>
                <a:latin typeface="Calibri" pitchFamily="34" charset="0"/>
                <a:ea typeface="Calibri" pitchFamily="34" charset="-122"/>
                <a:cs typeface="Calibri" pitchFamily="34" charset="-120"/>
              </a:rPr>
              <a:t> values,  but these were found as legitimate variation across the 4 products and 1–2-item orders, not data errors. No negative, zero, or cogs-exceeding-price rows exist anywhere in the dataset.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2F3C7E"/>
                </a:solidFill>
                <a:latin typeface="Cambria" pitchFamily="34" charset="0"/>
                <a:ea typeface="Cambria" pitchFamily="34" charset="-122"/>
                <a:cs typeface="Cambria" pitchFamily="34" charset="-120"/>
              </a:rPr>
              <a:t>4. Data Model Overview</a:t>
            </a:r>
            <a:endParaRPr lang="en-US" sz="3000" dirty="0"/>
          </a:p>
        </p:txBody>
      </p:sp>
      <p:sp>
        <p:nvSpPr>
          <p:cNvPr id="4" name="Shape 2"/>
          <p:cNvSpPr/>
          <p:nvPr/>
        </p:nvSpPr>
        <p:spPr>
          <a:xfrm>
            <a:off x="571500" y="1337636"/>
            <a:ext cx="3611880" cy="1131244"/>
          </a:xfrm>
          <a:prstGeom prst="roundRect">
            <a:avLst>
              <a:gd name="adj" fmla="val 5926"/>
            </a:avLst>
          </a:prstGeom>
          <a:solidFill>
            <a:srgbClr val="F7F7FB"/>
          </a:solidFill>
          <a:ln/>
        </p:spPr>
        <p:txBody>
          <a:bodyPr/>
          <a:lstStyle/>
          <a:p>
            <a:endParaRPr lang="en-IN" sz="1400"/>
          </a:p>
        </p:txBody>
      </p:sp>
      <p:sp>
        <p:nvSpPr>
          <p:cNvPr id="5" name="Shape 3"/>
          <p:cNvSpPr/>
          <p:nvPr/>
        </p:nvSpPr>
        <p:spPr>
          <a:xfrm>
            <a:off x="685800" y="1614069"/>
            <a:ext cx="502920" cy="502920"/>
          </a:xfrm>
          <a:prstGeom prst="ellipse">
            <a:avLst/>
          </a:prstGeom>
          <a:solidFill>
            <a:srgbClr val="2F3C7E"/>
          </a:solidFill>
          <a:ln/>
        </p:spPr>
        <p:txBody>
          <a:bodyPr/>
          <a:lstStyle/>
          <a:p>
            <a:endParaRPr lang="en-IN" sz="1400"/>
          </a:p>
        </p:txBody>
      </p:sp>
      <p:pic>
        <p:nvPicPr>
          <p:cNvPr id="6" name="Image 0" descr="/home/claude/pptxbuild/icons/clipboard.png"/>
          <p:cNvPicPr>
            <a:picLocks noChangeAspect="1"/>
          </p:cNvPicPr>
          <p:nvPr/>
        </p:nvPicPr>
        <p:blipFill>
          <a:blip r:embed="rId3"/>
          <a:stretch>
            <a:fillRect/>
          </a:stretch>
        </p:blipFill>
        <p:spPr>
          <a:xfrm>
            <a:off x="834726" y="1715567"/>
            <a:ext cx="261518" cy="261518"/>
          </a:xfrm>
          <a:prstGeom prst="rect">
            <a:avLst/>
          </a:prstGeom>
        </p:spPr>
      </p:pic>
      <p:sp>
        <p:nvSpPr>
          <p:cNvPr id="7" name="Text 4"/>
          <p:cNvSpPr/>
          <p:nvPr/>
        </p:nvSpPr>
        <p:spPr>
          <a:xfrm>
            <a:off x="1167461" y="1522629"/>
            <a:ext cx="2606040" cy="320040"/>
          </a:xfrm>
          <a:prstGeom prst="rect">
            <a:avLst/>
          </a:prstGeom>
          <a:noFill/>
          <a:ln/>
        </p:spPr>
        <p:txBody>
          <a:bodyPr wrap="square"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orders</a:t>
            </a:r>
            <a:endParaRPr lang="en-US" sz="1400" dirty="0"/>
          </a:p>
        </p:txBody>
      </p:sp>
      <p:sp>
        <p:nvSpPr>
          <p:cNvPr id="8" name="Text 5"/>
          <p:cNvSpPr/>
          <p:nvPr/>
        </p:nvSpPr>
        <p:spPr>
          <a:xfrm>
            <a:off x="1188720" y="1847372"/>
            <a:ext cx="2811781" cy="548640"/>
          </a:xfrm>
          <a:prstGeom prst="rect">
            <a:avLst/>
          </a:prstGeom>
          <a:noFill/>
          <a:ln/>
        </p:spPr>
        <p:txBody>
          <a:bodyPr wrap="square" rtlCol="0" anchor="t"/>
          <a:lstStyle/>
          <a:p>
            <a:pPr marL="0" indent="0">
              <a:buNone/>
            </a:pPr>
            <a:r>
              <a:rPr lang="en-US" sz="1400" dirty="0">
                <a:latin typeface="Calibri" pitchFamily="34" charset="0"/>
                <a:ea typeface="Calibri" pitchFamily="34" charset="-122"/>
                <a:cs typeface="Calibri" pitchFamily="34" charset="-120"/>
              </a:rPr>
              <a:t>Order id, user id, items purchased, customer category, timestamps</a:t>
            </a:r>
            <a:endParaRPr lang="en-US" sz="1400" dirty="0"/>
          </a:p>
        </p:txBody>
      </p:sp>
      <p:sp>
        <p:nvSpPr>
          <p:cNvPr id="9" name="Shape 6"/>
          <p:cNvSpPr/>
          <p:nvPr/>
        </p:nvSpPr>
        <p:spPr>
          <a:xfrm>
            <a:off x="4389120" y="1337636"/>
            <a:ext cx="3611880" cy="1083848"/>
          </a:xfrm>
          <a:prstGeom prst="roundRect">
            <a:avLst>
              <a:gd name="adj" fmla="val 5926"/>
            </a:avLst>
          </a:prstGeom>
          <a:solidFill>
            <a:srgbClr val="F7F7FB"/>
          </a:solidFill>
          <a:ln/>
        </p:spPr>
        <p:txBody>
          <a:bodyPr/>
          <a:lstStyle/>
          <a:p>
            <a:endParaRPr lang="en-IN" sz="1400"/>
          </a:p>
        </p:txBody>
      </p:sp>
      <p:sp>
        <p:nvSpPr>
          <p:cNvPr id="10" name="Shape 7"/>
          <p:cNvSpPr/>
          <p:nvPr/>
        </p:nvSpPr>
        <p:spPr>
          <a:xfrm>
            <a:off x="4588459" y="1610182"/>
            <a:ext cx="502920" cy="502920"/>
          </a:xfrm>
          <a:prstGeom prst="ellipse">
            <a:avLst/>
          </a:prstGeom>
          <a:solidFill>
            <a:srgbClr val="F96167"/>
          </a:solidFill>
          <a:ln/>
        </p:spPr>
        <p:txBody>
          <a:bodyPr/>
          <a:lstStyle/>
          <a:p>
            <a:endParaRPr lang="en-IN" sz="1400"/>
          </a:p>
        </p:txBody>
      </p:sp>
      <p:pic>
        <p:nvPicPr>
          <p:cNvPr id="11" name="Image 1" descr="/home/claude/pptxbuild/icons/box.png"/>
          <p:cNvPicPr>
            <a:picLocks noChangeAspect="1"/>
          </p:cNvPicPr>
          <p:nvPr/>
        </p:nvPicPr>
        <p:blipFill>
          <a:blip r:embed="rId4"/>
          <a:stretch>
            <a:fillRect/>
          </a:stretch>
        </p:blipFill>
        <p:spPr>
          <a:xfrm>
            <a:off x="4692701" y="1715567"/>
            <a:ext cx="261518" cy="261518"/>
          </a:xfrm>
          <a:prstGeom prst="rect">
            <a:avLst/>
          </a:prstGeom>
        </p:spPr>
      </p:pic>
      <p:sp>
        <p:nvSpPr>
          <p:cNvPr id="12" name="Text 8"/>
          <p:cNvSpPr/>
          <p:nvPr/>
        </p:nvSpPr>
        <p:spPr>
          <a:xfrm>
            <a:off x="5082049" y="1520647"/>
            <a:ext cx="2606040" cy="320040"/>
          </a:xfrm>
          <a:prstGeom prst="rect">
            <a:avLst/>
          </a:prstGeom>
          <a:noFill/>
          <a:ln/>
        </p:spPr>
        <p:txBody>
          <a:bodyPr wrap="square"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products</a:t>
            </a:r>
            <a:endParaRPr lang="en-US" sz="1400" dirty="0"/>
          </a:p>
        </p:txBody>
      </p:sp>
      <p:sp>
        <p:nvSpPr>
          <p:cNvPr id="13" name="Text 9"/>
          <p:cNvSpPr/>
          <p:nvPr/>
        </p:nvSpPr>
        <p:spPr>
          <a:xfrm>
            <a:off x="5074920" y="1838782"/>
            <a:ext cx="2926080" cy="437236"/>
          </a:xfrm>
          <a:prstGeom prst="rect">
            <a:avLst/>
          </a:prstGeom>
          <a:noFill/>
          <a:ln/>
        </p:spPr>
        <p:txBody>
          <a:bodyPr wrap="square" rtlCol="0" anchor="t"/>
          <a:lstStyle/>
          <a:p>
            <a:pPr marL="0" indent="0">
              <a:buNone/>
            </a:pPr>
            <a:r>
              <a:rPr lang="en-US" sz="1400" dirty="0">
                <a:latin typeface="Calibri" pitchFamily="34" charset="0"/>
                <a:ea typeface="Calibri" pitchFamily="34" charset="-122"/>
                <a:cs typeface="Calibri" pitchFamily="34" charset="-120"/>
              </a:rPr>
              <a:t>Product catalogue: name &amp; attributes</a:t>
            </a:r>
            <a:endParaRPr lang="en-US" sz="1400" dirty="0"/>
          </a:p>
        </p:txBody>
      </p:sp>
      <p:sp>
        <p:nvSpPr>
          <p:cNvPr id="14" name="Shape 10"/>
          <p:cNvSpPr/>
          <p:nvPr/>
        </p:nvSpPr>
        <p:spPr>
          <a:xfrm>
            <a:off x="8229600" y="1337636"/>
            <a:ext cx="3611880" cy="1083848"/>
          </a:xfrm>
          <a:prstGeom prst="roundRect">
            <a:avLst>
              <a:gd name="adj" fmla="val 5926"/>
            </a:avLst>
          </a:prstGeom>
          <a:solidFill>
            <a:srgbClr val="F7F7FB"/>
          </a:solidFill>
          <a:ln/>
        </p:spPr>
        <p:txBody>
          <a:bodyPr/>
          <a:lstStyle/>
          <a:p>
            <a:endParaRPr lang="en-IN" sz="1400"/>
          </a:p>
        </p:txBody>
      </p:sp>
      <p:sp>
        <p:nvSpPr>
          <p:cNvPr id="15" name="Shape 11"/>
          <p:cNvSpPr/>
          <p:nvPr/>
        </p:nvSpPr>
        <p:spPr>
          <a:xfrm>
            <a:off x="8411182" y="1608786"/>
            <a:ext cx="502920" cy="502920"/>
          </a:xfrm>
          <a:prstGeom prst="ellipse">
            <a:avLst/>
          </a:prstGeom>
          <a:solidFill>
            <a:srgbClr val="2F3C7E"/>
          </a:solidFill>
          <a:ln/>
        </p:spPr>
        <p:txBody>
          <a:bodyPr/>
          <a:lstStyle/>
          <a:p>
            <a:endParaRPr lang="en-IN" sz="1400"/>
          </a:p>
        </p:txBody>
      </p:sp>
      <p:pic>
        <p:nvPicPr>
          <p:cNvPr id="16" name="Image 2" descr="/home/claude/pptxbuild/icons/globe.png"/>
          <p:cNvPicPr>
            <a:picLocks noChangeAspect="1"/>
          </p:cNvPicPr>
          <p:nvPr/>
        </p:nvPicPr>
        <p:blipFill>
          <a:blip r:embed="rId5"/>
          <a:stretch>
            <a:fillRect/>
          </a:stretch>
        </p:blipFill>
        <p:spPr>
          <a:xfrm>
            <a:off x="8524754" y="1715567"/>
            <a:ext cx="261518" cy="261518"/>
          </a:xfrm>
          <a:prstGeom prst="rect">
            <a:avLst/>
          </a:prstGeom>
        </p:spPr>
      </p:pic>
      <p:sp>
        <p:nvSpPr>
          <p:cNvPr id="17" name="Text 12"/>
          <p:cNvSpPr/>
          <p:nvPr/>
        </p:nvSpPr>
        <p:spPr>
          <a:xfrm>
            <a:off x="8915400" y="1528430"/>
            <a:ext cx="2606040" cy="320040"/>
          </a:xfrm>
          <a:prstGeom prst="rect">
            <a:avLst/>
          </a:prstGeom>
          <a:noFill/>
          <a:ln/>
        </p:spPr>
        <p:txBody>
          <a:bodyPr wrap="square"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website_sessions</a:t>
            </a:r>
            <a:endParaRPr lang="en-US" sz="1400" dirty="0"/>
          </a:p>
        </p:txBody>
      </p:sp>
      <p:sp>
        <p:nvSpPr>
          <p:cNvPr id="18" name="Text 13"/>
          <p:cNvSpPr/>
          <p:nvPr/>
        </p:nvSpPr>
        <p:spPr>
          <a:xfrm>
            <a:off x="8901871" y="1807926"/>
            <a:ext cx="2849103" cy="548640"/>
          </a:xfrm>
          <a:prstGeom prst="rect">
            <a:avLst/>
          </a:prstGeom>
          <a:noFill/>
          <a:ln/>
        </p:spPr>
        <p:txBody>
          <a:bodyPr wrap="square" rtlCol="0" anchor="t"/>
          <a:lstStyle/>
          <a:p>
            <a:pPr marL="0" indent="0">
              <a:buNone/>
            </a:pPr>
            <a:r>
              <a:rPr lang="en-US" sz="1400" dirty="0">
                <a:latin typeface="Calibri" pitchFamily="34" charset="0"/>
                <a:ea typeface="Calibri" pitchFamily="34" charset="-122"/>
                <a:cs typeface="Calibri" pitchFamily="34" charset="-120"/>
              </a:rPr>
              <a:t>utm_source, utm_campaign, device_type, customer type, is_repeat_session</a:t>
            </a:r>
            <a:endParaRPr lang="en-US" sz="1400" dirty="0"/>
          </a:p>
        </p:txBody>
      </p:sp>
      <p:sp>
        <p:nvSpPr>
          <p:cNvPr id="19" name="Shape 14"/>
          <p:cNvSpPr/>
          <p:nvPr/>
        </p:nvSpPr>
        <p:spPr>
          <a:xfrm>
            <a:off x="2372141" y="2784632"/>
            <a:ext cx="3611880" cy="1234440"/>
          </a:xfrm>
          <a:prstGeom prst="roundRect">
            <a:avLst>
              <a:gd name="adj" fmla="val 5926"/>
            </a:avLst>
          </a:prstGeom>
          <a:solidFill>
            <a:srgbClr val="F7F7FB"/>
          </a:solidFill>
          <a:ln/>
        </p:spPr>
        <p:txBody>
          <a:bodyPr/>
          <a:lstStyle/>
          <a:p>
            <a:endParaRPr lang="en-IN" sz="1400"/>
          </a:p>
        </p:txBody>
      </p:sp>
      <p:sp>
        <p:nvSpPr>
          <p:cNvPr id="20" name="Shape 15"/>
          <p:cNvSpPr/>
          <p:nvPr/>
        </p:nvSpPr>
        <p:spPr>
          <a:xfrm>
            <a:off x="2579487" y="3072184"/>
            <a:ext cx="502920" cy="502920"/>
          </a:xfrm>
          <a:prstGeom prst="ellipse">
            <a:avLst/>
          </a:prstGeom>
          <a:solidFill>
            <a:srgbClr val="F96167"/>
          </a:solidFill>
          <a:ln/>
        </p:spPr>
        <p:txBody>
          <a:bodyPr/>
          <a:lstStyle/>
          <a:p>
            <a:endParaRPr lang="en-IN" sz="1400"/>
          </a:p>
        </p:txBody>
      </p:sp>
      <p:pic>
        <p:nvPicPr>
          <p:cNvPr id="21" name="Image 3" descr="/home/claude/pptxbuild/icons/chartline.png"/>
          <p:cNvPicPr>
            <a:picLocks noChangeAspect="1"/>
          </p:cNvPicPr>
          <p:nvPr/>
        </p:nvPicPr>
        <p:blipFill>
          <a:blip r:embed="rId6"/>
          <a:stretch>
            <a:fillRect/>
          </a:stretch>
        </p:blipFill>
        <p:spPr>
          <a:xfrm>
            <a:off x="2699284" y="3201763"/>
            <a:ext cx="261518" cy="261518"/>
          </a:xfrm>
          <a:prstGeom prst="rect">
            <a:avLst/>
          </a:prstGeom>
        </p:spPr>
      </p:pic>
      <p:sp>
        <p:nvSpPr>
          <p:cNvPr id="22" name="Text 16"/>
          <p:cNvSpPr/>
          <p:nvPr/>
        </p:nvSpPr>
        <p:spPr>
          <a:xfrm>
            <a:off x="3100640" y="2997073"/>
            <a:ext cx="2606040" cy="320040"/>
          </a:xfrm>
          <a:prstGeom prst="rect">
            <a:avLst/>
          </a:prstGeom>
          <a:noFill/>
          <a:ln/>
        </p:spPr>
        <p:txBody>
          <a:bodyPr wrap="square"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website_pageviews</a:t>
            </a:r>
            <a:endParaRPr lang="en-US" sz="1400" dirty="0"/>
          </a:p>
        </p:txBody>
      </p:sp>
      <p:sp>
        <p:nvSpPr>
          <p:cNvPr id="23" name="Text 17"/>
          <p:cNvSpPr/>
          <p:nvPr/>
        </p:nvSpPr>
        <p:spPr>
          <a:xfrm>
            <a:off x="3072312" y="3300784"/>
            <a:ext cx="2966948" cy="548640"/>
          </a:xfrm>
          <a:prstGeom prst="rect">
            <a:avLst/>
          </a:prstGeom>
          <a:noFill/>
          <a:ln/>
        </p:spPr>
        <p:txBody>
          <a:bodyPr wrap="square" rtlCol="0" anchor="t"/>
          <a:lstStyle/>
          <a:p>
            <a:pPr marL="0" indent="0">
              <a:buNone/>
            </a:pPr>
            <a:r>
              <a:rPr lang="en-US" sz="1400" dirty="0" err="1">
                <a:latin typeface="Calibri" pitchFamily="34" charset="0"/>
                <a:ea typeface="Calibri" pitchFamily="34" charset="-122"/>
                <a:cs typeface="Calibri" pitchFamily="34" charset="-120"/>
              </a:rPr>
              <a:t>pageview_url</a:t>
            </a:r>
            <a:r>
              <a:rPr lang="en-US" sz="1400" dirty="0">
                <a:latin typeface="Calibri" pitchFamily="34" charset="0"/>
                <a:ea typeface="Calibri" pitchFamily="34" charset="-122"/>
                <a:cs typeface="Calibri" pitchFamily="34" charset="-120"/>
              </a:rPr>
              <a:t>, website_pageview_id, linked session id</a:t>
            </a:r>
            <a:endParaRPr lang="en-US" sz="1400" dirty="0"/>
          </a:p>
        </p:txBody>
      </p:sp>
      <p:sp>
        <p:nvSpPr>
          <p:cNvPr id="24" name="Shape 18"/>
          <p:cNvSpPr/>
          <p:nvPr/>
        </p:nvSpPr>
        <p:spPr>
          <a:xfrm>
            <a:off x="6425061" y="2833136"/>
            <a:ext cx="3611880" cy="1234440"/>
          </a:xfrm>
          <a:prstGeom prst="roundRect">
            <a:avLst>
              <a:gd name="adj" fmla="val 5926"/>
            </a:avLst>
          </a:prstGeom>
          <a:solidFill>
            <a:srgbClr val="F7F7FB"/>
          </a:solidFill>
          <a:ln/>
        </p:spPr>
        <p:txBody>
          <a:bodyPr/>
          <a:lstStyle/>
          <a:p>
            <a:endParaRPr lang="en-IN" sz="1400"/>
          </a:p>
        </p:txBody>
      </p:sp>
      <p:sp>
        <p:nvSpPr>
          <p:cNvPr id="25" name="Shape 19"/>
          <p:cNvSpPr/>
          <p:nvPr/>
        </p:nvSpPr>
        <p:spPr>
          <a:xfrm>
            <a:off x="6624101" y="3074888"/>
            <a:ext cx="502920" cy="502920"/>
          </a:xfrm>
          <a:prstGeom prst="ellipse">
            <a:avLst/>
          </a:prstGeom>
          <a:solidFill>
            <a:srgbClr val="2F3C7E"/>
          </a:solidFill>
          <a:ln/>
        </p:spPr>
        <p:txBody>
          <a:bodyPr/>
          <a:lstStyle/>
          <a:p>
            <a:endParaRPr lang="en-IN" sz="1400"/>
          </a:p>
        </p:txBody>
      </p:sp>
      <p:pic>
        <p:nvPicPr>
          <p:cNvPr id="26" name="Image 4" descr="/home/claude/pptxbuild/icons/diagram.png"/>
          <p:cNvPicPr>
            <a:picLocks noChangeAspect="1"/>
          </p:cNvPicPr>
          <p:nvPr/>
        </p:nvPicPr>
        <p:blipFill>
          <a:blip r:embed="rId7"/>
          <a:stretch>
            <a:fillRect/>
          </a:stretch>
        </p:blipFill>
        <p:spPr>
          <a:xfrm>
            <a:off x="6744802" y="3201763"/>
            <a:ext cx="261518" cy="261518"/>
          </a:xfrm>
          <a:prstGeom prst="rect">
            <a:avLst/>
          </a:prstGeom>
        </p:spPr>
      </p:pic>
      <p:sp>
        <p:nvSpPr>
          <p:cNvPr id="27" name="Text 20"/>
          <p:cNvSpPr/>
          <p:nvPr/>
        </p:nvSpPr>
        <p:spPr>
          <a:xfrm>
            <a:off x="7141577" y="3016682"/>
            <a:ext cx="2606040" cy="320040"/>
          </a:xfrm>
          <a:prstGeom prst="rect">
            <a:avLst/>
          </a:prstGeom>
          <a:noFill/>
          <a:ln/>
        </p:spPr>
        <p:txBody>
          <a:bodyPr wrap="square"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Date Table</a:t>
            </a:r>
            <a:endParaRPr lang="en-US" sz="1400" dirty="0"/>
          </a:p>
        </p:txBody>
      </p:sp>
      <p:sp>
        <p:nvSpPr>
          <p:cNvPr id="28" name="Text 21"/>
          <p:cNvSpPr/>
          <p:nvPr/>
        </p:nvSpPr>
        <p:spPr>
          <a:xfrm>
            <a:off x="7158504" y="3323644"/>
            <a:ext cx="2999232" cy="548640"/>
          </a:xfrm>
          <a:prstGeom prst="rect">
            <a:avLst/>
          </a:prstGeom>
          <a:noFill/>
          <a:ln/>
        </p:spPr>
        <p:txBody>
          <a:bodyPr wrap="square" rtlCol="0" anchor="t"/>
          <a:lstStyle/>
          <a:p>
            <a:pPr marL="0" indent="0">
              <a:buNone/>
            </a:pPr>
            <a:r>
              <a:rPr lang="en-US" sz="1400" dirty="0">
                <a:latin typeface="Calibri" pitchFamily="34" charset="0"/>
                <a:ea typeface="Calibri" pitchFamily="34" charset="-122"/>
                <a:cs typeface="Calibri" pitchFamily="34" charset="-120"/>
              </a:rPr>
              <a:t>Year, Month, Month Year — drives time intelligence &amp; slicers</a:t>
            </a:r>
            <a:endParaRPr lang="en-US" sz="1400" dirty="0"/>
          </a:p>
        </p:txBody>
      </p:sp>
      <p:sp>
        <p:nvSpPr>
          <p:cNvPr id="34" name="Text 26"/>
          <p:cNvSpPr/>
          <p:nvPr/>
        </p:nvSpPr>
        <p:spPr>
          <a:xfrm>
            <a:off x="548640" y="4160520"/>
            <a:ext cx="10972800" cy="320040"/>
          </a:xfrm>
          <a:prstGeom prst="rect">
            <a:avLst/>
          </a:prstGeom>
          <a:noFill/>
          <a:ln/>
        </p:spPr>
        <p:txBody>
          <a:bodyPr wrap="square" rtlCol="0" anchor="ctr"/>
          <a:lstStyle/>
          <a:p>
            <a:pPr marL="0" indent="0">
              <a:buNone/>
            </a:pPr>
            <a:r>
              <a:rPr lang="en-US" sz="1400" b="1">
                <a:solidFill>
                  <a:srgbClr val="2F3C7E"/>
                </a:solidFill>
                <a:latin typeface="Calibri" pitchFamily="34" charset="0"/>
                <a:ea typeface="Calibri" pitchFamily="34" charset="-122"/>
                <a:cs typeface="Calibri" pitchFamily="34" charset="-120"/>
              </a:rPr>
              <a:t>Total 42 </a:t>
            </a:r>
            <a:r>
              <a:rPr lang="en-US" sz="1400" b="1" dirty="0">
                <a:solidFill>
                  <a:srgbClr val="2F3C7E"/>
                </a:solidFill>
                <a:latin typeface="Calibri" pitchFamily="34" charset="0"/>
                <a:ea typeface="Calibri" pitchFamily="34" charset="-122"/>
                <a:cs typeface="Calibri" pitchFamily="34" charset="-120"/>
              </a:rPr>
              <a:t>measures live in an “All Measures” folder, grouped here by analytical theme:</a:t>
            </a:r>
            <a:endParaRPr lang="en-US" sz="1400" dirty="0"/>
          </a:p>
        </p:txBody>
      </p:sp>
      <p:sp>
        <p:nvSpPr>
          <p:cNvPr id="35" name="Shape 27"/>
          <p:cNvSpPr/>
          <p:nvPr/>
        </p:nvSpPr>
        <p:spPr>
          <a:xfrm>
            <a:off x="548640" y="4572000"/>
            <a:ext cx="2743200" cy="1691640"/>
          </a:xfrm>
          <a:prstGeom prst="roundRect">
            <a:avLst>
              <a:gd name="adj" fmla="val 4324"/>
            </a:avLst>
          </a:prstGeom>
          <a:solidFill>
            <a:srgbClr val="2F3C7E"/>
          </a:solidFill>
          <a:ln/>
        </p:spPr>
        <p:txBody>
          <a:bodyPr/>
          <a:lstStyle/>
          <a:p>
            <a:endParaRPr lang="en-IN" sz="1400"/>
          </a:p>
        </p:txBody>
      </p:sp>
      <p:sp>
        <p:nvSpPr>
          <p:cNvPr id="36" name="Text 28"/>
          <p:cNvSpPr/>
          <p:nvPr/>
        </p:nvSpPr>
        <p:spPr>
          <a:xfrm>
            <a:off x="685800" y="4690872"/>
            <a:ext cx="2468880"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Revenue &amp; Profit</a:t>
            </a:r>
            <a:endParaRPr lang="en-US" sz="1400" dirty="0"/>
          </a:p>
        </p:txBody>
      </p:sp>
      <p:sp>
        <p:nvSpPr>
          <p:cNvPr id="37" name="Text 29"/>
          <p:cNvSpPr/>
          <p:nvPr/>
        </p:nvSpPr>
        <p:spPr>
          <a:xfrm>
            <a:off x="685800" y="5120640"/>
            <a:ext cx="2468880" cy="1051560"/>
          </a:xfrm>
          <a:prstGeom prst="rect">
            <a:avLst/>
          </a:prstGeom>
          <a:noFill/>
          <a:ln/>
        </p:spPr>
        <p:txBody>
          <a:bodyPr wrap="square" rtlCol="0" anchor="t"/>
          <a:lstStyle/>
          <a:p>
            <a:pPr marL="0" indent="0">
              <a:lnSpc>
                <a:spcPct val="115000"/>
              </a:lnSpc>
              <a:buNone/>
            </a:pPr>
            <a:r>
              <a:rPr lang="en-US" sz="1400" dirty="0">
                <a:solidFill>
                  <a:srgbClr val="F2F2F2"/>
                </a:solidFill>
                <a:latin typeface="Calibri" pitchFamily="34" charset="0"/>
                <a:ea typeface="Calibri" pitchFamily="34" charset="-122"/>
                <a:cs typeface="Calibri" pitchFamily="34" charset="-120"/>
              </a:rPr>
              <a:t>Total Revenue, Total Profit, Total COGS, AOV, Revenue Per Session, Revenue At Risk…</a:t>
            </a:r>
            <a:endParaRPr lang="en-US" sz="1400" dirty="0"/>
          </a:p>
        </p:txBody>
      </p:sp>
      <p:sp>
        <p:nvSpPr>
          <p:cNvPr id="38" name="Shape 30"/>
          <p:cNvSpPr/>
          <p:nvPr/>
        </p:nvSpPr>
        <p:spPr>
          <a:xfrm>
            <a:off x="3392424" y="4572000"/>
            <a:ext cx="2743200" cy="1691640"/>
          </a:xfrm>
          <a:prstGeom prst="roundRect">
            <a:avLst>
              <a:gd name="adj" fmla="val 4324"/>
            </a:avLst>
          </a:prstGeom>
          <a:solidFill>
            <a:srgbClr val="F96167"/>
          </a:solidFill>
          <a:ln/>
        </p:spPr>
        <p:txBody>
          <a:bodyPr/>
          <a:lstStyle/>
          <a:p>
            <a:endParaRPr lang="en-IN" sz="1400"/>
          </a:p>
        </p:txBody>
      </p:sp>
      <p:sp>
        <p:nvSpPr>
          <p:cNvPr id="39" name="Text 31"/>
          <p:cNvSpPr/>
          <p:nvPr/>
        </p:nvSpPr>
        <p:spPr>
          <a:xfrm>
            <a:off x="3529584" y="4690872"/>
            <a:ext cx="2468880"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Orders &amp; Customers</a:t>
            </a:r>
            <a:endParaRPr lang="en-US" sz="1400" dirty="0"/>
          </a:p>
        </p:txBody>
      </p:sp>
      <p:sp>
        <p:nvSpPr>
          <p:cNvPr id="40" name="Text 32"/>
          <p:cNvSpPr/>
          <p:nvPr/>
        </p:nvSpPr>
        <p:spPr>
          <a:xfrm>
            <a:off x="3529584" y="5120640"/>
            <a:ext cx="2468880" cy="1051560"/>
          </a:xfrm>
          <a:prstGeom prst="rect">
            <a:avLst/>
          </a:prstGeom>
          <a:noFill/>
          <a:ln/>
        </p:spPr>
        <p:txBody>
          <a:bodyPr wrap="square" rtlCol="0" anchor="t"/>
          <a:lstStyle/>
          <a:p>
            <a:pPr marL="0" indent="0">
              <a:lnSpc>
                <a:spcPct val="115000"/>
              </a:lnSpc>
              <a:buNone/>
            </a:pPr>
            <a:r>
              <a:rPr lang="en-US" sz="1400" dirty="0">
                <a:solidFill>
                  <a:srgbClr val="F2F2F2"/>
                </a:solidFill>
                <a:latin typeface="Calibri" pitchFamily="34" charset="0"/>
                <a:ea typeface="Calibri" pitchFamily="34" charset="-122"/>
                <a:cs typeface="Calibri" pitchFamily="34" charset="-120"/>
              </a:rPr>
              <a:t>Total Orders, Total Customers, Unique Customers, At-Risk Customers, Avg Basket Size…</a:t>
            </a:r>
            <a:endParaRPr lang="en-US" sz="1400" dirty="0"/>
          </a:p>
        </p:txBody>
      </p:sp>
      <p:sp>
        <p:nvSpPr>
          <p:cNvPr id="41" name="Shape 33"/>
          <p:cNvSpPr/>
          <p:nvPr/>
        </p:nvSpPr>
        <p:spPr>
          <a:xfrm>
            <a:off x="6236208" y="4572000"/>
            <a:ext cx="2743200" cy="1691640"/>
          </a:xfrm>
          <a:prstGeom prst="roundRect">
            <a:avLst>
              <a:gd name="adj" fmla="val 4324"/>
            </a:avLst>
          </a:prstGeom>
          <a:solidFill>
            <a:srgbClr val="2F3C7E"/>
          </a:solidFill>
          <a:ln/>
        </p:spPr>
        <p:txBody>
          <a:bodyPr/>
          <a:lstStyle/>
          <a:p>
            <a:endParaRPr lang="en-IN" sz="1400"/>
          </a:p>
        </p:txBody>
      </p:sp>
      <p:sp>
        <p:nvSpPr>
          <p:cNvPr id="42" name="Text 34"/>
          <p:cNvSpPr/>
          <p:nvPr/>
        </p:nvSpPr>
        <p:spPr>
          <a:xfrm>
            <a:off x="6373368" y="4690872"/>
            <a:ext cx="2468880"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Product &amp; Returns</a:t>
            </a:r>
            <a:endParaRPr lang="en-US" sz="1400" dirty="0"/>
          </a:p>
        </p:txBody>
      </p:sp>
      <p:sp>
        <p:nvSpPr>
          <p:cNvPr id="43" name="Text 35"/>
          <p:cNvSpPr/>
          <p:nvPr/>
        </p:nvSpPr>
        <p:spPr>
          <a:xfrm>
            <a:off x="6373368" y="5120640"/>
            <a:ext cx="2468880" cy="1051560"/>
          </a:xfrm>
          <a:prstGeom prst="rect">
            <a:avLst/>
          </a:prstGeom>
          <a:noFill/>
          <a:ln/>
        </p:spPr>
        <p:txBody>
          <a:bodyPr wrap="square" rtlCol="0" anchor="t"/>
          <a:lstStyle/>
          <a:p>
            <a:pPr marL="0" indent="0">
              <a:lnSpc>
                <a:spcPct val="115000"/>
              </a:lnSpc>
              <a:buNone/>
            </a:pPr>
            <a:r>
              <a:rPr lang="en-US" sz="1400" dirty="0">
                <a:solidFill>
                  <a:srgbClr val="F2F2F2"/>
                </a:solidFill>
                <a:latin typeface="Calibri" pitchFamily="34" charset="0"/>
                <a:ea typeface="Calibri" pitchFamily="34" charset="-122"/>
                <a:cs typeface="Calibri" pitchFamily="34" charset="-120"/>
              </a:rPr>
              <a:t>Product Sales, Total Units Sold, Product Return Rate %, Refund Amount/Count…</a:t>
            </a:r>
            <a:endParaRPr lang="en-US" sz="1400" dirty="0"/>
          </a:p>
        </p:txBody>
      </p:sp>
      <p:sp>
        <p:nvSpPr>
          <p:cNvPr id="44" name="Shape 36"/>
          <p:cNvSpPr/>
          <p:nvPr/>
        </p:nvSpPr>
        <p:spPr>
          <a:xfrm>
            <a:off x="9079992" y="4572000"/>
            <a:ext cx="2743200" cy="1691640"/>
          </a:xfrm>
          <a:prstGeom prst="roundRect">
            <a:avLst>
              <a:gd name="adj" fmla="val 4324"/>
            </a:avLst>
          </a:prstGeom>
          <a:solidFill>
            <a:srgbClr val="F96167"/>
          </a:solidFill>
          <a:ln/>
        </p:spPr>
        <p:txBody>
          <a:bodyPr/>
          <a:lstStyle/>
          <a:p>
            <a:endParaRPr lang="en-IN" sz="1400"/>
          </a:p>
        </p:txBody>
      </p:sp>
      <p:sp>
        <p:nvSpPr>
          <p:cNvPr id="45" name="Text 37"/>
          <p:cNvSpPr/>
          <p:nvPr/>
        </p:nvSpPr>
        <p:spPr>
          <a:xfrm>
            <a:off x="9217152" y="4690872"/>
            <a:ext cx="2468880"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Website &amp; Sessions</a:t>
            </a:r>
            <a:endParaRPr lang="en-US" sz="1400" dirty="0"/>
          </a:p>
        </p:txBody>
      </p:sp>
      <p:sp>
        <p:nvSpPr>
          <p:cNvPr id="46" name="Text 38"/>
          <p:cNvSpPr/>
          <p:nvPr/>
        </p:nvSpPr>
        <p:spPr>
          <a:xfrm>
            <a:off x="9217152" y="5120640"/>
            <a:ext cx="2468880" cy="1051560"/>
          </a:xfrm>
          <a:prstGeom prst="rect">
            <a:avLst/>
          </a:prstGeom>
          <a:noFill/>
          <a:ln/>
        </p:spPr>
        <p:txBody>
          <a:bodyPr wrap="square" rtlCol="0" anchor="t"/>
          <a:lstStyle/>
          <a:p>
            <a:pPr marL="0" indent="0">
              <a:lnSpc>
                <a:spcPct val="115000"/>
              </a:lnSpc>
              <a:buNone/>
            </a:pPr>
            <a:r>
              <a:rPr lang="en-US" sz="1400" dirty="0">
                <a:solidFill>
                  <a:srgbClr val="F2F2F2"/>
                </a:solidFill>
                <a:latin typeface="Calibri" pitchFamily="34" charset="0"/>
                <a:ea typeface="Calibri" pitchFamily="34" charset="-122"/>
                <a:cs typeface="Calibri" pitchFamily="34" charset="-120"/>
              </a:rPr>
              <a:t>Total Sessions, Total Page Views, Conversion Rate, Avg Pages per Session…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2F3C7E"/>
                </a:solidFill>
                <a:latin typeface="Cambria" pitchFamily="34" charset="0"/>
                <a:ea typeface="Cambria" pitchFamily="34" charset="-122"/>
                <a:cs typeface="Cambria" pitchFamily="34" charset="-120"/>
              </a:rPr>
              <a:t>5. Report Pages — At a Glance</a:t>
            </a:r>
            <a:endParaRPr lang="en-US" sz="3000" dirty="0"/>
          </a:p>
        </p:txBody>
      </p:sp>
      <p:sp>
        <p:nvSpPr>
          <p:cNvPr id="4" name="Shape 2"/>
          <p:cNvSpPr/>
          <p:nvPr/>
        </p:nvSpPr>
        <p:spPr>
          <a:xfrm>
            <a:off x="548640" y="1284816"/>
            <a:ext cx="3566160" cy="1554480"/>
          </a:xfrm>
          <a:prstGeom prst="roundRect">
            <a:avLst>
              <a:gd name="adj" fmla="val 5294"/>
            </a:avLst>
          </a:prstGeom>
          <a:solidFill>
            <a:srgbClr val="F7F7FB"/>
          </a:solidFill>
          <a:ln/>
        </p:spPr>
        <p:txBody>
          <a:bodyPr/>
          <a:lstStyle/>
          <a:p>
            <a:endParaRPr lang="en-IN" sz="1400"/>
          </a:p>
        </p:txBody>
      </p:sp>
      <p:sp>
        <p:nvSpPr>
          <p:cNvPr id="5" name="Shape 3"/>
          <p:cNvSpPr/>
          <p:nvPr/>
        </p:nvSpPr>
        <p:spPr>
          <a:xfrm>
            <a:off x="548640" y="1284816"/>
            <a:ext cx="82296" cy="1554480"/>
          </a:xfrm>
          <a:prstGeom prst="roundRect">
            <a:avLst/>
          </a:prstGeom>
          <a:solidFill>
            <a:srgbClr val="2F3C7E"/>
          </a:solidFill>
          <a:ln/>
        </p:spPr>
        <p:txBody>
          <a:bodyPr/>
          <a:lstStyle/>
          <a:p>
            <a:endParaRPr lang="en-IN" sz="1400"/>
          </a:p>
        </p:txBody>
      </p:sp>
      <p:sp>
        <p:nvSpPr>
          <p:cNvPr id="6" name="Shape 4"/>
          <p:cNvSpPr/>
          <p:nvPr/>
        </p:nvSpPr>
        <p:spPr>
          <a:xfrm>
            <a:off x="804672" y="1485984"/>
            <a:ext cx="548640" cy="548640"/>
          </a:xfrm>
          <a:prstGeom prst="ellipse">
            <a:avLst/>
          </a:prstGeom>
          <a:solidFill>
            <a:srgbClr val="2F3C7E"/>
          </a:solidFill>
          <a:ln/>
        </p:spPr>
        <p:txBody>
          <a:bodyPr/>
          <a:lstStyle/>
          <a:p>
            <a:endParaRPr lang="en-IN" sz="1400"/>
          </a:p>
        </p:txBody>
      </p:sp>
      <p:pic>
        <p:nvPicPr>
          <p:cNvPr id="7" name="Image 0" descr="/home/claude/pptxbuild/icons/chartbar.png"/>
          <p:cNvPicPr>
            <a:picLocks noChangeAspect="1"/>
          </p:cNvPicPr>
          <p:nvPr/>
        </p:nvPicPr>
        <p:blipFill>
          <a:blip r:embed="rId3"/>
          <a:stretch>
            <a:fillRect/>
          </a:stretch>
        </p:blipFill>
        <p:spPr>
          <a:xfrm>
            <a:off x="936346" y="1617658"/>
            <a:ext cx="285293" cy="285293"/>
          </a:xfrm>
          <a:prstGeom prst="rect">
            <a:avLst/>
          </a:prstGeom>
        </p:spPr>
      </p:pic>
      <p:sp>
        <p:nvSpPr>
          <p:cNvPr id="8" name="Text 5"/>
          <p:cNvSpPr/>
          <p:nvPr/>
        </p:nvSpPr>
        <p:spPr>
          <a:xfrm>
            <a:off x="3429000" y="1412832"/>
            <a:ext cx="640080" cy="274320"/>
          </a:xfrm>
          <a:prstGeom prst="rect">
            <a:avLst/>
          </a:prstGeom>
          <a:noFill/>
          <a:ln/>
        </p:spPr>
        <p:txBody>
          <a:bodyPr wrap="square" rtlCol="0" anchor="ctr"/>
          <a:lstStyle/>
          <a:p>
            <a:pPr marL="0" indent="0" algn="r">
              <a:buNone/>
            </a:pPr>
            <a:r>
              <a:rPr lang="en-US" sz="1400" dirty="0">
                <a:solidFill>
                  <a:srgbClr val="6B7280"/>
                </a:solidFill>
                <a:latin typeface="Calibri" pitchFamily="34" charset="0"/>
                <a:ea typeface="Calibri" pitchFamily="34" charset="-122"/>
                <a:cs typeface="Calibri" pitchFamily="34" charset="-120"/>
              </a:rPr>
              <a:t>5.1</a:t>
            </a:r>
            <a:endParaRPr lang="en-US" sz="1400" dirty="0"/>
          </a:p>
        </p:txBody>
      </p:sp>
      <p:sp>
        <p:nvSpPr>
          <p:cNvPr id="9" name="Text 6"/>
          <p:cNvSpPr/>
          <p:nvPr/>
        </p:nvSpPr>
        <p:spPr>
          <a:xfrm>
            <a:off x="804672" y="2107776"/>
            <a:ext cx="3108960" cy="320040"/>
          </a:xfrm>
          <a:prstGeom prst="rect">
            <a:avLst/>
          </a:prstGeom>
          <a:noFill/>
          <a:ln/>
        </p:spPr>
        <p:txBody>
          <a:bodyPr wrap="square"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Executive Summary</a:t>
            </a:r>
            <a:endParaRPr lang="en-US" sz="1400" dirty="0"/>
          </a:p>
        </p:txBody>
      </p:sp>
      <p:sp>
        <p:nvSpPr>
          <p:cNvPr id="10" name="Text 7"/>
          <p:cNvSpPr/>
          <p:nvPr/>
        </p:nvSpPr>
        <p:spPr>
          <a:xfrm>
            <a:off x="804672" y="2400384"/>
            <a:ext cx="3108960" cy="384048"/>
          </a:xfrm>
          <a:prstGeom prst="rect">
            <a:avLst/>
          </a:prstGeom>
          <a:noFill/>
          <a:ln/>
        </p:spPr>
        <p:txBody>
          <a:bodyPr wrap="square" rtlCol="0" anchor="t"/>
          <a:lstStyle/>
          <a:p>
            <a:pPr marL="0" indent="0">
              <a:buNone/>
            </a:pPr>
            <a:r>
              <a:rPr lang="en-US" sz="1400" dirty="0">
                <a:latin typeface="Calibri" pitchFamily="34" charset="0"/>
                <a:ea typeface="Calibri" pitchFamily="34" charset="-122"/>
                <a:cs typeface="Calibri" pitchFamily="34" charset="-120"/>
              </a:rPr>
              <a:t>Company-wide KPI snapshot &amp; cover</a:t>
            </a:r>
            <a:endParaRPr lang="en-US" sz="1400" dirty="0"/>
          </a:p>
        </p:txBody>
      </p:sp>
      <p:sp>
        <p:nvSpPr>
          <p:cNvPr id="11" name="Shape 8"/>
          <p:cNvSpPr/>
          <p:nvPr/>
        </p:nvSpPr>
        <p:spPr>
          <a:xfrm>
            <a:off x="4343400" y="1284816"/>
            <a:ext cx="3566160" cy="1554480"/>
          </a:xfrm>
          <a:prstGeom prst="roundRect">
            <a:avLst>
              <a:gd name="adj" fmla="val 5294"/>
            </a:avLst>
          </a:prstGeom>
          <a:solidFill>
            <a:srgbClr val="F7F7FB"/>
          </a:solidFill>
          <a:ln/>
        </p:spPr>
        <p:txBody>
          <a:bodyPr/>
          <a:lstStyle/>
          <a:p>
            <a:endParaRPr lang="en-IN" sz="1400"/>
          </a:p>
        </p:txBody>
      </p:sp>
      <p:sp>
        <p:nvSpPr>
          <p:cNvPr id="12" name="Shape 9"/>
          <p:cNvSpPr/>
          <p:nvPr/>
        </p:nvSpPr>
        <p:spPr>
          <a:xfrm>
            <a:off x="4343400" y="1284816"/>
            <a:ext cx="82296" cy="1554480"/>
          </a:xfrm>
          <a:prstGeom prst="roundRect">
            <a:avLst/>
          </a:prstGeom>
          <a:solidFill>
            <a:srgbClr val="F96167"/>
          </a:solidFill>
          <a:ln/>
        </p:spPr>
        <p:txBody>
          <a:bodyPr/>
          <a:lstStyle/>
          <a:p>
            <a:endParaRPr lang="en-IN" sz="1400"/>
          </a:p>
        </p:txBody>
      </p:sp>
      <p:sp>
        <p:nvSpPr>
          <p:cNvPr id="13" name="Shape 10"/>
          <p:cNvSpPr/>
          <p:nvPr/>
        </p:nvSpPr>
        <p:spPr>
          <a:xfrm>
            <a:off x="4599432" y="1485984"/>
            <a:ext cx="548640" cy="548640"/>
          </a:xfrm>
          <a:prstGeom prst="ellipse">
            <a:avLst/>
          </a:prstGeom>
          <a:solidFill>
            <a:srgbClr val="F96167"/>
          </a:solidFill>
          <a:ln/>
        </p:spPr>
        <p:txBody>
          <a:bodyPr/>
          <a:lstStyle/>
          <a:p>
            <a:endParaRPr lang="en-IN" sz="1400"/>
          </a:p>
        </p:txBody>
      </p:sp>
      <p:pic>
        <p:nvPicPr>
          <p:cNvPr id="14" name="Image 1" descr="/home/claude/pptxbuild/icons/chartline.png"/>
          <p:cNvPicPr>
            <a:picLocks noChangeAspect="1"/>
          </p:cNvPicPr>
          <p:nvPr/>
        </p:nvPicPr>
        <p:blipFill>
          <a:blip r:embed="rId4"/>
          <a:stretch>
            <a:fillRect/>
          </a:stretch>
        </p:blipFill>
        <p:spPr>
          <a:xfrm>
            <a:off x="4731106" y="1617658"/>
            <a:ext cx="285293" cy="285293"/>
          </a:xfrm>
          <a:prstGeom prst="rect">
            <a:avLst/>
          </a:prstGeom>
        </p:spPr>
      </p:pic>
      <p:sp>
        <p:nvSpPr>
          <p:cNvPr id="15" name="Text 11"/>
          <p:cNvSpPr/>
          <p:nvPr/>
        </p:nvSpPr>
        <p:spPr>
          <a:xfrm>
            <a:off x="7223760" y="1412832"/>
            <a:ext cx="640080" cy="274320"/>
          </a:xfrm>
          <a:prstGeom prst="rect">
            <a:avLst/>
          </a:prstGeom>
          <a:noFill/>
          <a:ln/>
        </p:spPr>
        <p:txBody>
          <a:bodyPr wrap="square" rtlCol="0" anchor="ctr"/>
          <a:lstStyle/>
          <a:p>
            <a:pPr marL="0" indent="0" algn="r">
              <a:buNone/>
            </a:pPr>
            <a:r>
              <a:rPr lang="en-US" sz="1400" dirty="0">
                <a:solidFill>
                  <a:srgbClr val="6B7280"/>
                </a:solidFill>
                <a:latin typeface="Calibri" pitchFamily="34" charset="0"/>
                <a:ea typeface="Calibri" pitchFamily="34" charset="-122"/>
                <a:cs typeface="Calibri" pitchFamily="34" charset="-120"/>
              </a:rPr>
              <a:t>5.2</a:t>
            </a:r>
            <a:endParaRPr lang="en-US" sz="1400" dirty="0"/>
          </a:p>
        </p:txBody>
      </p:sp>
      <p:sp>
        <p:nvSpPr>
          <p:cNvPr id="16" name="Text 12"/>
          <p:cNvSpPr/>
          <p:nvPr/>
        </p:nvSpPr>
        <p:spPr>
          <a:xfrm>
            <a:off x="4599432" y="2107776"/>
            <a:ext cx="3108960" cy="320040"/>
          </a:xfrm>
          <a:prstGeom prst="rect">
            <a:avLst/>
          </a:prstGeom>
          <a:noFill/>
          <a:ln/>
        </p:spPr>
        <p:txBody>
          <a:bodyPr wrap="square"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Strategic Takeaways</a:t>
            </a:r>
            <a:endParaRPr lang="en-US" sz="1400" dirty="0"/>
          </a:p>
        </p:txBody>
      </p:sp>
      <p:sp>
        <p:nvSpPr>
          <p:cNvPr id="17" name="Text 13"/>
          <p:cNvSpPr/>
          <p:nvPr/>
        </p:nvSpPr>
        <p:spPr>
          <a:xfrm>
            <a:off x="4599432" y="2400384"/>
            <a:ext cx="3108960" cy="384048"/>
          </a:xfrm>
          <a:prstGeom prst="rect">
            <a:avLst/>
          </a:prstGeom>
          <a:noFill/>
          <a:ln/>
        </p:spPr>
        <p:txBody>
          <a:bodyPr wrap="square" rtlCol="0" anchor="t"/>
          <a:lstStyle/>
          <a:p>
            <a:pPr marL="0" indent="0">
              <a:buNone/>
            </a:pPr>
            <a:r>
              <a:rPr lang="en-US" sz="1400" dirty="0">
                <a:latin typeface="Calibri" pitchFamily="34" charset="0"/>
                <a:ea typeface="Calibri" pitchFamily="34" charset="-122"/>
                <a:cs typeface="Calibri" pitchFamily="34" charset="-120"/>
              </a:rPr>
              <a:t>Revenue trend + traffic-source view</a:t>
            </a:r>
            <a:endParaRPr lang="en-US" sz="1400" dirty="0"/>
          </a:p>
        </p:txBody>
      </p:sp>
      <p:sp>
        <p:nvSpPr>
          <p:cNvPr id="18" name="Shape 14"/>
          <p:cNvSpPr/>
          <p:nvPr/>
        </p:nvSpPr>
        <p:spPr>
          <a:xfrm>
            <a:off x="8138160" y="1284816"/>
            <a:ext cx="3566160" cy="1554480"/>
          </a:xfrm>
          <a:prstGeom prst="roundRect">
            <a:avLst>
              <a:gd name="adj" fmla="val 5294"/>
            </a:avLst>
          </a:prstGeom>
          <a:solidFill>
            <a:srgbClr val="F7F7FB"/>
          </a:solidFill>
          <a:ln/>
        </p:spPr>
        <p:txBody>
          <a:bodyPr/>
          <a:lstStyle/>
          <a:p>
            <a:endParaRPr lang="en-IN" sz="1400"/>
          </a:p>
        </p:txBody>
      </p:sp>
      <p:sp>
        <p:nvSpPr>
          <p:cNvPr id="19" name="Shape 15"/>
          <p:cNvSpPr/>
          <p:nvPr/>
        </p:nvSpPr>
        <p:spPr>
          <a:xfrm>
            <a:off x="8138160" y="1284816"/>
            <a:ext cx="82296" cy="1554480"/>
          </a:xfrm>
          <a:prstGeom prst="roundRect">
            <a:avLst/>
          </a:prstGeom>
          <a:solidFill>
            <a:srgbClr val="2F3C7E"/>
          </a:solidFill>
          <a:ln/>
        </p:spPr>
        <p:txBody>
          <a:bodyPr/>
          <a:lstStyle/>
          <a:p>
            <a:endParaRPr lang="en-IN" sz="1400"/>
          </a:p>
        </p:txBody>
      </p:sp>
      <p:sp>
        <p:nvSpPr>
          <p:cNvPr id="20" name="Shape 16"/>
          <p:cNvSpPr/>
          <p:nvPr/>
        </p:nvSpPr>
        <p:spPr>
          <a:xfrm>
            <a:off x="8394192" y="1485984"/>
            <a:ext cx="548640" cy="548640"/>
          </a:xfrm>
          <a:prstGeom prst="ellipse">
            <a:avLst/>
          </a:prstGeom>
          <a:solidFill>
            <a:srgbClr val="2F3C7E"/>
          </a:solidFill>
          <a:ln/>
        </p:spPr>
        <p:txBody>
          <a:bodyPr/>
          <a:lstStyle/>
          <a:p>
            <a:endParaRPr lang="en-IN" sz="1400"/>
          </a:p>
        </p:txBody>
      </p:sp>
      <p:pic>
        <p:nvPicPr>
          <p:cNvPr id="21" name="Image 2" descr="/home/claude/pptxbuild/icons/tags.png"/>
          <p:cNvPicPr>
            <a:picLocks noChangeAspect="1"/>
          </p:cNvPicPr>
          <p:nvPr/>
        </p:nvPicPr>
        <p:blipFill>
          <a:blip r:embed="rId5"/>
          <a:stretch>
            <a:fillRect/>
          </a:stretch>
        </p:blipFill>
        <p:spPr>
          <a:xfrm>
            <a:off x="8525866" y="1617658"/>
            <a:ext cx="285293" cy="285293"/>
          </a:xfrm>
          <a:prstGeom prst="rect">
            <a:avLst/>
          </a:prstGeom>
        </p:spPr>
      </p:pic>
      <p:sp>
        <p:nvSpPr>
          <p:cNvPr id="22" name="Text 17"/>
          <p:cNvSpPr/>
          <p:nvPr/>
        </p:nvSpPr>
        <p:spPr>
          <a:xfrm>
            <a:off x="11018520" y="1412832"/>
            <a:ext cx="640080" cy="274320"/>
          </a:xfrm>
          <a:prstGeom prst="rect">
            <a:avLst/>
          </a:prstGeom>
          <a:noFill/>
          <a:ln/>
        </p:spPr>
        <p:txBody>
          <a:bodyPr wrap="square" rtlCol="0" anchor="ctr"/>
          <a:lstStyle/>
          <a:p>
            <a:pPr marL="0" indent="0" algn="r">
              <a:buNone/>
            </a:pPr>
            <a:r>
              <a:rPr lang="en-US" sz="1400" dirty="0">
                <a:solidFill>
                  <a:srgbClr val="6B7280"/>
                </a:solidFill>
                <a:latin typeface="Calibri" pitchFamily="34" charset="0"/>
                <a:ea typeface="Calibri" pitchFamily="34" charset="-122"/>
                <a:cs typeface="Calibri" pitchFamily="34" charset="-120"/>
              </a:rPr>
              <a:t>5.3</a:t>
            </a:r>
            <a:endParaRPr lang="en-US" sz="1400" dirty="0"/>
          </a:p>
        </p:txBody>
      </p:sp>
      <p:sp>
        <p:nvSpPr>
          <p:cNvPr id="23" name="Text 18"/>
          <p:cNvSpPr/>
          <p:nvPr/>
        </p:nvSpPr>
        <p:spPr>
          <a:xfrm>
            <a:off x="8394192" y="2107776"/>
            <a:ext cx="3108960" cy="320040"/>
          </a:xfrm>
          <a:prstGeom prst="rect">
            <a:avLst/>
          </a:prstGeom>
          <a:noFill/>
          <a:ln/>
        </p:spPr>
        <p:txBody>
          <a:bodyPr wrap="square"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Product Analysis</a:t>
            </a:r>
            <a:endParaRPr lang="en-US" sz="1400" dirty="0"/>
          </a:p>
        </p:txBody>
      </p:sp>
      <p:sp>
        <p:nvSpPr>
          <p:cNvPr id="24" name="Text 19"/>
          <p:cNvSpPr/>
          <p:nvPr/>
        </p:nvSpPr>
        <p:spPr>
          <a:xfrm>
            <a:off x="8394192" y="2400384"/>
            <a:ext cx="3108960" cy="384048"/>
          </a:xfrm>
          <a:prstGeom prst="rect">
            <a:avLst/>
          </a:prstGeom>
          <a:noFill/>
          <a:ln/>
        </p:spPr>
        <p:txBody>
          <a:bodyPr wrap="square" rtlCol="0" anchor="t"/>
          <a:lstStyle/>
          <a:p>
            <a:pPr marL="0" indent="0">
              <a:buNone/>
            </a:pPr>
            <a:r>
              <a:rPr lang="en-US" sz="1400" dirty="0">
                <a:latin typeface="Calibri" pitchFamily="34" charset="0"/>
                <a:ea typeface="Calibri" pitchFamily="34" charset="-122"/>
                <a:cs typeface="Calibri" pitchFamily="34" charset="-120"/>
              </a:rPr>
              <a:t>Top products, returns &amp; profitability</a:t>
            </a:r>
            <a:endParaRPr lang="en-US" sz="1400" dirty="0"/>
          </a:p>
        </p:txBody>
      </p:sp>
      <p:sp>
        <p:nvSpPr>
          <p:cNvPr id="25" name="Shape 20"/>
          <p:cNvSpPr/>
          <p:nvPr/>
        </p:nvSpPr>
        <p:spPr>
          <a:xfrm>
            <a:off x="548640" y="3067896"/>
            <a:ext cx="3566160" cy="1554480"/>
          </a:xfrm>
          <a:prstGeom prst="roundRect">
            <a:avLst>
              <a:gd name="adj" fmla="val 5294"/>
            </a:avLst>
          </a:prstGeom>
          <a:solidFill>
            <a:srgbClr val="F7F7FB"/>
          </a:solidFill>
          <a:ln/>
        </p:spPr>
        <p:txBody>
          <a:bodyPr/>
          <a:lstStyle/>
          <a:p>
            <a:endParaRPr lang="en-IN" sz="1400"/>
          </a:p>
        </p:txBody>
      </p:sp>
      <p:sp>
        <p:nvSpPr>
          <p:cNvPr id="26" name="Shape 21"/>
          <p:cNvSpPr/>
          <p:nvPr/>
        </p:nvSpPr>
        <p:spPr>
          <a:xfrm>
            <a:off x="548640" y="3067896"/>
            <a:ext cx="82296" cy="1554480"/>
          </a:xfrm>
          <a:prstGeom prst="roundRect">
            <a:avLst/>
          </a:prstGeom>
          <a:solidFill>
            <a:srgbClr val="F96167"/>
          </a:solidFill>
          <a:ln/>
        </p:spPr>
        <p:txBody>
          <a:bodyPr/>
          <a:lstStyle/>
          <a:p>
            <a:endParaRPr lang="en-IN" sz="1400"/>
          </a:p>
        </p:txBody>
      </p:sp>
      <p:sp>
        <p:nvSpPr>
          <p:cNvPr id="27" name="Shape 22"/>
          <p:cNvSpPr/>
          <p:nvPr/>
        </p:nvSpPr>
        <p:spPr>
          <a:xfrm>
            <a:off x="804672" y="3269064"/>
            <a:ext cx="548640" cy="548640"/>
          </a:xfrm>
          <a:prstGeom prst="ellipse">
            <a:avLst/>
          </a:prstGeom>
          <a:solidFill>
            <a:srgbClr val="F96167"/>
          </a:solidFill>
          <a:ln/>
        </p:spPr>
        <p:txBody>
          <a:bodyPr/>
          <a:lstStyle/>
          <a:p>
            <a:endParaRPr lang="en-IN" sz="1400"/>
          </a:p>
        </p:txBody>
      </p:sp>
      <p:sp>
        <p:nvSpPr>
          <p:cNvPr id="29" name="Text 23"/>
          <p:cNvSpPr/>
          <p:nvPr/>
        </p:nvSpPr>
        <p:spPr>
          <a:xfrm>
            <a:off x="3429000" y="3195912"/>
            <a:ext cx="640080" cy="274320"/>
          </a:xfrm>
          <a:prstGeom prst="rect">
            <a:avLst/>
          </a:prstGeom>
          <a:noFill/>
          <a:ln/>
        </p:spPr>
        <p:txBody>
          <a:bodyPr wrap="square" rtlCol="0" anchor="ctr"/>
          <a:lstStyle/>
          <a:p>
            <a:pPr marL="0" indent="0" algn="r">
              <a:buNone/>
            </a:pPr>
            <a:r>
              <a:rPr lang="en-US" sz="1400" dirty="0">
                <a:solidFill>
                  <a:srgbClr val="6B7280"/>
                </a:solidFill>
                <a:latin typeface="Calibri" pitchFamily="34" charset="0"/>
                <a:ea typeface="Calibri" pitchFamily="34" charset="-122"/>
                <a:cs typeface="Calibri" pitchFamily="34" charset="-120"/>
              </a:rPr>
              <a:t>5.4</a:t>
            </a:r>
            <a:endParaRPr lang="en-US" sz="1400" dirty="0"/>
          </a:p>
        </p:txBody>
      </p:sp>
      <p:sp>
        <p:nvSpPr>
          <p:cNvPr id="30" name="Text 24"/>
          <p:cNvSpPr/>
          <p:nvPr/>
        </p:nvSpPr>
        <p:spPr>
          <a:xfrm>
            <a:off x="804672" y="3890856"/>
            <a:ext cx="3108960" cy="320040"/>
          </a:xfrm>
          <a:prstGeom prst="rect">
            <a:avLst/>
          </a:prstGeom>
          <a:noFill/>
          <a:ln/>
        </p:spPr>
        <p:txBody>
          <a:bodyPr wrap="square"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Customer Behaviour</a:t>
            </a:r>
            <a:endParaRPr lang="en-US" sz="1400" dirty="0"/>
          </a:p>
        </p:txBody>
      </p:sp>
      <p:sp>
        <p:nvSpPr>
          <p:cNvPr id="31" name="Text 25"/>
          <p:cNvSpPr/>
          <p:nvPr/>
        </p:nvSpPr>
        <p:spPr>
          <a:xfrm>
            <a:off x="804672" y="4183464"/>
            <a:ext cx="3108960" cy="384048"/>
          </a:xfrm>
          <a:prstGeom prst="rect">
            <a:avLst/>
          </a:prstGeom>
          <a:noFill/>
          <a:ln/>
        </p:spPr>
        <p:txBody>
          <a:bodyPr wrap="square" rtlCol="0" anchor="t"/>
          <a:lstStyle/>
          <a:p>
            <a:pPr marL="0" indent="0">
              <a:buNone/>
            </a:pPr>
            <a:r>
              <a:rPr lang="en-US" sz="1400" dirty="0">
                <a:latin typeface="Calibri" pitchFamily="34" charset="0"/>
                <a:ea typeface="Calibri" pitchFamily="34" charset="-122"/>
                <a:cs typeface="Calibri" pitchFamily="34" charset="-120"/>
              </a:rPr>
              <a:t>Segments, basket size, repeat share</a:t>
            </a:r>
            <a:endParaRPr lang="en-US" sz="1400" dirty="0"/>
          </a:p>
        </p:txBody>
      </p:sp>
      <p:sp>
        <p:nvSpPr>
          <p:cNvPr id="32" name="Shape 26"/>
          <p:cNvSpPr/>
          <p:nvPr/>
        </p:nvSpPr>
        <p:spPr>
          <a:xfrm>
            <a:off x="4343400" y="3067896"/>
            <a:ext cx="3566160" cy="1554480"/>
          </a:xfrm>
          <a:prstGeom prst="roundRect">
            <a:avLst>
              <a:gd name="adj" fmla="val 5294"/>
            </a:avLst>
          </a:prstGeom>
          <a:noFill/>
          <a:ln/>
        </p:spPr>
        <p:txBody>
          <a:bodyPr wrap="square" rtlCol="0" anchor="t"/>
          <a:lstStyle/>
          <a:p>
            <a:endParaRPr lang="en-IN" sz="1400">
              <a:latin typeface="Calibri" pitchFamily="34" charset="0"/>
              <a:ea typeface="Calibri" pitchFamily="34" charset="-122"/>
              <a:cs typeface="Calibri" pitchFamily="34" charset="-120"/>
            </a:endParaRPr>
          </a:p>
        </p:txBody>
      </p:sp>
      <p:sp>
        <p:nvSpPr>
          <p:cNvPr id="33" name="Shape 27"/>
          <p:cNvSpPr/>
          <p:nvPr/>
        </p:nvSpPr>
        <p:spPr>
          <a:xfrm>
            <a:off x="4343400" y="3067896"/>
            <a:ext cx="82296" cy="1554480"/>
          </a:xfrm>
          <a:prstGeom prst="roundRect">
            <a:avLst/>
          </a:prstGeom>
          <a:solidFill>
            <a:srgbClr val="2F3C7E"/>
          </a:solidFill>
          <a:ln/>
        </p:spPr>
        <p:txBody>
          <a:bodyPr/>
          <a:lstStyle/>
          <a:p>
            <a:endParaRPr lang="en-IN" sz="1400"/>
          </a:p>
        </p:txBody>
      </p:sp>
      <p:sp>
        <p:nvSpPr>
          <p:cNvPr id="34" name="Shape 28"/>
          <p:cNvSpPr/>
          <p:nvPr/>
        </p:nvSpPr>
        <p:spPr>
          <a:xfrm>
            <a:off x="4599432" y="3269064"/>
            <a:ext cx="548640" cy="548640"/>
          </a:xfrm>
          <a:prstGeom prst="ellipse">
            <a:avLst/>
          </a:prstGeom>
          <a:solidFill>
            <a:srgbClr val="2F3C7E"/>
          </a:solidFill>
          <a:ln/>
        </p:spPr>
        <p:txBody>
          <a:bodyPr/>
          <a:lstStyle/>
          <a:p>
            <a:endParaRPr lang="en-IN" sz="1400"/>
          </a:p>
        </p:txBody>
      </p:sp>
      <p:pic>
        <p:nvPicPr>
          <p:cNvPr id="35" name="Image 4" descr="/home/claude/pptxbuild/icons/clipboard.png"/>
          <p:cNvPicPr>
            <a:picLocks noChangeAspect="1"/>
          </p:cNvPicPr>
          <p:nvPr/>
        </p:nvPicPr>
        <p:blipFill>
          <a:blip r:embed="rId6"/>
          <a:stretch>
            <a:fillRect/>
          </a:stretch>
        </p:blipFill>
        <p:spPr>
          <a:xfrm>
            <a:off x="4731106" y="3400738"/>
            <a:ext cx="285293" cy="285293"/>
          </a:xfrm>
          <a:prstGeom prst="rect">
            <a:avLst/>
          </a:prstGeom>
        </p:spPr>
      </p:pic>
      <p:sp>
        <p:nvSpPr>
          <p:cNvPr id="36" name="Text 29"/>
          <p:cNvSpPr/>
          <p:nvPr/>
        </p:nvSpPr>
        <p:spPr>
          <a:xfrm>
            <a:off x="7223760" y="3195912"/>
            <a:ext cx="640080" cy="274320"/>
          </a:xfrm>
          <a:prstGeom prst="rect">
            <a:avLst/>
          </a:prstGeom>
          <a:noFill/>
          <a:ln/>
        </p:spPr>
        <p:txBody>
          <a:bodyPr wrap="square" rtlCol="0" anchor="ctr"/>
          <a:lstStyle/>
          <a:p>
            <a:pPr marL="0" indent="0" algn="r">
              <a:buNone/>
            </a:pPr>
            <a:r>
              <a:rPr lang="en-US" sz="1400" dirty="0">
                <a:solidFill>
                  <a:srgbClr val="6B7280"/>
                </a:solidFill>
                <a:latin typeface="Calibri" pitchFamily="34" charset="0"/>
                <a:ea typeface="Calibri" pitchFamily="34" charset="-122"/>
                <a:cs typeface="Calibri" pitchFamily="34" charset="-120"/>
              </a:rPr>
              <a:t>5.5</a:t>
            </a:r>
            <a:endParaRPr lang="en-US" sz="1400" dirty="0"/>
          </a:p>
        </p:txBody>
      </p:sp>
      <p:sp>
        <p:nvSpPr>
          <p:cNvPr id="37" name="Text 30"/>
          <p:cNvSpPr/>
          <p:nvPr/>
        </p:nvSpPr>
        <p:spPr>
          <a:xfrm>
            <a:off x="4599432" y="3890856"/>
            <a:ext cx="3108960" cy="320040"/>
          </a:xfrm>
          <a:prstGeom prst="rect">
            <a:avLst/>
          </a:prstGeom>
          <a:noFill/>
          <a:ln/>
        </p:spPr>
        <p:txBody>
          <a:bodyPr wrap="square"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Transaction Analytics</a:t>
            </a:r>
            <a:endParaRPr lang="en-US" sz="1400" dirty="0"/>
          </a:p>
        </p:txBody>
      </p:sp>
      <p:sp>
        <p:nvSpPr>
          <p:cNvPr id="38" name="Text 31"/>
          <p:cNvSpPr/>
          <p:nvPr/>
        </p:nvSpPr>
        <p:spPr>
          <a:xfrm>
            <a:off x="4599432" y="4183464"/>
            <a:ext cx="3108960" cy="384048"/>
          </a:xfrm>
          <a:prstGeom prst="rect">
            <a:avLst/>
          </a:prstGeom>
          <a:noFill/>
          <a:ln/>
        </p:spPr>
        <p:txBody>
          <a:bodyPr wrap="square" rtlCol="0" anchor="t"/>
          <a:lstStyle/>
          <a:p>
            <a:pPr marL="0" indent="0">
              <a:buNone/>
            </a:pPr>
            <a:r>
              <a:rPr lang="en-US" sz="1400" dirty="0">
                <a:latin typeface="Calibri" pitchFamily="34" charset="0"/>
                <a:ea typeface="Calibri" pitchFamily="34" charset="-122"/>
                <a:cs typeface="Calibri" pitchFamily="34" charset="-120"/>
              </a:rPr>
              <a:t>Order-level trends &amp; rolling averages</a:t>
            </a:r>
            <a:endParaRPr lang="en-US" sz="1400" dirty="0"/>
          </a:p>
        </p:txBody>
      </p:sp>
      <p:sp>
        <p:nvSpPr>
          <p:cNvPr id="39" name="Shape 32"/>
          <p:cNvSpPr/>
          <p:nvPr/>
        </p:nvSpPr>
        <p:spPr>
          <a:xfrm>
            <a:off x="8138160" y="3067896"/>
            <a:ext cx="3566160" cy="1554480"/>
          </a:xfrm>
          <a:prstGeom prst="roundRect">
            <a:avLst>
              <a:gd name="adj" fmla="val 5294"/>
            </a:avLst>
          </a:prstGeom>
          <a:solidFill>
            <a:srgbClr val="F7F7FB"/>
          </a:solidFill>
          <a:ln/>
        </p:spPr>
        <p:txBody>
          <a:bodyPr/>
          <a:lstStyle/>
          <a:p>
            <a:endParaRPr lang="en-IN" sz="1400"/>
          </a:p>
        </p:txBody>
      </p:sp>
      <p:sp>
        <p:nvSpPr>
          <p:cNvPr id="40" name="Shape 33"/>
          <p:cNvSpPr/>
          <p:nvPr/>
        </p:nvSpPr>
        <p:spPr>
          <a:xfrm>
            <a:off x="8138160" y="3067896"/>
            <a:ext cx="82296" cy="1554480"/>
          </a:xfrm>
          <a:prstGeom prst="roundRect">
            <a:avLst/>
          </a:prstGeom>
          <a:solidFill>
            <a:srgbClr val="F96167"/>
          </a:solidFill>
          <a:ln/>
        </p:spPr>
        <p:txBody>
          <a:bodyPr/>
          <a:lstStyle/>
          <a:p>
            <a:endParaRPr lang="en-IN" sz="1400"/>
          </a:p>
        </p:txBody>
      </p:sp>
      <p:sp>
        <p:nvSpPr>
          <p:cNvPr id="41" name="Shape 34"/>
          <p:cNvSpPr/>
          <p:nvPr/>
        </p:nvSpPr>
        <p:spPr>
          <a:xfrm>
            <a:off x="8394192" y="3269064"/>
            <a:ext cx="548640" cy="548640"/>
          </a:xfrm>
          <a:prstGeom prst="ellipse">
            <a:avLst/>
          </a:prstGeom>
          <a:solidFill>
            <a:srgbClr val="F96167"/>
          </a:solidFill>
          <a:ln/>
        </p:spPr>
        <p:txBody>
          <a:bodyPr/>
          <a:lstStyle/>
          <a:p>
            <a:endParaRPr lang="en-IN" sz="1400"/>
          </a:p>
        </p:txBody>
      </p:sp>
      <p:pic>
        <p:nvPicPr>
          <p:cNvPr id="42" name="Image 5" descr="/home/claude/pptxbuild/icons/box.png"/>
          <p:cNvPicPr>
            <a:picLocks noChangeAspect="1"/>
          </p:cNvPicPr>
          <p:nvPr/>
        </p:nvPicPr>
        <p:blipFill>
          <a:blip r:embed="rId7"/>
          <a:stretch>
            <a:fillRect/>
          </a:stretch>
        </p:blipFill>
        <p:spPr>
          <a:xfrm>
            <a:off x="8525866" y="3400738"/>
            <a:ext cx="285293" cy="285293"/>
          </a:xfrm>
          <a:prstGeom prst="rect">
            <a:avLst/>
          </a:prstGeom>
        </p:spPr>
      </p:pic>
      <p:sp>
        <p:nvSpPr>
          <p:cNvPr id="43" name="Text 35"/>
          <p:cNvSpPr/>
          <p:nvPr/>
        </p:nvSpPr>
        <p:spPr>
          <a:xfrm>
            <a:off x="11018520" y="3195912"/>
            <a:ext cx="640080" cy="274320"/>
          </a:xfrm>
          <a:prstGeom prst="rect">
            <a:avLst/>
          </a:prstGeom>
          <a:noFill/>
          <a:ln/>
        </p:spPr>
        <p:txBody>
          <a:bodyPr wrap="square" rtlCol="0" anchor="ctr"/>
          <a:lstStyle/>
          <a:p>
            <a:pPr marL="0" indent="0" algn="r">
              <a:buNone/>
            </a:pPr>
            <a:r>
              <a:rPr lang="en-US" sz="1400" dirty="0">
                <a:solidFill>
                  <a:srgbClr val="6B7280"/>
                </a:solidFill>
                <a:latin typeface="Calibri" pitchFamily="34" charset="0"/>
                <a:ea typeface="Calibri" pitchFamily="34" charset="-122"/>
                <a:cs typeface="Calibri" pitchFamily="34" charset="-120"/>
              </a:rPr>
              <a:t>5.6</a:t>
            </a:r>
            <a:endParaRPr lang="en-US" sz="1400" dirty="0"/>
          </a:p>
        </p:txBody>
      </p:sp>
      <p:sp>
        <p:nvSpPr>
          <p:cNvPr id="44" name="Text 36"/>
          <p:cNvSpPr/>
          <p:nvPr/>
        </p:nvSpPr>
        <p:spPr>
          <a:xfrm>
            <a:off x="8394192" y="3890856"/>
            <a:ext cx="3108960" cy="320040"/>
          </a:xfrm>
          <a:prstGeom prst="rect">
            <a:avLst/>
          </a:prstGeom>
          <a:noFill/>
          <a:ln/>
        </p:spPr>
        <p:txBody>
          <a:bodyPr wrap="square"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Inventory Analysis</a:t>
            </a:r>
            <a:endParaRPr lang="en-US" sz="1400" dirty="0"/>
          </a:p>
        </p:txBody>
      </p:sp>
      <p:sp>
        <p:nvSpPr>
          <p:cNvPr id="45" name="Text 37"/>
          <p:cNvSpPr/>
          <p:nvPr/>
        </p:nvSpPr>
        <p:spPr>
          <a:xfrm>
            <a:off x="8394192" y="4183464"/>
            <a:ext cx="3108960" cy="384048"/>
          </a:xfrm>
          <a:prstGeom prst="rect">
            <a:avLst/>
          </a:prstGeom>
          <a:noFill/>
          <a:ln/>
        </p:spPr>
        <p:txBody>
          <a:bodyPr wrap="square" rtlCol="0" anchor="t"/>
          <a:lstStyle/>
          <a:p>
            <a:pPr marL="0" indent="0">
              <a:buNone/>
            </a:pPr>
            <a:r>
              <a:rPr lang="en-US" sz="1400" dirty="0">
                <a:latin typeface="Calibri" pitchFamily="34" charset="0"/>
                <a:ea typeface="Calibri" pitchFamily="34" charset="-122"/>
                <a:cs typeface="Calibri" pitchFamily="34" charset="-120"/>
              </a:rPr>
              <a:t>Units sold, funnel, return rate</a:t>
            </a:r>
            <a:endParaRPr lang="en-US" sz="1400" dirty="0"/>
          </a:p>
        </p:txBody>
      </p:sp>
      <p:sp>
        <p:nvSpPr>
          <p:cNvPr id="46" name="Shape 38"/>
          <p:cNvSpPr/>
          <p:nvPr/>
        </p:nvSpPr>
        <p:spPr>
          <a:xfrm>
            <a:off x="548640" y="4850976"/>
            <a:ext cx="3566160" cy="1554480"/>
          </a:xfrm>
          <a:prstGeom prst="roundRect">
            <a:avLst>
              <a:gd name="adj" fmla="val 5294"/>
            </a:avLst>
          </a:prstGeom>
          <a:solidFill>
            <a:srgbClr val="F7F7FB"/>
          </a:solidFill>
          <a:ln/>
        </p:spPr>
        <p:txBody>
          <a:bodyPr/>
          <a:lstStyle/>
          <a:p>
            <a:endParaRPr lang="en-IN" sz="1400"/>
          </a:p>
        </p:txBody>
      </p:sp>
      <p:sp>
        <p:nvSpPr>
          <p:cNvPr id="47" name="Shape 39"/>
          <p:cNvSpPr/>
          <p:nvPr/>
        </p:nvSpPr>
        <p:spPr>
          <a:xfrm>
            <a:off x="548640" y="4850976"/>
            <a:ext cx="82296" cy="1554480"/>
          </a:xfrm>
          <a:prstGeom prst="roundRect">
            <a:avLst/>
          </a:prstGeom>
          <a:solidFill>
            <a:srgbClr val="2F3C7E"/>
          </a:solidFill>
          <a:ln/>
        </p:spPr>
        <p:txBody>
          <a:bodyPr/>
          <a:lstStyle/>
          <a:p>
            <a:endParaRPr lang="en-IN" sz="1400"/>
          </a:p>
        </p:txBody>
      </p:sp>
      <p:sp>
        <p:nvSpPr>
          <p:cNvPr id="48" name="Shape 40"/>
          <p:cNvSpPr/>
          <p:nvPr/>
        </p:nvSpPr>
        <p:spPr>
          <a:xfrm>
            <a:off x="804672" y="5052144"/>
            <a:ext cx="548640" cy="548640"/>
          </a:xfrm>
          <a:prstGeom prst="ellipse">
            <a:avLst/>
          </a:prstGeom>
          <a:solidFill>
            <a:srgbClr val="2F3C7E"/>
          </a:solidFill>
          <a:ln/>
        </p:spPr>
        <p:txBody>
          <a:bodyPr/>
          <a:lstStyle/>
          <a:p>
            <a:endParaRPr lang="en-IN" sz="1400"/>
          </a:p>
        </p:txBody>
      </p:sp>
      <p:pic>
        <p:nvPicPr>
          <p:cNvPr id="49" name="Image 6" descr="/home/claude/pptxbuild/icons/globe.png"/>
          <p:cNvPicPr>
            <a:picLocks noChangeAspect="1"/>
          </p:cNvPicPr>
          <p:nvPr/>
        </p:nvPicPr>
        <p:blipFill>
          <a:blip r:embed="rId8"/>
          <a:stretch>
            <a:fillRect/>
          </a:stretch>
        </p:blipFill>
        <p:spPr>
          <a:xfrm>
            <a:off x="936346" y="5183818"/>
            <a:ext cx="285293" cy="285293"/>
          </a:xfrm>
          <a:prstGeom prst="rect">
            <a:avLst/>
          </a:prstGeom>
        </p:spPr>
      </p:pic>
      <p:sp>
        <p:nvSpPr>
          <p:cNvPr id="50" name="Text 41"/>
          <p:cNvSpPr/>
          <p:nvPr/>
        </p:nvSpPr>
        <p:spPr>
          <a:xfrm>
            <a:off x="3429000" y="4978992"/>
            <a:ext cx="640080" cy="274320"/>
          </a:xfrm>
          <a:prstGeom prst="rect">
            <a:avLst/>
          </a:prstGeom>
          <a:noFill/>
          <a:ln/>
        </p:spPr>
        <p:txBody>
          <a:bodyPr wrap="square" rtlCol="0" anchor="ctr"/>
          <a:lstStyle/>
          <a:p>
            <a:pPr marL="0" indent="0" algn="r">
              <a:buNone/>
            </a:pPr>
            <a:r>
              <a:rPr lang="en-US" sz="1400" dirty="0">
                <a:solidFill>
                  <a:srgbClr val="6B7280"/>
                </a:solidFill>
                <a:latin typeface="Calibri" pitchFamily="34" charset="0"/>
                <a:ea typeface="Calibri" pitchFamily="34" charset="-122"/>
                <a:cs typeface="Calibri" pitchFamily="34" charset="-120"/>
              </a:rPr>
              <a:t>5.7</a:t>
            </a:r>
            <a:endParaRPr lang="en-US" sz="1400" dirty="0"/>
          </a:p>
        </p:txBody>
      </p:sp>
      <p:sp>
        <p:nvSpPr>
          <p:cNvPr id="51" name="Text 42"/>
          <p:cNvSpPr/>
          <p:nvPr/>
        </p:nvSpPr>
        <p:spPr>
          <a:xfrm>
            <a:off x="804672" y="5673936"/>
            <a:ext cx="3108960" cy="320040"/>
          </a:xfrm>
          <a:prstGeom prst="rect">
            <a:avLst/>
          </a:prstGeom>
          <a:noFill/>
          <a:ln/>
        </p:spPr>
        <p:txBody>
          <a:bodyPr wrap="square"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Website Session</a:t>
            </a:r>
            <a:endParaRPr lang="en-US" sz="1400" dirty="0"/>
          </a:p>
        </p:txBody>
      </p:sp>
      <p:sp>
        <p:nvSpPr>
          <p:cNvPr id="52" name="Text 43"/>
          <p:cNvSpPr/>
          <p:nvPr/>
        </p:nvSpPr>
        <p:spPr>
          <a:xfrm>
            <a:off x="804672" y="5966544"/>
            <a:ext cx="3108960" cy="384048"/>
          </a:xfrm>
          <a:prstGeom prst="rect">
            <a:avLst/>
          </a:prstGeom>
          <a:noFill/>
          <a:ln/>
        </p:spPr>
        <p:txBody>
          <a:bodyPr wrap="square" rtlCol="0" anchor="t"/>
          <a:lstStyle/>
          <a:p>
            <a:pPr marL="0" indent="0">
              <a:buNone/>
            </a:pPr>
            <a:r>
              <a:rPr lang="en-US" sz="1400" dirty="0">
                <a:latin typeface="Calibri" pitchFamily="34" charset="0"/>
                <a:ea typeface="Calibri" pitchFamily="34" charset="-122"/>
                <a:cs typeface="Calibri" pitchFamily="34" charset="-120"/>
              </a:rPr>
              <a:t>Sessions, conversion, pages/session</a:t>
            </a:r>
            <a:endParaRPr lang="en-US" sz="1400" dirty="0"/>
          </a:p>
        </p:txBody>
      </p:sp>
      <p:pic>
        <p:nvPicPr>
          <p:cNvPr id="56" name="Graphic 55" descr="Users with solid fill">
            <a:extLst>
              <a:ext uri="{FF2B5EF4-FFF2-40B4-BE49-F238E27FC236}">
                <a16:creationId xmlns:a16="http://schemas.microsoft.com/office/drawing/2014/main" id="{EFB309E8-24F7-B562-1E85-E360E8E12CA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93699" y="3247118"/>
            <a:ext cx="570586" cy="5705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F3C7E"/>
          </a:solidFill>
          <a:ln/>
        </p:spPr>
        <p:txBody>
          <a:bodyPr/>
          <a:lstStyle/>
          <a:p>
            <a:endParaRPr lang="en-IN"/>
          </a:p>
        </p:txBody>
      </p:sp>
      <p:sp>
        <p:nvSpPr>
          <p:cNvPr id="3" name="Shape 1"/>
          <p:cNvSpPr/>
          <p:nvPr/>
        </p:nvSpPr>
        <p:spPr>
          <a:xfrm>
            <a:off x="457200" y="256032"/>
            <a:ext cx="685800" cy="685800"/>
          </a:xfrm>
          <a:prstGeom prst="ellipse">
            <a:avLst/>
          </a:prstGeom>
          <a:solidFill>
            <a:srgbClr val="F96167"/>
          </a:solidFill>
          <a:ln/>
        </p:spPr>
        <p:txBody>
          <a:bodyPr/>
          <a:lstStyle/>
          <a:p>
            <a:endParaRPr lang="en-IN"/>
          </a:p>
        </p:txBody>
      </p:sp>
      <p:pic>
        <p:nvPicPr>
          <p:cNvPr id="4" name="Image 0" descr="/home/claude/pptxbuild/icons/chartbar.png"/>
          <p:cNvPicPr>
            <a:picLocks noChangeAspect="1"/>
          </p:cNvPicPr>
          <p:nvPr/>
        </p:nvPicPr>
        <p:blipFill>
          <a:blip r:embed="rId3"/>
          <a:stretch>
            <a:fillRect/>
          </a:stretch>
        </p:blipFill>
        <p:spPr>
          <a:xfrm>
            <a:off x="621792" y="420624"/>
            <a:ext cx="356616" cy="356616"/>
          </a:xfrm>
          <a:prstGeom prst="rect">
            <a:avLst/>
          </a:prstGeom>
        </p:spPr>
      </p:pic>
      <p:sp>
        <p:nvSpPr>
          <p:cNvPr id="5" name="Text 2"/>
          <p:cNvSpPr/>
          <p:nvPr/>
        </p:nvSpPr>
        <p:spPr>
          <a:xfrm>
            <a:off x="1325880" y="201168"/>
            <a:ext cx="82296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5.1  Executive Summary</a:t>
            </a:r>
            <a:endParaRPr lang="en-US" sz="2400" dirty="0"/>
          </a:p>
        </p:txBody>
      </p:sp>
      <p:sp>
        <p:nvSpPr>
          <p:cNvPr id="6" name="Text 3"/>
          <p:cNvSpPr/>
          <p:nvPr/>
        </p:nvSpPr>
        <p:spPr>
          <a:xfrm>
            <a:off x="1325880" y="685800"/>
            <a:ext cx="10241280" cy="457200"/>
          </a:xfrm>
          <a:prstGeom prst="rect">
            <a:avLst/>
          </a:prstGeom>
          <a:noFill/>
          <a:ln/>
        </p:spPr>
        <p:txBody>
          <a:bodyPr wrap="square" rtlCol="0" anchor="t"/>
          <a:lstStyle/>
          <a:p>
            <a:pPr marL="0" indent="0">
              <a:buNone/>
            </a:pPr>
            <a:r>
              <a:rPr lang="en-US" sz="1150" dirty="0">
                <a:solidFill>
                  <a:srgbClr val="D8DCF2"/>
                </a:solidFill>
                <a:latin typeface="Calibri" pitchFamily="34" charset="0"/>
                <a:ea typeface="Calibri" pitchFamily="34" charset="-122"/>
                <a:cs typeface="Calibri" pitchFamily="34" charset="-120"/>
              </a:rPr>
              <a:t>Landing page of the report: total revenue, profit, orders, customers, AOV and refunds for the selected period, alongside the dashboard cover and project credits.</a:t>
            </a:r>
            <a:endParaRPr lang="en-US" sz="1150" dirty="0"/>
          </a:p>
        </p:txBody>
      </p:sp>
      <p:pic>
        <p:nvPicPr>
          <p:cNvPr id="8" name="Picture 7">
            <a:extLst>
              <a:ext uri="{FF2B5EF4-FFF2-40B4-BE49-F238E27FC236}">
                <a16:creationId xmlns:a16="http://schemas.microsoft.com/office/drawing/2014/main" id="{A90223DC-82E7-581C-88B6-716F7BB94B16}"/>
              </a:ext>
            </a:extLst>
          </p:cNvPr>
          <p:cNvPicPr>
            <a:picLocks noChangeAspect="1"/>
          </p:cNvPicPr>
          <p:nvPr/>
        </p:nvPicPr>
        <p:blipFill>
          <a:blip r:embed="rId4"/>
          <a:stretch>
            <a:fillRect/>
          </a:stretch>
        </p:blipFill>
        <p:spPr>
          <a:xfrm>
            <a:off x="1151919" y="1188720"/>
            <a:ext cx="9885113" cy="56423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21107-3EA3-3D12-43D7-9B981591F11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9BD2C4E-FD1B-CB0C-0B8E-93642ACE0DF3}"/>
              </a:ext>
            </a:extLst>
          </p:cNvPr>
          <p:cNvSpPr/>
          <p:nvPr/>
        </p:nvSpPr>
        <p:spPr>
          <a:xfrm>
            <a:off x="0" y="0"/>
            <a:ext cx="12188952" cy="1188720"/>
          </a:xfrm>
          <a:prstGeom prst="rect">
            <a:avLst/>
          </a:prstGeom>
          <a:solidFill>
            <a:srgbClr val="2F3C7E"/>
          </a:solidFill>
          <a:ln/>
        </p:spPr>
        <p:txBody>
          <a:bodyPr/>
          <a:lstStyle/>
          <a:p>
            <a:endParaRPr lang="en-IN"/>
          </a:p>
        </p:txBody>
      </p:sp>
      <p:sp>
        <p:nvSpPr>
          <p:cNvPr id="3" name="Shape 1">
            <a:extLst>
              <a:ext uri="{FF2B5EF4-FFF2-40B4-BE49-F238E27FC236}">
                <a16:creationId xmlns:a16="http://schemas.microsoft.com/office/drawing/2014/main" id="{3054BD04-AB42-C0E2-062E-0A3BE6787D5A}"/>
              </a:ext>
            </a:extLst>
          </p:cNvPr>
          <p:cNvSpPr/>
          <p:nvPr/>
        </p:nvSpPr>
        <p:spPr>
          <a:xfrm>
            <a:off x="457200" y="256032"/>
            <a:ext cx="685800" cy="685800"/>
          </a:xfrm>
          <a:prstGeom prst="ellipse">
            <a:avLst/>
          </a:prstGeom>
          <a:solidFill>
            <a:srgbClr val="F96167"/>
          </a:solidFill>
          <a:ln/>
        </p:spPr>
        <p:txBody>
          <a:bodyPr/>
          <a:lstStyle/>
          <a:p>
            <a:endParaRPr lang="en-IN"/>
          </a:p>
        </p:txBody>
      </p:sp>
      <p:pic>
        <p:nvPicPr>
          <p:cNvPr id="4" name="Image 0" descr="/home/claude/pptxbuild/icons/chartbar.png">
            <a:extLst>
              <a:ext uri="{FF2B5EF4-FFF2-40B4-BE49-F238E27FC236}">
                <a16:creationId xmlns:a16="http://schemas.microsoft.com/office/drawing/2014/main" id="{890C25AD-27F2-A576-A4C5-12CC770E50FD}"/>
              </a:ext>
            </a:extLst>
          </p:cNvPr>
          <p:cNvPicPr>
            <a:picLocks noChangeAspect="1"/>
          </p:cNvPicPr>
          <p:nvPr/>
        </p:nvPicPr>
        <p:blipFill>
          <a:blip r:embed="rId3"/>
          <a:stretch>
            <a:fillRect/>
          </a:stretch>
        </p:blipFill>
        <p:spPr>
          <a:xfrm>
            <a:off x="621792" y="420624"/>
            <a:ext cx="356616" cy="356616"/>
          </a:xfrm>
          <a:prstGeom prst="rect">
            <a:avLst/>
          </a:prstGeom>
        </p:spPr>
      </p:pic>
      <p:sp>
        <p:nvSpPr>
          <p:cNvPr id="5" name="Text 2">
            <a:extLst>
              <a:ext uri="{FF2B5EF4-FFF2-40B4-BE49-F238E27FC236}">
                <a16:creationId xmlns:a16="http://schemas.microsoft.com/office/drawing/2014/main" id="{5A579702-BC59-AF73-AF44-EB3A307445A4}"/>
              </a:ext>
            </a:extLst>
          </p:cNvPr>
          <p:cNvSpPr/>
          <p:nvPr/>
        </p:nvSpPr>
        <p:spPr>
          <a:xfrm>
            <a:off x="1325880" y="201168"/>
            <a:ext cx="82296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5.1  Executive Summary</a:t>
            </a:r>
            <a:endParaRPr lang="en-US" sz="2400" dirty="0"/>
          </a:p>
        </p:txBody>
      </p:sp>
      <p:sp>
        <p:nvSpPr>
          <p:cNvPr id="6" name="Text 3">
            <a:extLst>
              <a:ext uri="{FF2B5EF4-FFF2-40B4-BE49-F238E27FC236}">
                <a16:creationId xmlns:a16="http://schemas.microsoft.com/office/drawing/2014/main" id="{8F5CB2D5-A097-C4A8-C8A7-C5E042136AC9}"/>
              </a:ext>
            </a:extLst>
          </p:cNvPr>
          <p:cNvSpPr/>
          <p:nvPr/>
        </p:nvSpPr>
        <p:spPr>
          <a:xfrm>
            <a:off x="1325880" y="685800"/>
            <a:ext cx="10241280" cy="457200"/>
          </a:xfrm>
          <a:prstGeom prst="rect">
            <a:avLst/>
          </a:prstGeom>
          <a:noFill/>
          <a:ln/>
        </p:spPr>
        <p:txBody>
          <a:bodyPr wrap="square" rtlCol="0" anchor="t"/>
          <a:lstStyle/>
          <a:p>
            <a:pPr marL="0" indent="0">
              <a:buNone/>
            </a:pPr>
            <a:r>
              <a:rPr lang="en-US" sz="1150" dirty="0">
                <a:solidFill>
                  <a:srgbClr val="D8DCF2"/>
                </a:solidFill>
                <a:latin typeface="Calibri" pitchFamily="34" charset="0"/>
                <a:ea typeface="Calibri" pitchFamily="34" charset="-122"/>
                <a:cs typeface="Calibri" pitchFamily="34" charset="-120"/>
              </a:rPr>
              <a:t>Landing page of the report: total revenue, profit, orders, customers, AOV and refunds for the selected period, alongside the dashboard cover and project credits.</a:t>
            </a:r>
            <a:endParaRPr lang="en-US" sz="1150" dirty="0"/>
          </a:p>
        </p:txBody>
      </p:sp>
      <p:sp>
        <p:nvSpPr>
          <p:cNvPr id="42" name="Shape 16">
            <a:extLst>
              <a:ext uri="{FF2B5EF4-FFF2-40B4-BE49-F238E27FC236}">
                <a16:creationId xmlns:a16="http://schemas.microsoft.com/office/drawing/2014/main" id="{7AB14503-AEF1-2AF8-8CE1-2AA55031B5FA}"/>
              </a:ext>
            </a:extLst>
          </p:cNvPr>
          <p:cNvSpPr/>
          <p:nvPr/>
        </p:nvSpPr>
        <p:spPr>
          <a:xfrm>
            <a:off x="548640" y="1783080"/>
            <a:ext cx="384048" cy="384048"/>
          </a:xfrm>
          <a:prstGeom prst="ellipse">
            <a:avLst/>
          </a:prstGeom>
          <a:solidFill>
            <a:srgbClr val="990011"/>
          </a:solidFill>
          <a:ln/>
        </p:spPr>
        <p:txBody>
          <a:bodyPr/>
          <a:lstStyle/>
          <a:p>
            <a:endParaRPr lang="en-IN"/>
          </a:p>
        </p:txBody>
      </p:sp>
      <p:sp>
        <p:nvSpPr>
          <p:cNvPr id="44" name="Text 17">
            <a:extLst>
              <a:ext uri="{FF2B5EF4-FFF2-40B4-BE49-F238E27FC236}">
                <a16:creationId xmlns:a16="http://schemas.microsoft.com/office/drawing/2014/main" id="{6AD87B01-E8AF-0131-0135-BB198E085CD6}"/>
              </a:ext>
            </a:extLst>
          </p:cNvPr>
          <p:cNvSpPr/>
          <p:nvPr/>
        </p:nvSpPr>
        <p:spPr>
          <a:xfrm>
            <a:off x="548640" y="178308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48" name="Text 19">
            <a:extLst>
              <a:ext uri="{FF2B5EF4-FFF2-40B4-BE49-F238E27FC236}">
                <a16:creationId xmlns:a16="http://schemas.microsoft.com/office/drawing/2014/main" id="{9C53B908-1811-33AE-49B3-90B61949B85E}"/>
              </a:ext>
            </a:extLst>
          </p:cNvPr>
          <p:cNvSpPr/>
          <p:nvPr/>
        </p:nvSpPr>
        <p:spPr>
          <a:xfrm>
            <a:off x="1069848" y="1677924"/>
            <a:ext cx="10497312" cy="594360"/>
          </a:xfrm>
          <a:prstGeom prst="rect">
            <a:avLst/>
          </a:prstGeom>
          <a:noFill/>
          <a:ln/>
        </p:spPr>
        <p:txBody>
          <a:bodyPr wrap="square" rtlCol="0" anchor="t"/>
          <a:lstStyle/>
          <a:p>
            <a:pPr marL="0" indent="0">
              <a:lnSpc>
                <a:spcPct val="115000"/>
              </a:lnSpc>
              <a:buNone/>
            </a:pPr>
            <a:r>
              <a:rPr lang="en-US" sz="1600" b="1" dirty="0">
                <a:latin typeface="Calibri" pitchFamily="34" charset="0"/>
                <a:ea typeface="Calibri" pitchFamily="34" charset="-122"/>
                <a:cs typeface="Calibri" pitchFamily="34" charset="-120"/>
              </a:rPr>
              <a:t>$1.22M profit on $1.94M revenue implies low relative COGS or premium pricing: a very strong margin for e-commerce retail.</a:t>
            </a:r>
            <a:endParaRPr lang="en-US" sz="1600" b="1" dirty="0"/>
          </a:p>
        </p:txBody>
      </p:sp>
      <p:sp>
        <p:nvSpPr>
          <p:cNvPr id="50" name="Shape 20">
            <a:extLst>
              <a:ext uri="{FF2B5EF4-FFF2-40B4-BE49-F238E27FC236}">
                <a16:creationId xmlns:a16="http://schemas.microsoft.com/office/drawing/2014/main" id="{5EA26087-63B8-2BAE-CA0D-1E28BA3B2568}"/>
              </a:ext>
            </a:extLst>
          </p:cNvPr>
          <p:cNvSpPr/>
          <p:nvPr/>
        </p:nvSpPr>
        <p:spPr>
          <a:xfrm>
            <a:off x="548640" y="3008376"/>
            <a:ext cx="384048" cy="384048"/>
          </a:xfrm>
          <a:prstGeom prst="ellipse">
            <a:avLst/>
          </a:prstGeom>
          <a:solidFill>
            <a:srgbClr val="990011"/>
          </a:solidFill>
          <a:ln/>
        </p:spPr>
        <p:txBody>
          <a:bodyPr/>
          <a:lstStyle/>
          <a:p>
            <a:endParaRPr lang="en-IN"/>
          </a:p>
        </p:txBody>
      </p:sp>
      <p:sp>
        <p:nvSpPr>
          <p:cNvPr id="52" name="Text 21">
            <a:extLst>
              <a:ext uri="{FF2B5EF4-FFF2-40B4-BE49-F238E27FC236}">
                <a16:creationId xmlns:a16="http://schemas.microsoft.com/office/drawing/2014/main" id="{CA8E94A4-E1CF-DF62-9805-21308D7C6E93}"/>
              </a:ext>
            </a:extLst>
          </p:cNvPr>
          <p:cNvSpPr/>
          <p:nvPr/>
        </p:nvSpPr>
        <p:spPr>
          <a:xfrm>
            <a:off x="548640" y="3008376"/>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56" name="Text 23">
            <a:extLst>
              <a:ext uri="{FF2B5EF4-FFF2-40B4-BE49-F238E27FC236}">
                <a16:creationId xmlns:a16="http://schemas.microsoft.com/office/drawing/2014/main" id="{E72369DC-0A5A-92E0-521D-11F2F8002FE2}"/>
              </a:ext>
            </a:extLst>
          </p:cNvPr>
          <p:cNvSpPr/>
          <p:nvPr/>
        </p:nvSpPr>
        <p:spPr>
          <a:xfrm>
            <a:off x="1069848" y="2963542"/>
            <a:ext cx="10497312" cy="594360"/>
          </a:xfrm>
          <a:prstGeom prst="rect">
            <a:avLst/>
          </a:prstGeom>
          <a:noFill/>
          <a:ln/>
        </p:spPr>
        <p:txBody>
          <a:bodyPr wrap="square" rtlCol="0" anchor="t"/>
          <a:lstStyle/>
          <a:p>
            <a:pPr marL="0" indent="0">
              <a:lnSpc>
                <a:spcPct val="115000"/>
              </a:lnSpc>
              <a:buNone/>
            </a:pPr>
            <a:r>
              <a:rPr lang="en-US" sz="1600" b="1" dirty="0">
                <a:latin typeface="Calibri" pitchFamily="34" charset="0"/>
                <a:ea typeface="Calibri" pitchFamily="34" charset="-122"/>
                <a:cs typeface="Calibri" pitchFamily="34" charset="-120"/>
              </a:rPr>
              <a:t>Refunds sit near $0.1M against $1.94M in revenue. Roughly 5%. Returns are not a risk as of today.</a:t>
            </a:r>
            <a:endParaRPr lang="en-US" sz="1600" b="1" dirty="0"/>
          </a:p>
        </p:txBody>
      </p:sp>
      <p:sp>
        <p:nvSpPr>
          <p:cNvPr id="58" name="Shape 24">
            <a:extLst>
              <a:ext uri="{FF2B5EF4-FFF2-40B4-BE49-F238E27FC236}">
                <a16:creationId xmlns:a16="http://schemas.microsoft.com/office/drawing/2014/main" id="{567161D4-7D59-36E6-CC92-DFE425FA94C7}"/>
              </a:ext>
            </a:extLst>
          </p:cNvPr>
          <p:cNvSpPr/>
          <p:nvPr/>
        </p:nvSpPr>
        <p:spPr>
          <a:xfrm>
            <a:off x="548640" y="4233672"/>
            <a:ext cx="384048" cy="384048"/>
          </a:xfrm>
          <a:prstGeom prst="ellipse">
            <a:avLst/>
          </a:prstGeom>
          <a:solidFill>
            <a:srgbClr val="990011"/>
          </a:solidFill>
          <a:ln/>
        </p:spPr>
        <p:txBody>
          <a:bodyPr/>
          <a:lstStyle/>
          <a:p>
            <a:endParaRPr lang="en-IN"/>
          </a:p>
        </p:txBody>
      </p:sp>
      <p:sp>
        <p:nvSpPr>
          <p:cNvPr id="60" name="Text 25">
            <a:extLst>
              <a:ext uri="{FF2B5EF4-FFF2-40B4-BE49-F238E27FC236}">
                <a16:creationId xmlns:a16="http://schemas.microsoft.com/office/drawing/2014/main" id="{69D6466E-EFD6-BA03-1A89-B42445EBAD83}"/>
              </a:ext>
            </a:extLst>
          </p:cNvPr>
          <p:cNvSpPr/>
          <p:nvPr/>
        </p:nvSpPr>
        <p:spPr>
          <a:xfrm>
            <a:off x="548640" y="4233672"/>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64" name="Text 27">
            <a:extLst>
              <a:ext uri="{FF2B5EF4-FFF2-40B4-BE49-F238E27FC236}">
                <a16:creationId xmlns:a16="http://schemas.microsoft.com/office/drawing/2014/main" id="{2C78F0B7-26F4-C2D4-1E38-7530CCA831F8}"/>
              </a:ext>
            </a:extLst>
          </p:cNvPr>
          <p:cNvSpPr/>
          <p:nvPr/>
        </p:nvSpPr>
        <p:spPr>
          <a:xfrm>
            <a:off x="1069848" y="4254013"/>
            <a:ext cx="10497312" cy="594360"/>
          </a:xfrm>
          <a:prstGeom prst="rect">
            <a:avLst/>
          </a:prstGeom>
          <a:noFill/>
          <a:ln/>
        </p:spPr>
        <p:txBody>
          <a:bodyPr wrap="square" rtlCol="0" anchor="t"/>
          <a:lstStyle/>
          <a:p>
            <a:pPr marL="0" indent="0">
              <a:lnSpc>
                <a:spcPct val="115000"/>
              </a:lnSpc>
              <a:buNone/>
            </a:pPr>
            <a:r>
              <a:rPr lang="en-US" sz="1600" b="1" dirty="0">
                <a:latin typeface="Calibri" pitchFamily="34" charset="0"/>
                <a:ea typeface="Calibri" pitchFamily="34" charset="-122"/>
                <a:cs typeface="Calibri" pitchFamily="34" charset="-120"/>
              </a:rPr>
              <a:t>2014 alone generated 63.69% of all profit, with 2013 a distant second at 18.92%.</a:t>
            </a:r>
            <a:endParaRPr lang="en-US" sz="1600" b="1" dirty="0"/>
          </a:p>
        </p:txBody>
      </p:sp>
    </p:spTree>
    <p:extLst>
      <p:ext uri="{BB962C8B-B14F-4D97-AF65-F5344CB8AC3E}">
        <p14:creationId xmlns:p14="http://schemas.microsoft.com/office/powerpoint/2010/main" val="1266238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F3C7E"/>
          </a:solidFill>
          <a:ln/>
        </p:spPr>
        <p:txBody>
          <a:bodyPr/>
          <a:lstStyle/>
          <a:p>
            <a:endParaRPr lang="en-IN"/>
          </a:p>
        </p:txBody>
      </p:sp>
      <p:sp>
        <p:nvSpPr>
          <p:cNvPr id="3" name="Shape 1"/>
          <p:cNvSpPr/>
          <p:nvPr/>
        </p:nvSpPr>
        <p:spPr>
          <a:xfrm>
            <a:off x="457200" y="256032"/>
            <a:ext cx="685800" cy="685800"/>
          </a:xfrm>
          <a:prstGeom prst="ellipse">
            <a:avLst/>
          </a:prstGeom>
          <a:solidFill>
            <a:srgbClr val="F96167"/>
          </a:solidFill>
          <a:ln/>
        </p:spPr>
        <p:txBody>
          <a:bodyPr/>
          <a:lstStyle/>
          <a:p>
            <a:endParaRPr lang="en-IN"/>
          </a:p>
        </p:txBody>
      </p:sp>
      <p:pic>
        <p:nvPicPr>
          <p:cNvPr id="4" name="Image 0" descr="/home/claude/pptxbuild/icons/chartline.png"/>
          <p:cNvPicPr>
            <a:picLocks noChangeAspect="1"/>
          </p:cNvPicPr>
          <p:nvPr/>
        </p:nvPicPr>
        <p:blipFill>
          <a:blip r:embed="rId3"/>
          <a:stretch>
            <a:fillRect/>
          </a:stretch>
        </p:blipFill>
        <p:spPr>
          <a:xfrm>
            <a:off x="621792" y="420624"/>
            <a:ext cx="356616" cy="356616"/>
          </a:xfrm>
          <a:prstGeom prst="rect">
            <a:avLst/>
          </a:prstGeom>
        </p:spPr>
      </p:pic>
      <p:sp>
        <p:nvSpPr>
          <p:cNvPr id="5" name="Text 2"/>
          <p:cNvSpPr/>
          <p:nvPr/>
        </p:nvSpPr>
        <p:spPr>
          <a:xfrm>
            <a:off x="1325880" y="201168"/>
            <a:ext cx="82296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5.2  Strategic Takeaways</a:t>
            </a:r>
            <a:endParaRPr lang="en-US" sz="2400" dirty="0"/>
          </a:p>
        </p:txBody>
      </p:sp>
      <p:sp>
        <p:nvSpPr>
          <p:cNvPr id="6" name="Text 3"/>
          <p:cNvSpPr/>
          <p:nvPr/>
        </p:nvSpPr>
        <p:spPr>
          <a:xfrm>
            <a:off x="1325880" y="685800"/>
            <a:ext cx="10241280" cy="457200"/>
          </a:xfrm>
          <a:prstGeom prst="rect">
            <a:avLst/>
          </a:prstGeom>
          <a:noFill/>
          <a:ln/>
        </p:spPr>
        <p:txBody>
          <a:bodyPr wrap="square" rtlCol="0" anchor="t"/>
          <a:lstStyle/>
          <a:p>
            <a:pPr marL="0" indent="0">
              <a:buNone/>
            </a:pPr>
            <a:r>
              <a:rPr lang="en-US" sz="1150" dirty="0">
                <a:solidFill>
                  <a:srgbClr val="D8DCF2"/>
                </a:solidFill>
                <a:latin typeface="Calibri" pitchFamily="34" charset="0"/>
                <a:ea typeface="Calibri" pitchFamily="34" charset="-122"/>
                <a:cs typeface="Calibri" pitchFamily="34" charset="-120"/>
              </a:rPr>
              <a:t>Alternate/continuation view adding a revenue trend line and revenue-by-traffic-source breakdown to the core KPI cards.</a:t>
            </a:r>
            <a:endParaRPr lang="en-US" sz="1150" dirty="0"/>
          </a:p>
        </p:txBody>
      </p:sp>
      <p:pic>
        <p:nvPicPr>
          <p:cNvPr id="8" name="Picture 7">
            <a:extLst>
              <a:ext uri="{FF2B5EF4-FFF2-40B4-BE49-F238E27FC236}">
                <a16:creationId xmlns:a16="http://schemas.microsoft.com/office/drawing/2014/main" id="{4711470C-1C53-C944-B9B9-14ED63781F09}"/>
              </a:ext>
            </a:extLst>
          </p:cNvPr>
          <p:cNvPicPr>
            <a:picLocks noChangeAspect="1"/>
          </p:cNvPicPr>
          <p:nvPr/>
        </p:nvPicPr>
        <p:blipFill>
          <a:blip r:embed="rId4"/>
          <a:stretch>
            <a:fillRect/>
          </a:stretch>
        </p:blipFill>
        <p:spPr>
          <a:xfrm>
            <a:off x="1112013" y="1188720"/>
            <a:ext cx="9964926" cy="562663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50EB9-BF26-73EF-0F35-92E6B38B2A2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134F08F-0828-AB0A-43A0-AB2F5C0F5565}"/>
              </a:ext>
            </a:extLst>
          </p:cNvPr>
          <p:cNvSpPr/>
          <p:nvPr/>
        </p:nvSpPr>
        <p:spPr>
          <a:xfrm>
            <a:off x="0" y="0"/>
            <a:ext cx="12188952" cy="1188720"/>
          </a:xfrm>
          <a:prstGeom prst="rect">
            <a:avLst/>
          </a:prstGeom>
          <a:solidFill>
            <a:srgbClr val="2F3C7E"/>
          </a:solidFill>
          <a:ln/>
        </p:spPr>
        <p:txBody>
          <a:bodyPr/>
          <a:lstStyle/>
          <a:p>
            <a:endParaRPr lang="en-IN"/>
          </a:p>
        </p:txBody>
      </p:sp>
      <p:sp>
        <p:nvSpPr>
          <p:cNvPr id="3" name="Shape 1">
            <a:extLst>
              <a:ext uri="{FF2B5EF4-FFF2-40B4-BE49-F238E27FC236}">
                <a16:creationId xmlns:a16="http://schemas.microsoft.com/office/drawing/2014/main" id="{646404C2-D5A7-49FB-BA04-129A65215B1C}"/>
              </a:ext>
            </a:extLst>
          </p:cNvPr>
          <p:cNvSpPr/>
          <p:nvPr/>
        </p:nvSpPr>
        <p:spPr>
          <a:xfrm>
            <a:off x="457200" y="256032"/>
            <a:ext cx="685800" cy="685800"/>
          </a:xfrm>
          <a:prstGeom prst="ellipse">
            <a:avLst/>
          </a:prstGeom>
          <a:solidFill>
            <a:srgbClr val="F96167"/>
          </a:solidFill>
          <a:ln/>
        </p:spPr>
        <p:txBody>
          <a:bodyPr/>
          <a:lstStyle/>
          <a:p>
            <a:endParaRPr lang="en-IN"/>
          </a:p>
        </p:txBody>
      </p:sp>
      <p:pic>
        <p:nvPicPr>
          <p:cNvPr id="4" name="Image 0" descr="/home/claude/pptxbuild/icons/chartline.png">
            <a:extLst>
              <a:ext uri="{FF2B5EF4-FFF2-40B4-BE49-F238E27FC236}">
                <a16:creationId xmlns:a16="http://schemas.microsoft.com/office/drawing/2014/main" id="{850D9AD9-B045-1C4F-8C57-B9922D440492}"/>
              </a:ext>
            </a:extLst>
          </p:cNvPr>
          <p:cNvPicPr>
            <a:picLocks noChangeAspect="1"/>
          </p:cNvPicPr>
          <p:nvPr/>
        </p:nvPicPr>
        <p:blipFill>
          <a:blip r:embed="rId3"/>
          <a:stretch>
            <a:fillRect/>
          </a:stretch>
        </p:blipFill>
        <p:spPr>
          <a:xfrm>
            <a:off x="621792" y="420624"/>
            <a:ext cx="356616" cy="356616"/>
          </a:xfrm>
          <a:prstGeom prst="rect">
            <a:avLst/>
          </a:prstGeom>
        </p:spPr>
      </p:pic>
      <p:sp>
        <p:nvSpPr>
          <p:cNvPr id="5" name="Text 2">
            <a:extLst>
              <a:ext uri="{FF2B5EF4-FFF2-40B4-BE49-F238E27FC236}">
                <a16:creationId xmlns:a16="http://schemas.microsoft.com/office/drawing/2014/main" id="{3978A1A8-C559-5BAA-A290-0001E747B8A7}"/>
              </a:ext>
            </a:extLst>
          </p:cNvPr>
          <p:cNvSpPr/>
          <p:nvPr/>
        </p:nvSpPr>
        <p:spPr>
          <a:xfrm>
            <a:off x="1325880" y="201168"/>
            <a:ext cx="82296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5.2  Strategic Takeaways</a:t>
            </a:r>
            <a:endParaRPr lang="en-US" sz="2400" dirty="0"/>
          </a:p>
        </p:txBody>
      </p:sp>
      <p:sp>
        <p:nvSpPr>
          <p:cNvPr id="6" name="Text 3">
            <a:extLst>
              <a:ext uri="{FF2B5EF4-FFF2-40B4-BE49-F238E27FC236}">
                <a16:creationId xmlns:a16="http://schemas.microsoft.com/office/drawing/2014/main" id="{3DB4AAE0-58BA-8FDD-DA31-2FD1E0D6F84C}"/>
              </a:ext>
            </a:extLst>
          </p:cNvPr>
          <p:cNvSpPr/>
          <p:nvPr/>
        </p:nvSpPr>
        <p:spPr>
          <a:xfrm>
            <a:off x="1325880" y="685800"/>
            <a:ext cx="10241280" cy="457200"/>
          </a:xfrm>
          <a:prstGeom prst="rect">
            <a:avLst/>
          </a:prstGeom>
          <a:noFill/>
          <a:ln/>
        </p:spPr>
        <p:txBody>
          <a:bodyPr wrap="square" rtlCol="0" anchor="t"/>
          <a:lstStyle/>
          <a:p>
            <a:pPr marL="0" indent="0">
              <a:buNone/>
            </a:pPr>
            <a:r>
              <a:rPr lang="en-US" sz="1150" dirty="0">
                <a:solidFill>
                  <a:srgbClr val="D8DCF2"/>
                </a:solidFill>
                <a:latin typeface="Calibri" pitchFamily="34" charset="0"/>
                <a:ea typeface="Calibri" pitchFamily="34" charset="-122"/>
                <a:cs typeface="Calibri" pitchFamily="34" charset="-120"/>
              </a:rPr>
              <a:t>Alternate/continuation view adding a revenue trend line and revenue-by-traffic-source breakdown to the core KPI cards.</a:t>
            </a:r>
            <a:endParaRPr lang="en-US" sz="1150" dirty="0"/>
          </a:p>
        </p:txBody>
      </p:sp>
      <p:sp>
        <p:nvSpPr>
          <p:cNvPr id="42" name="Shape 16">
            <a:extLst>
              <a:ext uri="{FF2B5EF4-FFF2-40B4-BE49-F238E27FC236}">
                <a16:creationId xmlns:a16="http://schemas.microsoft.com/office/drawing/2014/main" id="{82B2F461-D29B-FB3E-8451-33E99D942EAC}"/>
              </a:ext>
            </a:extLst>
          </p:cNvPr>
          <p:cNvSpPr/>
          <p:nvPr/>
        </p:nvSpPr>
        <p:spPr>
          <a:xfrm>
            <a:off x="548640" y="1783080"/>
            <a:ext cx="384048" cy="384048"/>
          </a:xfrm>
          <a:prstGeom prst="ellipse">
            <a:avLst/>
          </a:prstGeom>
          <a:solidFill>
            <a:srgbClr val="990011"/>
          </a:solidFill>
          <a:ln/>
        </p:spPr>
        <p:txBody>
          <a:bodyPr/>
          <a:lstStyle/>
          <a:p>
            <a:endParaRPr lang="en-IN"/>
          </a:p>
        </p:txBody>
      </p:sp>
      <p:sp>
        <p:nvSpPr>
          <p:cNvPr id="44" name="Text 17">
            <a:extLst>
              <a:ext uri="{FF2B5EF4-FFF2-40B4-BE49-F238E27FC236}">
                <a16:creationId xmlns:a16="http://schemas.microsoft.com/office/drawing/2014/main" id="{60712324-831B-6AFD-1321-7848FAAA00A2}"/>
              </a:ext>
            </a:extLst>
          </p:cNvPr>
          <p:cNvSpPr/>
          <p:nvPr/>
        </p:nvSpPr>
        <p:spPr>
          <a:xfrm>
            <a:off x="548640" y="178308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48" name="Text 19">
            <a:extLst>
              <a:ext uri="{FF2B5EF4-FFF2-40B4-BE49-F238E27FC236}">
                <a16:creationId xmlns:a16="http://schemas.microsoft.com/office/drawing/2014/main" id="{C8A4F6BC-797E-CF1C-BE77-2451ECECDE32}"/>
              </a:ext>
            </a:extLst>
          </p:cNvPr>
          <p:cNvSpPr/>
          <p:nvPr/>
        </p:nvSpPr>
        <p:spPr>
          <a:xfrm>
            <a:off x="1115568" y="2686936"/>
            <a:ext cx="10497312" cy="594360"/>
          </a:xfrm>
          <a:prstGeom prst="rect">
            <a:avLst/>
          </a:prstGeom>
          <a:noFill/>
          <a:ln/>
        </p:spPr>
        <p:txBody>
          <a:bodyPr wrap="square" rtlCol="0" anchor="t"/>
          <a:lstStyle/>
          <a:p>
            <a:pPr marL="0" indent="0">
              <a:lnSpc>
                <a:spcPct val="115000"/>
              </a:lnSpc>
              <a:buNone/>
            </a:pPr>
            <a:r>
              <a:rPr lang="en-US" sz="1600" b="1" dirty="0">
                <a:latin typeface="Calibri" pitchFamily="34" charset="0"/>
                <a:ea typeface="Calibri" pitchFamily="34" charset="-122"/>
                <a:cs typeface="Calibri" pitchFamily="34" charset="-120"/>
              </a:rPr>
              <a:t>Google search (gsearch) drives $491.89 in revenue which is more than bsearch ($275.94) and Direct ($59.99) combined which is confirming Google search is the primary source growth.</a:t>
            </a:r>
            <a:endParaRPr lang="en-US" sz="1600" b="1" dirty="0"/>
          </a:p>
        </p:txBody>
      </p:sp>
      <p:sp>
        <p:nvSpPr>
          <p:cNvPr id="50" name="Shape 20">
            <a:extLst>
              <a:ext uri="{FF2B5EF4-FFF2-40B4-BE49-F238E27FC236}">
                <a16:creationId xmlns:a16="http://schemas.microsoft.com/office/drawing/2014/main" id="{1CFFCE88-6221-D207-B05A-570BD79AEA4A}"/>
              </a:ext>
            </a:extLst>
          </p:cNvPr>
          <p:cNvSpPr/>
          <p:nvPr/>
        </p:nvSpPr>
        <p:spPr>
          <a:xfrm>
            <a:off x="548640" y="2788920"/>
            <a:ext cx="384048" cy="384048"/>
          </a:xfrm>
          <a:prstGeom prst="ellipse">
            <a:avLst/>
          </a:prstGeom>
          <a:solidFill>
            <a:srgbClr val="990011"/>
          </a:solidFill>
          <a:ln/>
        </p:spPr>
        <p:txBody>
          <a:bodyPr/>
          <a:lstStyle/>
          <a:p>
            <a:endParaRPr lang="en-IN"/>
          </a:p>
        </p:txBody>
      </p:sp>
      <p:sp>
        <p:nvSpPr>
          <p:cNvPr id="52" name="Text 21">
            <a:extLst>
              <a:ext uri="{FF2B5EF4-FFF2-40B4-BE49-F238E27FC236}">
                <a16:creationId xmlns:a16="http://schemas.microsoft.com/office/drawing/2014/main" id="{5FE4BFC9-A559-D4FD-44BF-FA2D9180A5D3}"/>
              </a:ext>
            </a:extLst>
          </p:cNvPr>
          <p:cNvSpPr/>
          <p:nvPr/>
        </p:nvSpPr>
        <p:spPr>
          <a:xfrm>
            <a:off x="548640" y="278892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56" name="Text 23">
            <a:extLst>
              <a:ext uri="{FF2B5EF4-FFF2-40B4-BE49-F238E27FC236}">
                <a16:creationId xmlns:a16="http://schemas.microsoft.com/office/drawing/2014/main" id="{804738CC-5D90-A9F8-1117-8E4ECA55C4DF}"/>
              </a:ext>
            </a:extLst>
          </p:cNvPr>
          <p:cNvSpPr/>
          <p:nvPr/>
        </p:nvSpPr>
        <p:spPr>
          <a:xfrm>
            <a:off x="1115568" y="3689604"/>
            <a:ext cx="10497312" cy="594360"/>
          </a:xfrm>
          <a:prstGeom prst="rect">
            <a:avLst/>
          </a:prstGeom>
          <a:noFill/>
          <a:ln/>
        </p:spPr>
        <p:txBody>
          <a:bodyPr wrap="square" rtlCol="0" anchor="t"/>
          <a:lstStyle/>
          <a:p>
            <a:pPr marL="0" indent="0">
              <a:lnSpc>
                <a:spcPct val="115000"/>
              </a:lnSpc>
              <a:buNone/>
            </a:pPr>
            <a:r>
              <a:rPr lang="en-US" sz="1600" b="1" dirty="0">
                <a:latin typeface="Calibri" pitchFamily="34" charset="0"/>
                <a:ea typeface="Calibri" pitchFamily="34" charset="-122"/>
                <a:cs typeface="Calibri" pitchFamily="34" charset="-120"/>
              </a:rPr>
              <a:t>Monthly average order value peaks in August ($95.98) even though revenue that month is mid-range that means customers buy less often but spend more per order.</a:t>
            </a:r>
            <a:endParaRPr lang="en-US" sz="1600" b="1" dirty="0"/>
          </a:p>
        </p:txBody>
      </p:sp>
      <p:sp>
        <p:nvSpPr>
          <p:cNvPr id="58" name="Shape 24">
            <a:extLst>
              <a:ext uri="{FF2B5EF4-FFF2-40B4-BE49-F238E27FC236}">
                <a16:creationId xmlns:a16="http://schemas.microsoft.com/office/drawing/2014/main" id="{CF21D04D-9BB8-4641-55E1-A2A546869762}"/>
              </a:ext>
            </a:extLst>
          </p:cNvPr>
          <p:cNvSpPr/>
          <p:nvPr/>
        </p:nvSpPr>
        <p:spPr>
          <a:xfrm>
            <a:off x="548640" y="3794760"/>
            <a:ext cx="384048" cy="384048"/>
          </a:xfrm>
          <a:prstGeom prst="ellipse">
            <a:avLst/>
          </a:prstGeom>
          <a:solidFill>
            <a:srgbClr val="990011"/>
          </a:solidFill>
          <a:ln/>
        </p:spPr>
        <p:txBody>
          <a:bodyPr/>
          <a:lstStyle/>
          <a:p>
            <a:endParaRPr lang="en-IN"/>
          </a:p>
        </p:txBody>
      </p:sp>
      <p:sp>
        <p:nvSpPr>
          <p:cNvPr id="60" name="Text 25">
            <a:extLst>
              <a:ext uri="{FF2B5EF4-FFF2-40B4-BE49-F238E27FC236}">
                <a16:creationId xmlns:a16="http://schemas.microsoft.com/office/drawing/2014/main" id="{FFA37D1B-713C-DA58-AE93-FBCF0543FF61}"/>
              </a:ext>
            </a:extLst>
          </p:cNvPr>
          <p:cNvSpPr/>
          <p:nvPr/>
        </p:nvSpPr>
        <p:spPr>
          <a:xfrm>
            <a:off x="548640" y="379476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64" name="Text 27">
            <a:extLst>
              <a:ext uri="{FF2B5EF4-FFF2-40B4-BE49-F238E27FC236}">
                <a16:creationId xmlns:a16="http://schemas.microsoft.com/office/drawing/2014/main" id="{956CD3BD-813C-37CE-B158-6A41BC9BD366}"/>
              </a:ext>
            </a:extLst>
          </p:cNvPr>
          <p:cNvSpPr/>
          <p:nvPr/>
        </p:nvSpPr>
        <p:spPr>
          <a:xfrm>
            <a:off x="1115568" y="4695444"/>
            <a:ext cx="10497312" cy="594360"/>
          </a:xfrm>
          <a:prstGeom prst="rect">
            <a:avLst/>
          </a:prstGeom>
          <a:noFill/>
          <a:ln/>
        </p:spPr>
        <p:txBody>
          <a:bodyPr wrap="square" rtlCol="0" anchor="t"/>
          <a:lstStyle/>
          <a:p>
            <a:pPr marL="0" indent="0">
              <a:lnSpc>
                <a:spcPct val="115000"/>
              </a:lnSpc>
              <a:buNone/>
            </a:pPr>
            <a:r>
              <a:rPr lang="en-US" sz="1600" b="1" dirty="0">
                <a:latin typeface="Calibri" pitchFamily="34" charset="0"/>
                <a:ea typeface="Calibri" pitchFamily="34" charset="-122"/>
                <a:cs typeface="Calibri" pitchFamily="34" charset="-120"/>
              </a:rPr>
              <a:t>Revenue contribution in 2012 (18.84%), 2013 (12.08%), and 2015 (6.04%) trail well behind 2014(63.04%) the same concentration pattern seen in the Executive profit-by-year view.</a:t>
            </a:r>
            <a:endParaRPr lang="en-US" sz="1600" b="1" dirty="0"/>
          </a:p>
        </p:txBody>
      </p:sp>
      <p:sp>
        <p:nvSpPr>
          <p:cNvPr id="66" name="Shape 28">
            <a:extLst>
              <a:ext uri="{FF2B5EF4-FFF2-40B4-BE49-F238E27FC236}">
                <a16:creationId xmlns:a16="http://schemas.microsoft.com/office/drawing/2014/main" id="{91CD598B-9B0D-F2E5-D6B2-81ADAFEFACE5}"/>
              </a:ext>
            </a:extLst>
          </p:cNvPr>
          <p:cNvSpPr/>
          <p:nvPr/>
        </p:nvSpPr>
        <p:spPr>
          <a:xfrm>
            <a:off x="548640" y="4800600"/>
            <a:ext cx="384048" cy="384048"/>
          </a:xfrm>
          <a:prstGeom prst="ellipse">
            <a:avLst/>
          </a:prstGeom>
          <a:solidFill>
            <a:srgbClr val="990011"/>
          </a:solidFill>
          <a:ln/>
        </p:spPr>
        <p:txBody>
          <a:bodyPr/>
          <a:lstStyle/>
          <a:p>
            <a:endParaRPr lang="en-IN"/>
          </a:p>
        </p:txBody>
      </p:sp>
      <p:sp>
        <p:nvSpPr>
          <p:cNvPr id="68" name="Text 29">
            <a:extLst>
              <a:ext uri="{FF2B5EF4-FFF2-40B4-BE49-F238E27FC236}">
                <a16:creationId xmlns:a16="http://schemas.microsoft.com/office/drawing/2014/main" id="{9B23A2D7-1FBA-D270-662E-46567FB01772}"/>
              </a:ext>
            </a:extLst>
          </p:cNvPr>
          <p:cNvSpPr/>
          <p:nvPr/>
        </p:nvSpPr>
        <p:spPr>
          <a:xfrm>
            <a:off x="548640" y="480060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72" name="Text 31">
            <a:extLst>
              <a:ext uri="{FF2B5EF4-FFF2-40B4-BE49-F238E27FC236}">
                <a16:creationId xmlns:a16="http://schemas.microsoft.com/office/drawing/2014/main" id="{BB21A435-1B20-4529-6236-0BBA5309724B}"/>
              </a:ext>
            </a:extLst>
          </p:cNvPr>
          <p:cNvSpPr/>
          <p:nvPr/>
        </p:nvSpPr>
        <p:spPr>
          <a:xfrm>
            <a:off x="1115568" y="1677923"/>
            <a:ext cx="10497312" cy="897325"/>
          </a:xfrm>
          <a:prstGeom prst="rect">
            <a:avLst/>
          </a:prstGeom>
          <a:noFill/>
          <a:ln/>
        </p:spPr>
        <p:txBody>
          <a:bodyPr wrap="square" rtlCol="0" anchor="t"/>
          <a:lstStyle/>
          <a:p>
            <a:pPr>
              <a:lnSpc>
                <a:spcPct val="115000"/>
              </a:lnSpc>
            </a:pPr>
            <a:r>
              <a:rPr lang="en-IN" sz="1600" b="1" dirty="0"/>
              <a:t>Monthly Revenue peaks significantly in June ($219.95) and November ($225.95). Drops to its lowest points in March ($45.99) and September ($49.99), finishing at $79.98 in December. </a:t>
            </a:r>
            <a:endParaRPr lang="en-US" sz="1600" b="1" dirty="0"/>
          </a:p>
        </p:txBody>
      </p:sp>
    </p:spTree>
    <p:extLst>
      <p:ext uri="{BB962C8B-B14F-4D97-AF65-F5344CB8AC3E}">
        <p14:creationId xmlns:p14="http://schemas.microsoft.com/office/powerpoint/2010/main" val="1353074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F3C7E"/>
          </a:solidFill>
          <a:ln/>
        </p:spPr>
        <p:txBody>
          <a:bodyPr/>
          <a:lstStyle/>
          <a:p>
            <a:endParaRPr lang="en-IN"/>
          </a:p>
        </p:txBody>
      </p:sp>
      <p:sp>
        <p:nvSpPr>
          <p:cNvPr id="3" name="Shape 1"/>
          <p:cNvSpPr/>
          <p:nvPr/>
        </p:nvSpPr>
        <p:spPr>
          <a:xfrm>
            <a:off x="457200" y="256032"/>
            <a:ext cx="685800" cy="685800"/>
          </a:xfrm>
          <a:prstGeom prst="ellipse">
            <a:avLst/>
          </a:prstGeom>
          <a:solidFill>
            <a:srgbClr val="F96167"/>
          </a:solidFill>
          <a:ln/>
        </p:spPr>
        <p:txBody>
          <a:bodyPr/>
          <a:lstStyle/>
          <a:p>
            <a:endParaRPr lang="en-IN"/>
          </a:p>
        </p:txBody>
      </p:sp>
      <p:pic>
        <p:nvPicPr>
          <p:cNvPr id="4" name="Image 0" descr="/home/claude/pptxbuild/icons/tags.png"/>
          <p:cNvPicPr>
            <a:picLocks noChangeAspect="1"/>
          </p:cNvPicPr>
          <p:nvPr/>
        </p:nvPicPr>
        <p:blipFill>
          <a:blip r:embed="rId3"/>
          <a:stretch>
            <a:fillRect/>
          </a:stretch>
        </p:blipFill>
        <p:spPr>
          <a:xfrm>
            <a:off x="621792" y="420624"/>
            <a:ext cx="356616" cy="356616"/>
          </a:xfrm>
          <a:prstGeom prst="rect">
            <a:avLst/>
          </a:prstGeom>
        </p:spPr>
      </p:pic>
      <p:sp>
        <p:nvSpPr>
          <p:cNvPr id="5" name="Text 2"/>
          <p:cNvSpPr/>
          <p:nvPr/>
        </p:nvSpPr>
        <p:spPr>
          <a:xfrm>
            <a:off x="1325880" y="201168"/>
            <a:ext cx="82296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5.3  Product Analysis</a:t>
            </a:r>
            <a:endParaRPr lang="en-US" sz="2400" dirty="0"/>
          </a:p>
        </p:txBody>
      </p:sp>
      <p:sp>
        <p:nvSpPr>
          <p:cNvPr id="6" name="Text 3"/>
          <p:cNvSpPr/>
          <p:nvPr/>
        </p:nvSpPr>
        <p:spPr>
          <a:xfrm>
            <a:off x="1325880" y="685800"/>
            <a:ext cx="10241280" cy="457200"/>
          </a:xfrm>
          <a:prstGeom prst="rect">
            <a:avLst/>
          </a:prstGeom>
          <a:noFill/>
          <a:ln/>
        </p:spPr>
        <p:txBody>
          <a:bodyPr wrap="square" rtlCol="0" anchor="t"/>
          <a:lstStyle/>
          <a:p>
            <a:pPr marL="0" indent="0">
              <a:buNone/>
            </a:pPr>
            <a:r>
              <a:rPr lang="en-US" sz="1150" dirty="0">
                <a:solidFill>
                  <a:srgbClr val="D8DCF2"/>
                </a:solidFill>
                <a:latin typeface="Calibri" pitchFamily="34" charset="0"/>
                <a:ea typeface="Calibri" pitchFamily="34" charset="-122"/>
                <a:cs typeface="Calibri" pitchFamily="34" charset="-120"/>
              </a:rPr>
              <a:t>Which products drive revenue and profit, which are returned/refunded most, cost of goods sold, and cross-sell behaviour.</a:t>
            </a:r>
            <a:endParaRPr lang="en-US" sz="1150" dirty="0"/>
          </a:p>
        </p:txBody>
      </p:sp>
      <p:pic>
        <p:nvPicPr>
          <p:cNvPr id="8" name="Picture 7">
            <a:extLst>
              <a:ext uri="{FF2B5EF4-FFF2-40B4-BE49-F238E27FC236}">
                <a16:creationId xmlns:a16="http://schemas.microsoft.com/office/drawing/2014/main" id="{AEBAF6C1-005E-772E-82CE-9ECD3D362854}"/>
              </a:ext>
            </a:extLst>
          </p:cNvPr>
          <p:cNvPicPr>
            <a:picLocks noChangeAspect="1"/>
          </p:cNvPicPr>
          <p:nvPr/>
        </p:nvPicPr>
        <p:blipFill>
          <a:blip r:embed="rId4"/>
          <a:stretch>
            <a:fillRect/>
          </a:stretch>
        </p:blipFill>
        <p:spPr>
          <a:xfrm>
            <a:off x="1143000" y="1197864"/>
            <a:ext cx="9853514" cy="556308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B6EE7-C9AC-27D7-FF2E-FF16B6CB157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CC95DAA-DF71-016D-3057-532C88BB4743}"/>
              </a:ext>
            </a:extLst>
          </p:cNvPr>
          <p:cNvSpPr/>
          <p:nvPr/>
        </p:nvSpPr>
        <p:spPr>
          <a:xfrm>
            <a:off x="0" y="0"/>
            <a:ext cx="12188952" cy="1188720"/>
          </a:xfrm>
          <a:prstGeom prst="rect">
            <a:avLst/>
          </a:prstGeom>
          <a:solidFill>
            <a:srgbClr val="2F3C7E"/>
          </a:solidFill>
          <a:ln/>
        </p:spPr>
        <p:txBody>
          <a:bodyPr/>
          <a:lstStyle/>
          <a:p>
            <a:endParaRPr lang="en-IN"/>
          </a:p>
        </p:txBody>
      </p:sp>
      <p:sp>
        <p:nvSpPr>
          <p:cNvPr id="3" name="Shape 1">
            <a:extLst>
              <a:ext uri="{FF2B5EF4-FFF2-40B4-BE49-F238E27FC236}">
                <a16:creationId xmlns:a16="http://schemas.microsoft.com/office/drawing/2014/main" id="{BF7AB0D6-C393-AD94-514B-0C89E86CD062}"/>
              </a:ext>
            </a:extLst>
          </p:cNvPr>
          <p:cNvSpPr/>
          <p:nvPr/>
        </p:nvSpPr>
        <p:spPr>
          <a:xfrm>
            <a:off x="457200" y="256032"/>
            <a:ext cx="685800" cy="685800"/>
          </a:xfrm>
          <a:prstGeom prst="ellipse">
            <a:avLst/>
          </a:prstGeom>
          <a:solidFill>
            <a:srgbClr val="F96167"/>
          </a:solidFill>
          <a:ln/>
        </p:spPr>
        <p:txBody>
          <a:bodyPr/>
          <a:lstStyle/>
          <a:p>
            <a:endParaRPr lang="en-IN"/>
          </a:p>
        </p:txBody>
      </p:sp>
      <p:pic>
        <p:nvPicPr>
          <p:cNvPr id="4" name="Image 0" descr="/home/claude/pptxbuild/icons/tags.png">
            <a:extLst>
              <a:ext uri="{FF2B5EF4-FFF2-40B4-BE49-F238E27FC236}">
                <a16:creationId xmlns:a16="http://schemas.microsoft.com/office/drawing/2014/main" id="{30BA9356-64F9-5463-4411-6F84F14DFCAA}"/>
              </a:ext>
            </a:extLst>
          </p:cNvPr>
          <p:cNvPicPr>
            <a:picLocks noChangeAspect="1"/>
          </p:cNvPicPr>
          <p:nvPr/>
        </p:nvPicPr>
        <p:blipFill>
          <a:blip r:embed="rId3"/>
          <a:stretch>
            <a:fillRect/>
          </a:stretch>
        </p:blipFill>
        <p:spPr>
          <a:xfrm>
            <a:off x="621792" y="420624"/>
            <a:ext cx="356616" cy="356616"/>
          </a:xfrm>
          <a:prstGeom prst="rect">
            <a:avLst/>
          </a:prstGeom>
        </p:spPr>
      </p:pic>
      <p:sp>
        <p:nvSpPr>
          <p:cNvPr id="5" name="Text 2">
            <a:extLst>
              <a:ext uri="{FF2B5EF4-FFF2-40B4-BE49-F238E27FC236}">
                <a16:creationId xmlns:a16="http://schemas.microsoft.com/office/drawing/2014/main" id="{E6654092-D335-3E36-C193-2998C8CBB77D}"/>
              </a:ext>
            </a:extLst>
          </p:cNvPr>
          <p:cNvSpPr/>
          <p:nvPr/>
        </p:nvSpPr>
        <p:spPr>
          <a:xfrm>
            <a:off x="1325880" y="201168"/>
            <a:ext cx="82296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5.3  Product Analysis</a:t>
            </a:r>
            <a:endParaRPr lang="en-US" sz="2400" dirty="0"/>
          </a:p>
        </p:txBody>
      </p:sp>
      <p:sp>
        <p:nvSpPr>
          <p:cNvPr id="6" name="Text 3">
            <a:extLst>
              <a:ext uri="{FF2B5EF4-FFF2-40B4-BE49-F238E27FC236}">
                <a16:creationId xmlns:a16="http://schemas.microsoft.com/office/drawing/2014/main" id="{E50900F0-B2A2-2EAE-547B-347D9AB778D8}"/>
              </a:ext>
            </a:extLst>
          </p:cNvPr>
          <p:cNvSpPr/>
          <p:nvPr/>
        </p:nvSpPr>
        <p:spPr>
          <a:xfrm>
            <a:off x="1325880" y="685800"/>
            <a:ext cx="10241280" cy="457200"/>
          </a:xfrm>
          <a:prstGeom prst="rect">
            <a:avLst/>
          </a:prstGeom>
          <a:noFill/>
          <a:ln/>
        </p:spPr>
        <p:txBody>
          <a:bodyPr wrap="square" rtlCol="0" anchor="t"/>
          <a:lstStyle/>
          <a:p>
            <a:pPr marL="0" indent="0">
              <a:buNone/>
            </a:pPr>
            <a:r>
              <a:rPr lang="en-US" sz="1150" dirty="0">
                <a:solidFill>
                  <a:srgbClr val="D8DCF2"/>
                </a:solidFill>
                <a:latin typeface="Calibri" pitchFamily="34" charset="0"/>
                <a:ea typeface="Calibri" pitchFamily="34" charset="-122"/>
                <a:cs typeface="Calibri" pitchFamily="34" charset="-120"/>
              </a:rPr>
              <a:t>Which products drive revenue and profit, which are returned/refunded most, cost of goods sold, and cross-sell behaviour.</a:t>
            </a:r>
            <a:endParaRPr lang="en-US" sz="1150" dirty="0"/>
          </a:p>
        </p:txBody>
      </p:sp>
      <p:sp>
        <p:nvSpPr>
          <p:cNvPr id="66" name="Shape 16">
            <a:extLst>
              <a:ext uri="{FF2B5EF4-FFF2-40B4-BE49-F238E27FC236}">
                <a16:creationId xmlns:a16="http://schemas.microsoft.com/office/drawing/2014/main" id="{98FA733D-DB2B-41FC-DF54-727834EBC8B9}"/>
              </a:ext>
            </a:extLst>
          </p:cNvPr>
          <p:cNvSpPr/>
          <p:nvPr/>
        </p:nvSpPr>
        <p:spPr>
          <a:xfrm>
            <a:off x="548640" y="1783080"/>
            <a:ext cx="384048" cy="384048"/>
          </a:xfrm>
          <a:prstGeom prst="ellipse">
            <a:avLst/>
          </a:prstGeom>
          <a:solidFill>
            <a:srgbClr val="990011"/>
          </a:solidFill>
          <a:ln/>
        </p:spPr>
        <p:txBody>
          <a:bodyPr/>
          <a:lstStyle/>
          <a:p>
            <a:endParaRPr lang="en-IN"/>
          </a:p>
        </p:txBody>
      </p:sp>
      <p:sp>
        <p:nvSpPr>
          <p:cNvPr id="68" name="Text 17">
            <a:extLst>
              <a:ext uri="{FF2B5EF4-FFF2-40B4-BE49-F238E27FC236}">
                <a16:creationId xmlns:a16="http://schemas.microsoft.com/office/drawing/2014/main" id="{DA92A017-8332-BB43-24B3-4B2C8FA0D4F8}"/>
              </a:ext>
            </a:extLst>
          </p:cNvPr>
          <p:cNvSpPr/>
          <p:nvPr/>
        </p:nvSpPr>
        <p:spPr>
          <a:xfrm>
            <a:off x="548640" y="178308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0" name="Text 19">
            <a:extLst>
              <a:ext uri="{FF2B5EF4-FFF2-40B4-BE49-F238E27FC236}">
                <a16:creationId xmlns:a16="http://schemas.microsoft.com/office/drawing/2014/main" id="{47AD114D-4E87-9AD1-9DE0-BB7F17014736}"/>
              </a:ext>
            </a:extLst>
          </p:cNvPr>
          <p:cNvSpPr/>
          <p:nvPr/>
        </p:nvSpPr>
        <p:spPr>
          <a:xfrm>
            <a:off x="1115568" y="2523604"/>
            <a:ext cx="10497312" cy="914680"/>
          </a:xfrm>
          <a:prstGeom prst="rect">
            <a:avLst/>
          </a:prstGeom>
          <a:noFill/>
          <a:ln/>
        </p:spPr>
        <p:txBody>
          <a:bodyPr wrap="square" rtlCol="0" anchor="t"/>
          <a:lstStyle/>
          <a:p>
            <a:pPr>
              <a:lnSpc>
                <a:spcPct val="115000"/>
              </a:lnSpc>
            </a:pPr>
            <a:r>
              <a:rPr lang="en-IN" sz="1600" b="1" dirty="0"/>
              <a:t>The Original Mr. Fuzzy dominates overall revenue, profit, and potential revenue at risk (above $1M). The remaining three products generate significantly lower financial volume, with The Hudson River Mini Bear contributing minimal revenue and profit.</a:t>
            </a:r>
            <a:endParaRPr lang="en-US" sz="1600" b="1" dirty="0"/>
          </a:p>
        </p:txBody>
      </p:sp>
      <p:sp>
        <p:nvSpPr>
          <p:cNvPr id="72" name="Shape 20">
            <a:extLst>
              <a:ext uri="{FF2B5EF4-FFF2-40B4-BE49-F238E27FC236}">
                <a16:creationId xmlns:a16="http://schemas.microsoft.com/office/drawing/2014/main" id="{AFF6B215-20A1-92E5-82E6-2BBD33761092}"/>
              </a:ext>
            </a:extLst>
          </p:cNvPr>
          <p:cNvSpPr/>
          <p:nvPr/>
        </p:nvSpPr>
        <p:spPr>
          <a:xfrm>
            <a:off x="548640" y="2788920"/>
            <a:ext cx="384048" cy="384048"/>
          </a:xfrm>
          <a:prstGeom prst="ellipse">
            <a:avLst/>
          </a:prstGeom>
          <a:solidFill>
            <a:srgbClr val="990011"/>
          </a:solidFill>
          <a:ln/>
        </p:spPr>
        <p:txBody>
          <a:bodyPr/>
          <a:lstStyle/>
          <a:p>
            <a:endParaRPr lang="en-IN"/>
          </a:p>
        </p:txBody>
      </p:sp>
      <p:sp>
        <p:nvSpPr>
          <p:cNvPr id="74" name="Text 21">
            <a:extLst>
              <a:ext uri="{FF2B5EF4-FFF2-40B4-BE49-F238E27FC236}">
                <a16:creationId xmlns:a16="http://schemas.microsoft.com/office/drawing/2014/main" id="{E8E8BC63-7669-6BA7-9AAB-DD4A541EFAF5}"/>
              </a:ext>
            </a:extLst>
          </p:cNvPr>
          <p:cNvSpPr/>
          <p:nvPr/>
        </p:nvSpPr>
        <p:spPr>
          <a:xfrm>
            <a:off x="548640" y="278892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76" name="Text 23">
            <a:extLst>
              <a:ext uri="{FF2B5EF4-FFF2-40B4-BE49-F238E27FC236}">
                <a16:creationId xmlns:a16="http://schemas.microsoft.com/office/drawing/2014/main" id="{7165B5C9-259F-403F-B044-6F2F2CE5F286}"/>
              </a:ext>
            </a:extLst>
          </p:cNvPr>
          <p:cNvSpPr/>
          <p:nvPr/>
        </p:nvSpPr>
        <p:spPr>
          <a:xfrm>
            <a:off x="1115568" y="3529444"/>
            <a:ext cx="10497312" cy="594360"/>
          </a:xfrm>
          <a:prstGeom prst="rect">
            <a:avLst/>
          </a:prstGeom>
          <a:noFill/>
          <a:ln/>
        </p:spPr>
        <p:txBody>
          <a:bodyPr wrap="square" rtlCol="0" anchor="t"/>
          <a:lstStyle/>
          <a:p>
            <a:pPr>
              <a:lnSpc>
                <a:spcPct val="115000"/>
              </a:lnSpc>
            </a:pPr>
            <a:r>
              <a:rPr lang="en-IN" sz="1600" b="1" dirty="0"/>
              <a:t>The vast majority of production/inventory costs belong to the top-selling product (The Original Mr. Fuzzy). The secondary products, matching their proportion of overall sales volume.</a:t>
            </a:r>
            <a:endParaRPr lang="en-US" sz="1600" b="1" dirty="0"/>
          </a:p>
        </p:txBody>
      </p:sp>
      <p:sp>
        <p:nvSpPr>
          <p:cNvPr id="78" name="Shape 24">
            <a:extLst>
              <a:ext uri="{FF2B5EF4-FFF2-40B4-BE49-F238E27FC236}">
                <a16:creationId xmlns:a16="http://schemas.microsoft.com/office/drawing/2014/main" id="{4CFE9782-EB53-8030-794A-DCC982D7DBBB}"/>
              </a:ext>
            </a:extLst>
          </p:cNvPr>
          <p:cNvSpPr/>
          <p:nvPr/>
        </p:nvSpPr>
        <p:spPr>
          <a:xfrm>
            <a:off x="548640" y="3634600"/>
            <a:ext cx="384048" cy="384048"/>
          </a:xfrm>
          <a:prstGeom prst="ellipse">
            <a:avLst/>
          </a:prstGeom>
          <a:solidFill>
            <a:srgbClr val="990011"/>
          </a:solidFill>
          <a:ln/>
        </p:spPr>
        <p:txBody>
          <a:bodyPr/>
          <a:lstStyle/>
          <a:p>
            <a:endParaRPr lang="en-IN"/>
          </a:p>
        </p:txBody>
      </p:sp>
      <p:sp>
        <p:nvSpPr>
          <p:cNvPr id="80" name="Text 25">
            <a:extLst>
              <a:ext uri="{FF2B5EF4-FFF2-40B4-BE49-F238E27FC236}">
                <a16:creationId xmlns:a16="http://schemas.microsoft.com/office/drawing/2014/main" id="{7B09118F-24F5-EBA4-E493-9209620981E8}"/>
              </a:ext>
            </a:extLst>
          </p:cNvPr>
          <p:cNvSpPr/>
          <p:nvPr/>
        </p:nvSpPr>
        <p:spPr>
          <a:xfrm>
            <a:off x="548640" y="363460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82" name="Text 27">
            <a:extLst>
              <a:ext uri="{FF2B5EF4-FFF2-40B4-BE49-F238E27FC236}">
                <a16:creationId xmlns:a16="http://schemas.microsoft.com/office/drawing/2014/main" id="{372A80A3-0A38-168F-2F6A-58EA197292F2}"/>
              </a:ext>
            </a:extLst>
          </p:cNvPr>
          <p:cNvSpPr/>
          <p:nvPr/>
        </p:nvSpPr>
        <p:spPr>
          <a:xfrm>
            <a:off x="1069848" y="4320401"/>
            <a:ext cx="10497312" cy="594360"/>
          </a:xfrm>
          <a:prstGeom prst="rect">
            <a:avLst/>
          </a:prstGeom>
          <a:noFill/>
          <a:ln/>
        </p:spPr>
        <p:txBody>
          <a:bodyPr wrap="square" rtlCol="0" anchor="t"/>
          <a:lstStyle/>
          <a:p>
            <a:pPr>
              <a:lnSpc>
                <a:spcPct val="115000"/>
              </a:lnSpc>
            </a:pPr>
            <a:r>
              <a:rPr lang="en-IN" sz="1600" b="1" dirty="0"/>
              <a:t>Refunds are evenly split across all four products (25% each), indicating that total refund count is uniform regardless of sales volume differences.</a:t>
            </a:r>
            <a:endParaRPr lang="en-US" sz="1600" b="1" dirty="0"/>
          </a:p>
        </p:txBody>
      </p:sp>
      <p:sp>
        <p:nvSpPr>
          <p:cNvPr id="84" name="Shape 28">
            <a:extLst>
              <a:ext uri="{FF2B5EF4-FFF2-40B4-BE49-F238E27FC236}">
                <a16:creationId xmlns:a16="http://schemas.microsoft.com/office/drawing/2014/main" id="{61778C7F-5848-AD3B-75C6-99785EAE4A87}"/>
              </a:ext>
            </a:extLst>
          </p:cNvPr>
          <p:cNvSpPr/>
          <p:nvPr/>
        </p:nvSpPr>
        <p:spPr>
          <a:xfrm>
            <a:off x="548640" y="4425557"/>
            <a:ext cx="384048" cy="384048"/>
          </a:xfrm>
          <a:prstGeom prst="ellipse">
            <a:avLst/>
          </a:prstGeom>
          <a:solidFill>
            <a:srgbClr val="990011"/>
          </a:solidFill>
          <a:ln/>
        </p:spPr>
        <p:txBody>
          <a:bodyPr/>
          <a:lstStyle/>
          <a:p>
            <a:endParaRPr lang="en-IN"/>
          </a:p>
        </p:txBody>
      </p:sp>
      <p:sp>
        <p:nvSpPr>
          <p:cNvPr id="86" name="Text 29">
            <a:extLst>
              <a:ext uri="{FF2B5EF4-FFF2-40B4-BE49-F238E27FC236}">
                <a16:creationId xmlns:a16="http://schemas.microsoft.com/office/drawing/2014/main" id="{FDA54466-FA69-E124-D0F0-B04305B55989}"/>
              </a:ext>
            </a:extLst>
          </p:cNvPr>
          <p:cNvSpPr/>
          <p:nvPr/>
        </p:nvSpPr>
        <p:spPr>
          <a:xfrm>
            <a:off x="548640" y="4425557"/>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88" name="Text 31">
            <a:extLst>
              <a:ext uri="{FF2B5EF4-FFF2-40B4-BE49-F238E27FC236}">
                <a16:creationId xmlns:a16="http://schemas.microsoft.com/office/drawing/2014/main" id="{9FA18F57-3621-694D-6056-B299949EB195}"/>
              </a:ext>
            </a:extLst>
          </p:cNvPr>
          <p:cNvSpPr/>
          <p:nvPr/>
        </p:nvSpPr>
        <p:spPr>
          <a:xfrm>
            <a:off x="1115568" y="1517764"/>
            <a:ext cx="10497312" cy="914680"/>
          </a:xfrm>
          <a:prstGeom prst="rect">
            <a:avLst/>
          </a:prstGeom>
          <a:noFill/>
          <a:ln/>
        </p:spPr>
        <p:txBody>
          <a:bodyPr wrap="square" rtlCol="0" anchor="t"/>
          <a:lstStyle/>
          <a:p>
            <a:pPr>
              <a:lnSpc>
                <a:spcPct val="115000"/>
              </a:lnSpc>
            </a:pPr>
            <a:r>
              <a:rPr lang="en-IN" sz="1600" b="1" dirty="0"/>
              <a:t>There is a very high cross-sell conversion. Customers are very receptive to cross-sell recommendations. For every 2 primary items added to a cart, 1 additional recommended item is successfully added. There is an opportunity to attach cross-sells to lower-performing items like The Hudson River Mini Bear.</a:t>
            </a:r>
            <a:endParaRPr lang="en-US" sz="1600" b="1" dirty="0"/>
          </a:p>
        </p:txBody>
      </p:sp>
      <p:sp>
        <p:nvSpPr>
          <p:cNvPr id="90" name="Text 27">
            <a:extLst>
              <a:ext uri="{FF2B5EF4-FFF2-40B4-BE49-F238E27FC236}">
                <a16:creationId xmlns:a16="http://schemas.microsoft.com/office/drawing/2014/main" id="{817E707D-184C-1BA6-FFC9-3774B3EF76DA}"/>
              </a:ext>
            </a:extLst>
          </p:cNvPr>
          <p:cNvSpPr/>
          <p:nvPr/>
        </p:nvSpPr>
        <p:spPr>
          <a:xfrm>
            <a:off x="1069848" y="5225846"/>
            <a:ext cx="10469880" cy="900403"/>
          </a:xfrm>
          <a:prstGeom prst="rect">
            <a:avLst/>
          </a:prstGeom>
          <a:noFill/>
          <a:ln/>
        </p:spPr>
        <p:txBody>
          <a:bodyPr wrap="square" rtlCol="0" anchor="t"/>
          <a:lstStyle/>
          <a:p>
            <a:pPr lvl="0"/>
            <a:r>
              <a:rPr lang="en-IN" sz="1600" b="1" dirty="0"/>
              <a:t>More than 90% of the total returns are of the low performing products.</a:t>
            </a:r>
          </a:p>
        </p:txBody>
      </p:sp>
      <p:sp>
        <p:nvSpPr>
          <p:cNvPr id="92" name="Shape 28">
            <a:extLst>
              <a:ext uri="{FF2B5EF4-FFF2-40B4-BE49-F238E27FC236}">
                <a16:creationId xmlns:a16="http://schemas.microsoft.com/office/drawing/2014/main" id="{63C856FA-8054-EC32-C280-1ACE4642B38E}"/>
              </a:ext>
            </a:extLst>
          </p:cNvPr>
          <p:cNvSpPr/>
          <p:nvPr/>
        </p:nvSpPr>
        <p:spPr>
          <a:xfrm>
            <a:off x="548640" y="5216514"/>
            <a:ext cx="384048" cy="384048"/>
          </a:xfrm>
          <a:prstGeom prst="ellipse">
            <a:avLst/>
          </a:prstGeom>
          <a:solidFill>
            <a:srgbClr val="990011"/>
          </a:solidFill>
          <a:ln/>
        </p:spPr>
        <p:txBody>
          <a:bodyPr/>
          <a:lstStyle/>
          <a:p>
            <a:endParaRPr lang="en-IN"/>
          </a:p>
        </p:txBody>
      </p:sp>
      <p:sp>
        <p:nvSpPr>
          <p:cNvPr id="94" name="Text 29">
            <a:extLst>
              <a:ext uri="{FF2B5EF4-FFF2-40B4-BE49-F238E27FC236}">
                <a16:creationId xmlns:a16="http://schemas.microsoft.com/office/drawing/2014/main" id="{3AA09816-10EB-6D4F-97C3-B43174354954}"/>
              </a:ext>
            </a:extLst>
          </p:cNvPr>
          <p:cNvSpPr/>
          <p:nvPr/>
        </p:nvSpPr>
        <p:spPr>
          <a:xfrm>
            <a:off x="548640" y="5216514"/>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rPr>
              <a:t>5</a:t>
            </a:r>
            <a:endParaRPr lang="en-US" sz="1400" dirty="0"/>
          </a:p>
        </p:txBody>
      </p:sp>
    </p:spTree>
    <p:extLst>
      <p:ext uri="{BB962C8B-B14F-4D97-AF65-F5344CB8AC3E}">
        <p14:creationId xmlns:p14="http://schemas.microsoft.com/office/powerpoint/2010/main" val="2381770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F3C7E"/>
          </a:solidFill>
          <a:ln/>
        </p:spPr>
        <p:txBody>
          <a:bodyPr/>
          <a:lstStyle/>
          <a:p>
            <a:endParaRPr lang="en-IN"/>
          </a:p>
        </p:txBody>
      </p:sp>
      <p:sp>
        <p:nvSpPr>
          <p:cNvPr id="3" name="Shape 1"/>
          <p:cNvSpPr/>
          <p:nvPr/>
        </p:nvSpPr>
        <p:spPr>
          <a:xfrm>
            <a:off x="457200" y="256032"/>
            <a:ext cx="685800" cy="685800"/>
          </a:xfrm>
          <a:prstGeom prst="ellipse">
            <a:avLst/>
          </a:prstGeom>
          <a:solidFill>
            <a:srgbClr val="F96167"/>
          </a:solidFill>
          <a:ln/>
        </p:spPr>
        <p:txBody>
          <a:bodyPr/>
          <a:lstStyle/>
          <a:p>
            <a:endParaRPr lang="en-IN"/>
          </a:p>
        </p:txBody>
      </p:sp>
      <p:pic>
        <p:nvPicPr>
          <p:cNvPr id="4" name="Image 0" descr="/home/claude/pptxbuild/icons/users.png"/>
          <p:cNvPicPr>
            <a:picLocks noChangeAspect="1"/>
          </p:cNvPicPr>
          <p:nvPr/>
        </p:nvPicPr>
        <p:blipFill>
          <a:blip r:embed="rId3"/>
          <a:stretch>
            <a:fillRect/>
          </a:stretch>
        </p:blipFill>
        <p:spPr>
          <a:xfrm>
            <a:off x="621792" y="420624"/>
            <a:ext cx="356616" cy="356616"/>
          </a:xfrm>
          <a:prstGeom prst="rect">
            <a:avLst/>
          </a:prstGeom>
        </p:spPr>
      </p:pic>
      <p:sp>
        <p:nvSpPr>
          <p:cNvPr id="5" name="Text 2"/>
          <p:cNvSpPr/>
          <p:nvPr/>
        </p:nvSpPr>
        <p:spPr>
          <a:xfrm>
            <a:off x="1325880" y="201168"/>
            <a:ext cx="82296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5.4  Customer Behaviour</a:t>
            </a:r>
            <a:endParaRPr lang="en-US" sz="2400" dirty="0"/>
          </a:p>
        </p:txBody>
      </p:sp>
      <p:sp>
        <p:nvSpPr>
          <p:cNvPr id="6" name="Text 3"/>
          <p:cNvSpPr/>
          <p:nvPr/>
        </p:nvSpPr>
        <p:spPr>
          <a:xfrm>
            <a:off x="1325880" y="685800"/>
            <a:ext cx="10241280" cy="457200"/>
          </a:xfrm>
          <a:prstGeom prst="rect">
            <a:avLst/>
          </a:prstGeom>
          <a:noFill/>
          <a:ln/>
        </p:spPr>
        <p:txBody>
          <a:bodyPr wrap="square" rtlCol="0" anchor="t"/>
          <a:lstStyle/>
          <a:p>
            <a:pPr marL="0" indent="0">
              <a:buNone/>
            </a:pPr>
            <a:r>
              <a:rPr lang="en-US" sz="1150" dirty="0">
                <a:solidFill>
                  <a:srgbClr val="D8DCF2"/>
                </a:solidFill>
                <a:latin typeface="Calibri" pitchFamily="34" charset="0"/>
                <a:ea typeface="Calibri" pitchFamily="34" charset="-122"/>
                <a:cs typeface="Calibri" pitchFamily="34" charset="-120"/>
              </a:rPr>
              <a:t>Segments the customer base — new vs. repeat, at-risk vs. active, device type — with basket size and AOV by segment.</a:t>
            </a:r>
            <a:endParaRPr lang="en-US" sz="1150" dirty="0"/>
          </a:p>
        </p:txBody>
      </p:sp>
      <p:pic>
        <p:nvPicPr>
          <p:cNvPr id="8" name="Picture 7">
            <a:extLst>
              <a:ext uri="{FF2B5EF4-FFF2-40B4-BE49-F238E27FC236}">
                <a16:creationId xmlns:a16="http://schemas.microsoft.com/office/drawing/2014/main" id="{E66A3D14-0204-5F10-653C-E346B64B0CB9}"/>
              </a:ext>
            </a:extLst>
          </p:cNvPr>
          <p:cNvPicPr>
            <a:picLocks noChangeAspect="1"/>
          </p:cNvPicPr>
          <p:nvPr/>
        </p:nvPicPr>
        <p:blipFill>
          <a:blip r:embed="rId4"/>
          <a:stretch>
            <a:fillRect/>
          </a:stretch>
        </p:blipFill>
        <p:spPr>
          <a:xfrm>
            <a:off x="1244166" y="1272115"/>
            <a:ext cx="9703668" cy="548765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59A8D-C540-6E79-026E-E1602750990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F4089A3-34A7-C2A7-F877-85A4AB504BCC}"/>
              </a:ext>
            </a:extLst>
          </p:cNvPr>
          <p:cNvSpPr/>
          <p:nvPr/>
        </p:nvSpPr>
        <p:spPr>
          <a:xfrm>
            <a:off x="0" y="0"/>
            <a:ext cx="12188952" cy="1188720"/>
          </a:xfrm>
          <a:prstGeom prst="rect">
            <a:avLst/>
          </a:prstGeom>
          <a:solidFill>
            <a:srgbClr val="2F3C7E"/>
          </a:solidFill>
          <a:ln/>
        </p:spPr>
        <p:txBody>
          <a:bodyPr/>
          <a:lstStyle/>
          <a:p>
            <a:endParaRPr lang="en-IN"/>
          </a:p>
        </p:txBody>
      </p:sp>
      <p:sp>
        <p:nvSpPr>
          <p:cNvPr id="3" name="Shape 1">
            <a:extLst>
              <a:ext uri="{FF2B5EF4-FFF2-40B4-BE49-F238E27FC236}">
                <a16:creationId xmlns:a16="http://schemas.microsoft.com/office/drawing/2014/main" id="{6F4AA4FB-3D49-98DB-4100-8BAF84B879DA}"/>
              </a:ext>
            </a:extLst>
          </p:cNvPr>
          <p:cNvSpPr/>
          <p:nvPr/>
        </p:nvSpPr>
        <p:spPr>
          <a:xfrm>
            <a:off x="457200" y="256032"/>
            <a:ext cx="685800" cy="685800"/>
          </a:xfrm>
          <a:prstGeom prst="ellipse">
            <a:avLst/>
          </a:prstGeom>
          <a:solidFill>
            <a:srgbClr val="F96167"/>
          </a:solidFill>
          <a:ln/>
        </p:spPr>
        <p:txBody>
          <a:bodyPr/>
          <a:lstStyle/>
          <a:p>
            <a:endParaRPr lang="en-IN"/>
          </a:p>
        </p:txBody>
      </p:sp>
      <p:pic>
        <p:nvPicPr>
          <p:cNvPr id="4" name="Image 0" descr="/home/claude/pptxbuild/icons/users.png">
            <a:extLst>
              <a:ext uri="{FF2B5EF4-FFF2-40B4-BE49-F238E27FC236}">
                <a16:creationId xmlns:a16="http://schemas.microsoft.com/office/drawing/2014/main" id="{AF81450D-9AA6-52E5-BE84-CFC45CF796D7}"/>
              </a:ext>
            </a:extLst>
          </p:cNvPr>
          <p:cNvPicPr>
            <a:picLocks noChangeAspect="1"/>
          </p:cNvPicPr>
          <p:nvPr/>
        </p:nvPicPr>
        <p:blipFill>
          <a:blip r:embed="rId3"/>
          <a:stretch>
            <a:fillRect/>
          </a:stretch>
        </p:blipFill>
        <p:spPr>
          <a:xfrm>
            <a:off x="621792" y="420624"/>
            <a:ext cx="356616" cy="356616"/>
          </a:xfrm>
          <a:prstGeom prst="rect">
            <a:avLst/>
          </a:prstGeom>
        </p:spPr>
      </p:pic>
      <p:sp>
        <p:nvSpPr>
          <p:cNvPr id="5" name="Text 2">
            <a:extLst>
              <a:ext uri="{FF2B5EF4-FFF2-40B4-BE49-F238E27FC236}">
                <a16:creationId xmlns:a16="http://schemas.microsoft.com/office/drawing/2014/main" id="{766CBEB7-FF08-C12E-BB4D-E30EA9A82A42}"/>
              </a:ext>
            </a:extLst>
          </p:cNvPr>
          <p:cNvSpPr/>
          <p:nvPr/>
        </p:nvSpPr>
        <p:spPr>
          <a:xfrm>
            <a:off x="1325880" y="201168"/>
            <a:ext cx="82296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5.4  Customer Behaviour</a:t>
            </a:r>
            <a:endParaRPr lang="en-US" sz="2400" dirty="0"/>
          </a:p>
        </p:txBody>
      </p:sp>
      <p:sp>
        <p:nvSpPr>
          <p:cNvPr id="6" name="Text 3">
            <a:extLst>
              <a:ext uri="{FF2B5EF4-FFF2-40B4-BE49-F238E27FC236}">
                <a16:creationId xmlns:a16="http://schemas.microsoft.com/office/drawing/2014/main" id="{C45C39DE-48F9-E0D9-600E-DF849469C0D8}"/>
              </a:ext>
            </a:extLst>
          </p:cNvPr>
          <p:cNvSpPr/>
          <p:nvPr/>
        </p:nvSpPr>
        <p:spPr>
          <a:xfrm>
            <a:off x="1325880" y="685800"/>
            <a:ext cx="10241280" cy="457200"/>
          </a:xfrm>
          <a:prstGeom prst="rect">
            <a:avLst/>
          </a:prstGeom>
          <a:noFill/>
          <a:ln/>
        </p:spPr>
        <p:txBody>
          <a:bodyPr wrap="square" rtlCol="0" anchor="t"/>
          <a:lstStyle/>
          <a:p>
            <a:pPr marL="0" indent="0">
              <a:buNone/>
            </a:pPr>
            <a:r>
              <a:rPr lang="en-US" sz="1150" dirty="0">
                <a:solidFill>
                  <a:srgbClr val="D8DCF2"/>
                </a:solidFill>
                <a:latin typeface="Calibri" pitchFamily="34" charset="0"/>
                <a:ea typeface="Calibri" pitchFamily="34" charset="-122"/>
                <a:cs typeface="Calibri" pitchFamily="34" charset="-120"/>
              </a:rPr>
              <a:t>Segments the customer base — new vs. repeat, at-risk vs. active, device type — with basket size and AOV by segment.</a:t>
            </a:r>
            <a:endParaRPr lang="en-US" sz="1150" dirty="0"/>
          </a:p>
        </p:txBody>
      </p:sp>
      <p:sp>
        <p:nvSpPr>
          <p:cNvPr id="42" name="Shape 16">
            <a:extLst>
              <a:ext uri="{FF2B5EF4-FFF2-40B4-BE49-F238E27FC236}">
                <a16:creationId xmlns:a16="http://schemas.microsoft.com/office/drawing/2014/main" id="{31AB3FB5-ADF0-7ADD-3DFC-ADD1C4A2EBAF}"/>
              </a:ext>
            </a:extLst>
          </p:cNvPr>
          <p:cNvSpPr/>
          <p:nvPr/>
        </p:nvSpPr>
        <p:spPr>
          <a:xfrm>
            <a:off x="548640" y="1783080"/>
            <a:ext cx="384048" cy="384048"/>
          </a:xfrm>
          <a:prstGeom prst="ellipse">
            <a:avLst/>
          </a:prstGeom>
          <a:solidFill>
            <a:srgbClr val="990011"/>
          </a:solidFill>
          <a:ln/>
        </p:spPr>
        <p:txBody>
          <a:bodyPr/>
          <a:lstStyle/>
          <a:p>
            <a:endParaRPr lang="en-IN"/>
          </a:p>
        </p:txBody>
      </p:sp>
      <p:sp>
        <p:nvSpPr>
          <p:cNvPr id="44" name="Text 17">
            <a:extLst>
              <a:ext uri="{FF2B5EF4-FFF2-40B4-BE49-F238E27FC236}">
                <a16:creationId xmlns:a16="http://schemas.microsoft.com/office/drawing/2014/main" id="{56630121-5504-CB0B-58C8-1D3E0B09398C}"/>
              </a:ext>
            </a:extLst>
          </p:cNvPr>
          <p:cNvSpPr/>
          <p:nvPr/>
        </p:nvSpPr>
        <p:spPr>
          <a:xfrm>
            <a:off x="548640" y="178308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46" name="Text 19">
            <a:extLst>
              <a:ext uri="{FF2B5EF4-FFF2-40B4-BE49-F238E27FC236}">
                <a16:creationId xmlns:a16="http://schemas.microsoft.com/office/drawing/2014/main" id="{02E9ECA1-5E44-CE50-607D-DF21255ECBAB}"/>
              </a:ext>
            </a:extLst>
          </p:cNvPr>
          <p:cNvSpPr/>
          <p:nvPr/>
        </p:nvSpPr>
        <p:spPr>
          <a:xfrm>
            <a:off x="1115568" y="2788920"/>
            <a:ext cx="10497312" cy="489204"/>
          </a:xfrm>
          <a:prstGeom prst="rect">
            <a:avLst/>
          </a:prstGeom>
          <a:noFill/>
          <a:ln/>
        </p:spPr>
        <p:txBody>
          <a:bodyPr wrap="square" rtlCol="0" anchor="t"/>
          <a:lstStyle/>
          <a:p>
            <a:pPr>
              <a:lnSpc>
                <a:spcPct val="115000"/>
              </a:lnSpc>
            </a:pPr>
            <a:r>
              <a:rPr lang="en-IN" sz="1600" b="1" dirty="0"/>
              <a:t>First-time buyers present significantly higher retention or transaction risk than returning buyers.</a:t>
            </a:r>
            <a:endParaRPr lang="en-US" sz="1600" b="1" dirty="0"/>
          </a:p>
        </p:txBody>
      </p:sp>
      <p:sp>
        <p:nvSpPr>
          <p:cNvPr id="48" name="Shape 20">
            <a:extLst>
              <a:ext uri="{FF2B5EF4-FFF2-40B4-BE49-F238E27FC236}">
                <a16:creationId xmlns:a16="http://schemas.microsoft.com/office/drawing/2014/main" id="{6A0AF838-24E6-366A-7A47-F265E2E6FF99}"/>
              </a:ext>
            </a:extLst>
          </p:cNvPr>
          <p:cNvSpPr/>
          <p:nvPr/>
        </p:nvSpPr>
        <p:spPr>
          <a:xfrm>
            <a:off x="548640" y="2788920"/>
            <a:ext cx="384048" cy="384048"/>
          </a:xfrm>
          <a:prstGeom prst="ellipse">
            <a:avLst/>
          </a:prstGeom>
          <a:solidFill>
            <a:srgbClr val="990011"/>
          </a:solidFill>
          <a:ln/>
        </p:spPr>
        <p:txBody>
          <a:bodyPr/>
          <a:lstStyle/>
          <a:p>
            <a:endParaRPr lang="en-IN"/>
          </a:p>
        </p:txBody>
      </p:sp>
      <p:sp>
        <p:nvSpPr>
          <p:cNvPr id="50" name="Text 21">
            <a:extLst>
              <a:ext uri="{FF2B5EF4-FFF2-40B4-BE49-F238E27FC236}">
                <a16:creationId xmlns:a16="http://schemas.microsoft.com/office/drawing/2014/main" id="{B5DE4E75-3763-0B16-F4BA-B2FC500DA790}"/>
              </a:ext>
            </a:extLst>
          </p:cNvPr>
          <p:cNvSpPr/>
          <p:nvPr/>
        </p:nvSpPr>
        <p:spPr>
          <a:xfrm>
            <a:off x="548640" y="278892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52" name="Text 23">
            <a:extLst>
              <a:ext uri="{FF2B5EF4-FFF2-40B4-BE49-F238E27FC236}">
                <a16:creationId xmlns:a16="http://schemas.microsoft.com/office/drawing/2014/main" id="{C40097D9-AED4-07F0-F6C5-874CEFB5DB00}"/>
              </a:ext>
            </a:extLst>
          </p:cNvPr>
          <p:cNvSpPr/>
          <p:nvPr/>
        </p:nvSpPr>
        <p:spPr>
          <a:xfrm>
            <a:off x="1115568" y="3689604"/>
            <a:ext cx="10497312" cy="594360"/>
          </a:xfrm>
          <a:prstGeom prst="rect">
            <a:avLst/>
          </a:prstGeom>
          <a:noFill/>
          <a:ln/>
        </p:spPr>
        <p:txBody>
          <a:bodyPr wrap="square" rtlCol="0" anchor="t"/>
          <a:lstStyle/>
          <a:p>
            <a:pPr lvl="0"/>
            <a:r>
              <a:rPr lang="en-IN" sz="1600" b="1" dirty="0"/>
              <a:t>bsearch, Direct, and gsearch attract a higher proportion of Repeated Customers compared to New Customers, socialbook exclusively drives New Customers with zero visible representation from returning customers.</a:t>
            </a:r>
          </a:p>
        </p:txBody>
      </p:sp>
      <p:sp>
        <p:nvSpPr>
          <p:cNvPr id="54" name="Shape 24">
            <a:extLst>
              <a:ext uri="{FF2B5EF4-FFF2-40B4-BE49-F238E27FC236}">
                <a16:creationId xmlns:a16="http://schemas.microsoft.com/office/drawing/2014/main" id="{900FA2A2-74E3-F119-9203-9C7511551939}"/>
              </a:ext>
            </a:extLst>
          </p:cNvPr>
          <p:cNvSpPr/>
          <p:nvPr/>
        </p:nvSpPr>
        <p:spPr>
          <a:xfrm>
            <a:off x="548640" y="3794760"/>
            <a:ext cx="384048" cy="384048"/>
          </a:xfrm>
          <a:prstGeom prst="ellipse">
            <a:avLst/>
          </a:prstGeom>
          <a:solidFill>
            <a:srgbClr val="990011"/>
          </a:solidFill>
          <a:ln/>
        </p:spPr>
        <p:txBody>
          <a:bodyPr/>
          <a:lstStyle/>
          <a:p>
            <a:endParaRPr lang="en-IN"/>
          </a:p>
        </p:txBody>
      </p:sp>
      <p:sp>
        <p:nvSpPr>
          <p:cNvPr id="56" name="Text 25">
            <a:extLst>
              <a:ext uri="{FF2B5EF4-FFF2-40B4-BE49-F238E27FC236}">
                <a16:creationId xmlns:a16="http://schemas.microsoft.com/office/drawing/2014/main" id="{22E8ED50-D69B-9629-FCDC-599067C2E948}"/>
              </a:ext>
            </a:extLst>
          </p:cNvPr>
          <p:cNvSpPr/>
          <p:nvPr/>
        </p:nvSpPr>
        <p:spPr>
          <a:xfrm>
            <a:off x="548640" y="379476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58" name="Text 27">
            <a:extLst>
              <a:ext uri="{FF2B5EF4-FFF2-40B4-BE49-F238E27FC236}">
                <a16:creationId xmlns:a16="http://schemas.microsoft.com/office/drawing/2014/main" id="{661ECD75-283D-5676-6FAA-CBAEA0A1A014}"/>
              </a:ext>
            </a:extLst>
          </p:cNvPr>
          <p:cNvSpPr/>
          <p:nvPr/>
        </p:nvSpPr>
        <p:spPr>
          <a:xfrm>
            <a:off x="1143000" y="4602137"/>
            <a:ext cx="10497312" cy="986899"/>
          </a:xfrm>
          <a:prstGeom prst="rect">
            <a:avLst/>
          </a:prstGeom>
          <a:noFill/>
          <a:ln/>
        </p:spPr>
        <p:txBody>
          <a:bodyPr wrap="square" rtlCol="0" anchor="t"/>
          <a:lstStyle/>
          <a:p>
            <a:pPr>
              <a:lnSpc>
                <a:spcPct val="115000"/>
              </a:lnSpc>
            </a:pPr>
            <a:r>
              <a:rPr lang="en-US" sz="1600" b="1" dirty="0">
                <a:latin typeface="Calibri" pitchFamily="34" charset="0"/>
                <a:ea typeface="Calibri" pitchFamily="34" charset="-122"/>
                <a:cs typeface="Calibri" pitchFamily="34" charset="-120"/>
              </a:rPr>
              <a:t>More than 99% of the entire user base resides on entry or mid level tier. There is a strong transition of customers from bronze to silver tier, but transition to gold tier is very weak. Need to audit what it takes to reach to gold tier and revamp that if possible.</a:t>
            </a:r>
            <a:endParaRPr lang="en-US" sz="1600" b="1" dirty="0"/>
          </a:p>
        </p:txBody>
      </p:sp>
      <p:sp>
        <p:nvSpPr>
          <p:cNvPr id="60" name="Shape 28">
            <a:extLst>
              <a:ext uri="{FF2B5EF4-FFF2-40B4-BE49-F238E27FC236}">
                <a16:creationId xmlns:a16="http://schemas.microsoft.com/office/drawing/2014/main" id="{965F461F-B98C-2B53-90D6-E7A7EEFA1868}"/>
              </a:ext>
            </a:extLst>
          </p:cNvPr>
          <p:cNvSpPr/>
          <p:nvPr/>
        </p:nvSpPr>
        <p:spPr>
          <a:xfrm>
            <a:off x="548640" y="4800600"/>
            <a:ext cx="384048" cy="384048"/>
          </a:xfrm>
          <a:prstGeom prst="ellipse">
            <a:avLst/>
          </a:prstGeom>
          <a:solidFill>
            <a:srgbClr val="990011"/>
          </a:solidFill>
          <a:ln/>
        </p:spPr>
        <p:txBody>
          <a:bodyPr/>
          <a:lstStyle/>
          <a:p>
            <a:endParaRPr lang="en-IN"/>
          </a:p>
        </p:txBody>
      </p:sp>
      <p:sp>
        <p:nvSpPr>
          <p:cNvPr id="62" name="Text 29">
            <a:extLst>
              <a:ext uri="{FF2B5EF4-FFF2-40B4-BE49-F238E27FC236}">
                <a16:creationId xmlns:a16="http://schemas.microsoft.com/office/drawing/2014/main" id="{C27E104E-817C-948E-BFB6-13150C37510F}"/>
              </a:ext>
            </a:extLst>
          </p:cNvPr>
          <p:cNvSpPr/>
          <p:nvPr/>
        </p:nvSpPr>
        <p:spPr>
          <a:xfrm>
            <a:off x="548640" y="480060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64" name="Text 31">
            <a:extLst>
              <a:ext uri="{FF2B5EF4-FFF2-40B4-BE49-F238E27FC236}">
                <a16:creationId xmlns:a16="http://schemas.microsoft.com/office/drawing/2014/main" id="{BCBA413B-0681-EEBD-C88B-69B54B56CE70}"/>
              </a:ext>
            </a:extLst>
          </p:cNvPr>
          <p:cNvSpPr/>
          <p:nvPr/>
        </p:nvSpPr>
        <p:spPr>
          <a:xfrm>
            <a:off x="1115568" y="1783080"/>
            <a:ext cx="10497312" cy="524381"/>
          </a:xfrm>
          <a:prstGeom prst="rect">
            <a:avLst/>
          </a:prstGeom>
          <a:noFill/>
          <a:ln/>
        </p:spPr>
        <p:txBody>
          <a:bodyPr wrap="square" rtlCol="0" anchor="t"/>
          <a:lstStyle/>
          <a:p>
            <a:pPr>
              <a:lnSpc>
                <a:spcPct val="115000"/>
              </a:lnSpc>
            </a:pPr>
            <a:r>
              <a:rPr lang="en-IN" sz="1600" b="1" dirty="0"/>
              <a:t>Average Order Value is extremely consistent across different customer segments. </a:t>
            </a:r>
            <a:endParaRPr lang="en-US" sz="1600" b="1" dirty="0"/>
          </a:p>
        </p:txBody>
      </p:sp>
    </p:spTree>
    <p:extLst>
      <p:ext uri="{BB962C8B-B14F-4D97-AF65-F5344CB8AC3E}">
        <p14:creationId xmlns:p14="http://schemas.microsoft.com/office/powerpoint/2010/main" val="4058778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F3C7E"/>
          </a:solidFill>
          <a:ln/>
        </p:spPr>
        <p:txBody>
          <a:bodyPr/>
          <a:lstStyle/>
          <a:p>
            <a:endParaRPr lang="en-IN"/>
          </a:p>
        </p:txBody>
      </p:sp>
      <p:sp>
        <p:nvSpPr>
          <p:cNvPr id="3" name="Shape 1"/>
          <p:cNvSpPr/>
          <p:nvPr/>
        </p:nvSpPr>
        <p:spPr>
          <a:xfrm>
            <a:off x="457200" y="256032"/>
            <a:ext cx="685800" cy="685800"/>
          </a:xfrm>
          <a:prstGeom prst="ellipse">
            <a:avLst/>
          </a:prstGeom>
          <a:solidFill>
            <a:srgbClr val="F96167"/>
          </a:solidFill>
          <a:ln/>
        </p:spPr>
        <p:txBody>
          <a:bodyPr/>
          <a:lstStyle/>
          <a:p>
            <a:endParaRPr lang="en-IN"/>
          </a:p>
        </p:txBody>
      </p:sp>
      <p:pic>
        <p:nvPicPr>
          <p:cNvPr id="4" name="Image 0" descr="/home/claude/pptxbuild/icons/clipboard.png"/>
          <p:cNvPicPr>
            <a:picLocks noChangeAspect="1"/>
          </p:cNvPicPr>
          <p:nvPr/>
        </p:nvPicPr>
        <p:blipFill>
          <a:blip r:embed="rId3"/>
          <a:stretch>
            <a:fillRect/>
          </a:stretch>
        </p:blipFill>
        <p:spPr>
          <a:xfrm>
            <a:off x="621792" y="420624"/>
            <a:ext cx="356616" cy="356616"/>
          </a:xfrm>
          <a:prstGeom prst="rect">
            <a:avLst/>
          </a:prstGeom>
        </p:spPr>
      </p:pic>
      <p:sp>
        <p:nvSpPr>
          <p:cNvPr id="5" name="Text 2"/>
          <p:cNvSpPr/>
          <p:nvPr/>
        </p:nvSpPr>
        <p:spPr>
          <a:xfrm>
            <a:off x="1325880" y="201168"/>
            <a:ext cx="82296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5.5  Transaction Analytics</a:t>
            </a:r>
            <a:endParaRPr lang="en-US" sz="2400" dirty="0"/>
          </a:p>
        </p:txBody>
      </p:sp>
      <p:sp>
        <p:nvSpPr>
          <p:cNvPr id="6" name="Text 3"/>
          <p:cNvSpPr/>
          <p:nvPr/>
        </p:nvSpPr>
        <p:spPr>
          <a:xfrm>
            <a:off x="1325880" y="685800"/>
            <a:ext cx="10241280" cy="457200"/>
          </a:xfrm>
          <a:prstGeom prst="rect">
            <a:avLst/>
          </a:prstGeom>
          <a:noFill/>
          <a:ln/>
        </p:spPr>
        <p:txBody>
          <a:bodyPr wrap="square" rtlCol="0" anchor="t"/>
          <a:lstStyle/>
          <a:p>
            <a:pPr marL="0" indent="0">
              <a:buNone/>
            </a:pPr>
            <a:r>
              <a:rPr lang="en-US" sz="1150" dirty="0">
                <a:solidFill>
                  <a:srgbClr val="D8DCF2"/>
                </a:solidFill>
                <a:latin typeface="Calibri" pitchFamily="34" charset="0"/>
                <a:ea typeface="Calibri" pitchFamily="34" charset="-122"/>
                <a:cs typeface="Calibri" pitchFamily="34" charset="-120"/>
              </a:rPr>
              <a:t>Order-level detail: revenue/profit trends, AOV gauge, rolling 3-month sales volume, basket size, revenue by product.</a:t>
            </a:r>
            <a:endParaRPr lang="en-US" sz="1150" dirty="0"/>
          </a:p>
        </p:txBody>
      </p:sp>
      <p:pic>
        <p:nvPicPr>
          <p:cNvPr id="8" name="Picture 7">
            <a:extLst>
              <a:ext uri="{FF2B5EF4-FFF2-40B4-BE49-F238E27FC236}">
                <a16:creationId xmlns:a16="http://schemas.microsoft.com/office/drawing/2014/main" id="{294FAEC7-A4DD-175D-7E8E-7048D9A16ED8}"/>
              </a:ext>
            </a:extLst>
          </p:cNvPr>
          <p:cNvPicPr>
            <a:picLocks noChangeAspect="1"/>
          </p:cNvPicPr>
          <p:nvPr/>
        </p:nvPicPr>
        <p:blipFill>
          <a:blip r:embed="rId4"/>
          <a:stretch>
            <a:fillRect/>
          </a:stretch>
        </p:blipFill>
        <p:spPr>
          <a:xfrm>
            <a:off x="1247847" y="1279736"/>
            <a:ext cx="9696305" cy="549428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58710-8D8D-9B99-BA1F-2462CF739FE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8A39611-D4D7-3BCD-2272-A857CB7DBE4C}"/>
              </a:ext>
            </a:extLst>
          </p:cNvPr>
          <p:cNvSpPr/>
          <p:nvPr/>
        </p:nvSpPr>
        <p:spPr>
          <a:xfrm>
            <a:off x="0" y="0"/>
            <a:ext cx="12188952" cy="1188720"/>
          </a:xfrm>
          <a:prstGeom prst="rect">
            <a:avLst/>
          </a:prstGeom>
          <a:solidFill>
            <a:srgbClr val="2F3C7E"/>
          </a:solidFill>
          <a:ln/>
        </p:spPr>
        <p:txBody>
          <a:bodyPr/>
          <a:lstStyle/>
          <a:p>
            <a:endParaRPr lang="en-IN"/>
          </a:p>
        </p:txBody>
      </p:sp>
      <p:sp>
        <p:nvSpPr>
          <p:cNvPr id="3" name="Shape 1">
            <a:extLst>
              <a:ext uri="{FF2B5EF4-FFF2-40B4-BE49-F238E27FC236}">
                <a16:creationId xmlns:a16="http://schemas.microsoft.com/office/drawing/2014/main" id="{604E7502-AEC1-F8A9-898A-CB814078D147}"/>
              </a:ext>
            </a:extLst>
          </p:cNvPr>
          <p:cNvSpPr/>
          <p:nvPr/>
        </p:nvSpPr>
        <p:spPr>
          <a:xfrm>
            <a:off x="457200" y="256032"/>
            <a:ext cx="685800" cy="685800"/>
          </a:xfrm>
          <a:prstGeom prst="ellipse">
            <a:avLst/>
          </a:prstGeom>
          <a:solidFill>
            <a:srgbClr val="F96167"/>
          </a:solidFill>
          <a:ln/>
        </p:spPr>
        <p:txBody>
          <a:bodyPr/>
          <a:lstStyle/>
          <a:p>
            <a:endParaRPr lang="en-IN"/>
          </a:p>
        </p:txBody>
      </p:sp>
      <p:pic>
        <p:nvPicPr>
          <p:cNvPr id="4" name="Image 0" descr="/home/claude/pptxbuild/icons/clipboard.png">
            <a:extLst>
              <a:ext uri="{FF2B5EF4-FFF2-40B4-BE49-F238E27FC236}">
                <a16:creationId xmlns:a16="http://schemas.microsoft.com/office/drawing/2014/main" id="{81833C43-280E-E763-1B5D-A0BC55AEF0C0}"/>
              </a:ext>
            </a:extLst>
          </p:cNvPr>
          <p:cNvPicPr>
            <a:picLocks noChangeAspect="1"/>
          </p:cNvPicPr>
          <p:nvPr/>
        </p:nvPicPr>
        <p:blipFill>
          <a:blip r:embed="rId3"/>
          <a:stretch>
            <a:fillRect/>
          </a:stretch>
        </p:blipFill>
        <p:spPr>
          <a:xfrm>
            <a:off x="621792" y="420624"/>
            <a:ext cx="356616" cy="356616"/>
          </a:xfrm>
          <a:prstGeom prst="rect">
            <a:avLst/>
          </a:prstGeom>
        </p:spPr>
      </p:pic>
      <p:sp>
        <p:nvSpPr>
          <p:cNvPr id="5" name="Text 2">
            <a:extLst>
              <a:ext uri="{FF2B5EF4-FFF2-40B4-BE49-F238E27FC236}">
                <a16:creationId xmlns:a16="http://schemas.microsoft.com/office/drawing/2014/main" id="{AE66250E-41A6-96BF-D041-2A88B1BC699F}"/>
              </a:ext>
            </a:extLst>
          </p:cNvPr>
          <p:cNvSpPr/>
          <p:nvPr/>
        </p:nvSpPr>
        <p:spPr>
          <a:xfrm>
            <a:off x="1325880" y="201168"/>
            <a:ext cx="82296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5.5  Transaction Analytics</a:t>
            </a:r>
            <a:endParaRPr lang="en-US" sz="2400" dirty="0"/>
          </a:p>
        </p:txBody>
      </p:sp>
      <p:sp>
        <p:nvSpPr>
          <p:cNvPr id="6" name="Text 3">
            <a:extLst>
              <a:ext uri="{FF2B5EF4-FFF2-40B4-BE49-F238E27FC236}">
                <a16:creationId xmlns:a16="http://schemas.microsoft.com/office/drawing/2014/main" id="{057CE95A-5BC5-EB5B-1C5E-680BFEFBF4F5}"/>
              </a:ext>
            </a:extLst>
          </p:cNvPr>
          <p:cNvSpPr/>
          <p:nvPr/>
        </p:nvSpPr>
        <p:spPr>
          <a:xfrm>
            <a:off x="1325880" y="685800"/>
            <a:ext cx="10241280" cy="457200"/>
          </a:xfrm>
          <a:prstGeom prst="rect">
            <a:avLst/>
          </a:prstGeom>
          <a:noFill/>
          <a:ln/>
        </p:spPr>
        <p:txBody>
          <a:bodyPr wrap="square" rtlCol="0" anchor="t"/>
          <a:lstStyle/>
          <a:p>
            <a:pPr marL="0" indent="0">
              <a:buNone/>
            </a:pPr>
            <a:r>
              <a:rPr lang="en-US" sz="1150" dirty="0">
                <a:solidFill>
                  <a:srgbClr val="D8DCF2"/>
                </a:solidFill>
                <a:latin typeface="Calibri" pitchFamily="34" charset="0"/>
                <a:ea typeface="Calibri" pitchFamily="34" charset="-122"/>
                <a:cs typeface="Calibri" pitchFamily="34" charset="-120"/>
              </a:rPr>
              <a:t>Order-level detail: revenue/profit trends, AOV gauge, rolling 3-month sales volume, basket size, revenue by product.</a:t>
            </a:r>
            <a:endParaRPr lang="en-US" sz="1150" dirty="0"/>
          </a:p>
        </p:txBody>
      </p:sp>
      <p:sp>
        <p:nvSpPr>
          <p:cNvPr id="42" name="Shape 16">
            <a:extLst>
              <a:ext uri="{FF2B5EF4-FFF2-40B4-BE49-F238E27FC236}">
                <a16:creationId xmlns:a16="http://schemas.microsoft.com/office/drawing/2014/main" id="{F828C614-97C0-11A5-46B8-8C40B9F99655}"/>
              </a:ext>
            </a:extLst>
          </p:cNvPr>
          <p:cNvSpPr/>
          <p:nvPr/>
        </p:nvSpPr>
        <p:spPr>
          <a:xfrm>
            <a:off x="548640" y="1783080"/>
            <a:ext cx="384048" cy="384048"/>
          </a:xfrm>
          <a:prstGeom prst="ellipse">
            <a:avLst/>
          </a:prstGeom>
          <a:solidFill>
            <a:srgbClr val="990011"/>
          </a:solidFill>
          <a:ln/>
        </p:spPr>
        <p:txBody>
          <a:bodyPr/>
          <a:lstStyle/>
          <a:p>
            <a:endParaRPr lang="en-IN"/>
          </a:p>
        </p:txBody>
      </p:sp>
      <p:sp>
        <p:nvSpPr>
          <p:cNvPr id="44" name="Text 17">
            <a:extLst>
              <a:ext uri="{FF2B5EF4-FFF2-40B4-BE49-F238E27FC236}">
                <a16:creationId xmlns:a16="http://schemas.microsoft.com/office/drawing/2014/main" id="{17E2E440-6E3C-4A08-F147-31C1E4B457C3}"/>
              </a:ext>
            </a:extLst>
          </p:cNvPr>
          <p:cNvSpPr/>
          <p:nvPr/>
        </p:nvSpPr>
        <p:spPr>
          <a:xfrm>
            <a:off x="548640" y="178308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46" name="Text 19">
            <a:extLst>
              <a:ext uri="{FF2B5EF4-FFF2-40B4-BE49-F238E27FC236}">
                <a16:creationId xmlns:a16="http://schemas.microsoft.com/office/drawing/2014/main" id="{CA861244-F582-8D8E-3702-0C97B2B921D3}"/>
              </a:ext>
            </a:extLst>
          </p:cNvPr>
          <p:cNvSpPr/>
          <p:nvPr/>
        </p:nvSpPr>
        <p:spPr>
          <a:xfrm>
            <a:off x="1115568" y="2523604"/>
            <a:ext cx="10497312" cy="914680"/>
          </a:xfrm>
          <a:prstGeom prst="rect">
            <a:avLst/>
          </a:prstGeom>
          <a:noFill/>
          <a:ln/>
        </p:spPr>
        <p:txBody>
          <a:bodyPr wrap="square" rtlCol="0" anchor="t"/>
          <a:lstStyle/>
          <a:p>
            <a:pPr lvl="0"/>
            <a:r>
              <a:rPr lang="en-IN" sz="1600" b="1" dirty="0"/>
              <a:t>Order volume reaches its highest points (2 orders) in Jan 2015, Jun 2014, and Nov 2014. This drops to 1 order in periods like Aug 2014, Dec 2014, Jun 2013, Mar 2015, Nov 2012, and Sep 2013. The wave pattern highlights strong recurring mid-year and year-end demand spikes.</a:t>
            </a:r>
          </a:p>
        </p:txBody>
      </p:sp>
      <p:sp>
        <p:nvSpPr>
          <p:cNvPr id="48" name="Shape 20">
            <a:extLst>
              <a:ext uri="{FF2B5EF4-FFF2-40B4-BE49-F238E27FC236}">
                <a16:creationId xmlns:a16="http://schemas.microsoft.com/office/drawing/2014/main" id="{DE7F8868-6A59-D618-ED7E-0C9C0184826B}"/>
              </a:ext>
            </a:extLst>
          </p:cNvPr>
          <p:cNvSpPr/>
          <p:nvPr/>
        </p:nvSpPr>
        <p:spPr>
          <a:xfrm>
            <a:off x="548640" y="2788920"/>
            <a:ext cx="384048" cy="384048"/>
          </a:xfrm>
          <a:prstGeom prst="ellipse">
            <a:avLst/>
          </a:prstGeom>
          <a:solidFill>
            <a:srgbClr val="990011"/>
          </a:solidFill>
          <a:ln/>
        </p:spPr>
        <p:txBody>
          <a:bodyPr/>
          <a:lstStyle/>
          <a:p>
            <a:endParaRPr lang="en-IN"/>
          </a:p>
        </p:txBody>
      </p:sp>
      <p:sp>
        <p:nvSpPr>
          <p:cNvPr id="50" name="Text 21">
            <a:extLst>
              <a:ext uri="{FF2B5EF4-FFF2-40B4-BE49-F238E27FC236}">
                <a16:creationId xmlns:a16="http://schemas.microsoft.com/office/drawing/2014/main" id="{268BFFF5-7DC9-64EB-528B-76FD83766C5F}"/>
              </a:ext>
            </a:extLst>
          </p:cNvPr>
          <p:cNvSpPr/>
          <p:nvPr/>
        </p:nvSpPr>
        <p:spPr>
          <a:xfrm>
            <a:off x="548640" y="278892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52" name="Text 23">
            <a:extLst>
              <a:ext uri="{FF2B5EF4-FFF2-40B4-BE49-F238E27FC236}">
                <a16:creationId xmlns:a16="http://schemas.microsoft.com/office/drawing/2014/main" id="{CB4EB542-0FD2-E030-724A-F24DD5E6BF3B}"/>
              </a:ext>
            </a:extLst>
          </p:cNvPr>
          <p:cNvSpPr/>
          <p:nvPr/>
        </p:nvSpPr>
        <p:spPr>
          <a:xfrm>
            <a:off x="1115568" y="3529444"/>
            <a:ext cx="10497312" cy="594359"/>
          </a:xfrm>
          <a:prstGeom prst="rect">
            <a:avLst/>
          </a:prstGeom>
          <a:noFill/>
          <a:ln/>
        </p:spPr>
        <p:txBody>
          <a:bodyPr wrap="square" rtlCol="0" anchor="t"/>
          <a:lstStyle/>
          <a:p>
            <a:pPr>
              <a:lnSpc>
                <a:spcPct val="115000"/>
              </a:lnSpc>
            </a:pPr>
            <a:r>
              <a:rPr lang="en-IN" sz="1600" b="1" dirty="0"/>
              <a:t>Strong profit margins: the business retains over 62 cents of gross profit for every dollar generated. This indicates solid margins, providing comfortable room for paid marketing or promotional discounts.</a:t>
            </a:r>
            <a:endParaRPr lang="en-US" sz="1600" b="1" dirty="0"/>
          </a:p>
        </p:txBody>
      </p:sp>
      <p:sp>
        <p:nvSpPr>
          <p:cNvPr id="54" name="Shape 24">
            <a:extLst>
              <a:ext uri="{FF2B5EF4-FFF2-40B4-BE49-F238E27FC236}">
                <a16:creationId xmlns:a16="http://schemas.microsoft.com/office/drawing/2014/main" id="{2154E6D5-3F1D-29DB-20DC-8C7E77F6498F}"/>
              </a:ext>
            </a:extLst>
          </p:cNvPr>
          <p:cNvSpPr/>
          <p:nvPr/>
        </p:nvSpPr>
        <p:spPr>
          <a:xfrm>
            <a:off x="548640" y="3634600"/>
            <a:ext cx="384048" cy="384048"/>
          </a:xfrm>
          <a:prstGeom prst="ellipse">
            <a:avLst/>
          </a:prstGeom>
          <a:solidFill>
            <a:srgbClr val="990011"/>
          </a:solidFill>
          <a:ln/>
        </p:spPr>
        <p:txBody>
          <a:bodyPr/>
          <a:lstStyle/>
          <a:p>
            <a:endParaRPr lang="en-IN"/>
          </a:p>
        </p:txBody>
      </p:sp>
      <p:sp>
        <p:nvSpPr>
          <p:cNvPr id="56" name="Text 25">
            <a:extLst>
              <a:ext uri="{FF2B5EF4-FFF2-40B4-BE49-F238E27FC236}">
                <a16:creationId xmlns:a16="http://schemas.microsoft.com/office/drawing/2014/main" id="{5C3C14EA-B591-6BC0-9EC8-7C2B2D84B176}"/>
              </a:ext>
            </a:extLst>
          </p:cNvPr>
          <p:cNvSpPr/>
          <p:nvPr/>
        </p:nvSpPr>
        <p:spPr>
          <a:xfrm>
            <a:off x="548640" y="363460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58" name="Text 27">
            <a:extLst>
              <a:ext uri="{FF2B5EF4-FFF2-40B4-BE49-F238E27FC236}">
                <a16:creationId xmlns:a16="http://schemas.microsoft.com/office/drawing/2014/main" id="{027A3420-EB60-B4AB-C6B1-B2D837B5E3A6}"/>
              </a:ext>
            </a:extLst>
          </p:cNvPr>
          <p:cNvSpPr/>
          <p:nvPr/>
        </p:nvSpPr>
        <p:spPr>
          <a:xfrm>
            <a:off x="1069848" y="4320401"/>
            <a:ext cx="10497312" cy="594360"/>
          </a:xfrm>
          <a:prstGeom prst="rect">
            <a:avLst/>
          </a:prstGeom>
          <a:noFill/>
          <a:ln/>
        </p:spPr>
        <p:txBody>
          <a:bodyPr wrap="square" rtlCol="0" anchor="t"/>
          <a:lstStyle/>
          <a:p>
            <a:pPr lvl="0"/>
            <a:r>
              <a:rPr lang="en-IN" sz="1600" b="1" dirty="0"/>
              <a:t>Over three-quarters of all orders contain a single item, The Original Mr. Fuzzy. But only about a quarter of orders contain the other items.</a:t>
            </a:r>
          </a:p>
        </p:txBody>
      </p:sp>
      <p:sp>
        <p:nvSpPr>
          <p:cNvPr id="60" name="Shape 28">
            <a:extLst>
              <a:ext uri="{FF2B5EF4-FFF2-40B4-BE49-F238E27FC236}">
                <a16:creationId xmlns:a16="http://schemas.microsoft.com/office/drawing/2014/main" id="{97B33AD3-70D5-1CCB-5DA9-07BB4BFA673E}"/>
              </a:ext>
            </a:extLst>
          </p:cNvPr>
          <p:cNvSpPr/>
          <p:nvPr/>
        </p:nvSpPr>
        <p:spPr>
          <a:xfrm>
            <a:off x="548640" y="4425557"/>
            <a:ext cx="384048" cy="384048"/>
          </a:xfrm>
          <a:prstGeom prst="ellipse">
            <a:avLst/>
          </a:prstGeom>
          <a:solidFill>
            <a:srgbClr val="990011"/>
          </a:solidFill>
          <a:ln/>
        </p:spPr>
        <p:txBody>
          <a:bodyPr/>
          <a:lstStyle/>
          <a:p>
            <a:endParaRPr lang="en-IN"/>
          </a:p>
        </p:txBody>
      </p:sp>
      <p:sp>
        <p:nvSpPr>
          <p:cNvPr id="62" name="Text 29">
            <a:extLst>
              <a:ext uri="{FF2B5EF4-FFF2-40B4-BE49-F238E27FC236}">
                <a16:creationId xmlns:a16="http://schemas.microsoft.com/office/drawing/2014/main" id="{ED3EE968-49D9-9803-EF80-0DD5040E6377}"/>
              </a:ext>
            </a:extLst>
          </p:cNvPr>
          <p:cNvSpPr/>
          <p:nvPr/>
        </p:nvSpPr>
        <p:spPr>
          <a:xfrm>
            <a:off x="548640" y="4425557"/>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64" name="Text 31">
            <a:extLst>
              <a:ext uri="{FF2B5EF4-FFF2-40B4-BE49-F238E27FC236}">
                <a16:creationId xmlns:a16="http://schemas.microsoft.com/office/drawing/2014/main" id="{4D1CD7D0-23E5-17DE-2D80-6C6036CFD5B4}"/>
              </a:ext>
            </a:extLst>
          </p:cNvPr>
          <p:cNvSpPr/>
          <p:nvPr/>
        </p:nvSpPr>
        <p:spPr>
          <a:xfrm>
            <a:off x="1115568" y="1650422"/>
            <a:ext cx="10497312" cy="649364"/>
          </a:xfrm>
          <a:prstGeom prst="rect">
            <a:avLst/>
          </a:prstGeom>
          <a:noFill/>
          <a:ln/>
        </p:spPr>
        <p:txBody>
          <a:bodyPr wrap="square" rtlCol="0" anchor="t"/>
          <a:lstStyle/>
          <a:p>
            <a:pPr lvl="0"/>
            <a:r>
              <a:rPr lang="en-IN" sz="1600" b="1" dirty="0"/>
              <a:t>The current AOV sits at $59.99. A target threshold line is marked around $55.00, meaning current average spending is beating the baseline target by roughly $5.00.</a:t>
            </a:r>
          </a:p>
        </p:txBody>
      </p:sp>
      <p:sp>
        <p:nvSpPr>
          <p:cNvPr id="66" name="Text 27">
            <a:extLst>
              <a:ext uri="{FF2B5EF4-FFF2-40B4-BE49-F238E27FC236}">
                <a16:creationId xmlns:a16="http://schemas.microsoft.com/office/drawing/2014/main" id="{7DB45F39-2857-D835-4069-07DE4A8E61DA}"/>
              </a:ext>
            </a:extLst>
          </p:cNvPr>
          <p:cNvSpPr/>
          <p:nvPr/>
        </p:nvSpPr>
        <p:spPr>
          <a:xfrm>
            <a:off x="1069848" y="5111358"/>
            <a:ext cx="10469880" cy="594360"/>
          </a:xfrm>
          <a:prstGeom prst="rect">
            <a:avLst/>
          </a:prstGeom>
          <a:noFill/>
          <a:ln/>
        </p:spPr>
        <p:txBody>
          <a:bodyPr wrap="square" rtlCol="0" anchor="t"/>
          <a:lstStyle/>
          <a:p>
            <a:pPr lvl="0"/>
            <a:r>
              <a:rPr lang="en-IN" sz="1600" b="1" dirty="0"/>
              <a:t>The Original Mr. Fuzzy generates $1.4M, dominating overall business revenue. The Forever Love Bear generates $0.3M, The Birthday Sugar Panda generates $0.2M and The Hudson River Mini Bear gives a negligible contribution. </a:t>
            </a:r>
          </a:p>
        </p:txBody>
      </p:sp>
      <p:sp>
        <p:nvSpPr>
          <p:cNvPr id="68" name="Shape 28">
            <a:extLst>
              <a:ext uri="{FF2B5EF4-FFF2-40B4-BE49-F238E27FC236}">
                <a16:creationId xmlns:a16="http://schemas.microsoft.com/office/drawing/2014/main" id="{38C719FE-6888-2890-6997-4C71D01FA34A}"/>
              </a:ext>
            </a:extLst>
          </p:cNvPr>
          <p:cNvSpPr/>
          <p:nvPr/>
        </p:nvSpPr>
        <p:spPr>
          <a:xfrm>
            <a:off x="548640" y="5216514"/>
            <a:ext cx="384048" cy="384048"/>
          </a:xfrm>
          <a:prstGeom prst="ellipse">
            <a:avLst/>
          </a:prstGeom>
          <a:solidFill>
            <a:srgbClr val="990011"/>
          </a:solidFill>
          <a:ln/>
        </p:spPr>
        <p:txBody>
          <a:bodyPr/>
          <a:lstStyle/>
          <a:p>
            <a:endParaRPr lang="en-IN"/>
          </a:p>
        </p:txBody>
      </p:sp>
      <p:sp>
        <p:nvSpPr>
          <p:cNvPr id="70" name="Text 29">
            <a:extLst>
              <a:ext uri="{FF2B5EF4-FFF2-40B4-BE49-F238E27FC236}">
                <a16:creationId xmlns:a16="http://schemas.microsoft.com/office/drawing/2014/main" id="{9371C70C-7F3D-3C72-4B97-BAAD15F78D0F}"/>
              </a:ext>
            </a:extLst>
          </p:cNvPr>
          <p:cNvSpPr/>
          <p:nvPr/>
        </p:nvSpPr>
        <p:spPr>
          <a:xfrm>
            <a:off x="548640" y="5216514"/>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rPr>
              <a:t>5</a:t>
            </a:r>
            <a:endParaRPr lang="en-US" sz="1400" dirty="0"/>
          </a:p>
        </p:txBody>
      </p:sp>
    </p:spTree>
    <p:extLst>
      <p:ext uri="{BB962C8B-B14F-4D97-AF65-F5344CB8AC3E}">
        <p14:creationId xmlns:p14="http://schemas.microsoft.com/office/powerpoint/2010/main" val="2931512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DA8D9-C558-D662-0F2B-6235C2594F7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FFF96EB-74EB-7B2B-813D-834E5E195A9C}"/>
              </a:ext>
            </a:extLst>
          </p:cNvPr>
          <p:cNvSpPr/>
          <p:nvPr/>
        </p:nvSpPr>
        <p:spPr>
          <a:xfrm>
            <a:off x="0" y="0"/>
            <a:ext cx="12188952" cy="1188720"/>
          </a:xfrm>
          <a:prstGeom prst="rect">
            <a:avLst/>
          </a:prstGeom>
          <a:solidFill>
            <a:srgbClr val="2F3C7E"/>
          </a:solidFill>
          <a:ln/>
        </p:spPr>
        <p:txBody>
          <a:bodyPr/>
          <a:lstStyle/>
          <a:p>
            <a:endParaRPr lang="en-IN"/>
          </a:p>
        </p:txBody>
      </p:sp>
      <p:sp>
        <p:nvSpPr>
          <p:cNvPr id="3" name="Shape 1">
            <a:extLst>
              <a:ext uri="{FF2B5EF4-FFF2-40B4-BE49-F238E27FC236}">
                <a16:creationId xmlns:a16="http://schemas.microsoft.com/office/drawing/2014/main" id="{532F8A0D-EC11-3E91-E5AE-7F259C9FED3F}"/>
              </a:ext>
            </a:extLst>
          </p:cNvPr>
          <p:cNvSpPr/>
          <p:nvPr/>
        </p:nvSpPr>
        <p:spPr>
          <a:xfrm>
            <a:off x="457200" y="256032"/>
            <a:ext cx="685800" cy="685800"/>
          </a:xfrm>
          <a:prstGeom prst="ellipse">
            <a:avLst/>
          </a:prstGeom>
          <a:solidFill>
            <a:srgbClr val="F96167"/>
          </a:solidFill>
          <a:ln/>
        </p:spPr>
        <p:txBody>
          <a:bodyPr/>
          <a:lstStyle/>
          <a:p>
            <a:endParaRPr lang="en-IN"/>
          </a:p>
        </p:txBody>
      </p:sp>
      <p:pic>
        <p:nvPicPr>
          <p:cNvPr id="4" name="Image 0" descr="/home/claude/pptxbuild/icons/box.png">
            <a:extLst>
              <a:ext uri="{FF2B5EF4-FFF2-40B4-BE49-F238E27FC236}">
                <a16:creationId xmlns:a16="http://schemas.microsoft.com/office/drawing/2014/main" id="{A5192762-46B2-3298-A115-6601296B4006}"/>
              </a:ext>
            </a:extLst>
          </p:cNvPr>
          <p:cNvPicPr>
            <a:picLocks noChangeAspect="1"/>
          </p:cNvPicPr>
          <p:nvPr/>
        </p:nvPicPr>
        <p:blipFill>
          <a:blip r:embed="rId3"/>
          <a:stretch>
            <a:fillRect/>
          </a:stretch>
        </p:blipFill>
        <p:spPr>
          <a:xfrm>
            <a:off x="621792" y="420624"/>
            <a:ext cx="356616" cy="356616"/>
          </a:xfrm>
          <a:prstGeom prst="rect">
            <a:avLst/>
          </a:prstGeom>
        </p:spPr>
      </p:pic>
      <p:sp>
        <p:nvSpPr>
          <p:cNvPr id="5" name="Text 2">
            <a:extLst>
              <a:ext uri="{FF2B5EF4-FFF2-40B4-BE49-F238E27FC236}">
                <a16:creationId xmlns:a16="http://schemas.microsoft.com/office/drawing/2014/main" id="{A35FC930-5771-46B7-0D98-7CAB93368E0D}"/>
              </a:ext>
            </a:extLst>
          </p:cNvPr>
          <p:cNvSpPr/>
          <p:nvPr/>
        </p:nvSpPr>
        <p:spPr>
          <a:xfrm>
            <a:off x="1325880" y="201168"/>
            <a:ext cx="82296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5.6  Inventory Analysis</a:t>
            </a:r>
            <a:endParaRPr lang="en-US" sz="2400" dirty="0"/>
          </a:p>
        </p:txBody>
      </p:sp>
      <p:sp>
        <p:nvSpPr>
          <p:cNvPr id="6" name="Text 3">
            <a:extLst>
              <a:ext uri="{FF2B5EF4-FFF2-40B4-BE49-F238E27FC236}">
                <a16:creationId xmlns:a16="http://schemas.microsoft.com/office/drawing/2014/main" id="{6929A244-F4E6-0BAC-072A-0BFB224821AC}"/>
              </a:ext>
            </a:extLst>
          </p:cNvPr>
          <p:cNvSpPr/>
          <p:nvPr/>
        </p:nvSpPr>
        <p:spPr>
          <a:xfrm>
            <a:off x="1325880" y="685800"/>
            <a:ext cx="10241280" cy="457200"/>
          </a:xfrm>
          <a:prstGeom prst="rect">
            <a:avLst/>
          </a:prstGeom>
          <a:noFill/>
          <a:ln/>
        </p:spPr>
        <p:txBody>
          <a:bodyPr wrap="square" rtlCol="0" anchor="t"/>
          <a:lstStyle/>
          <a:p>
            <a:pPr marL="0" indent="0">
              <a:buNone/>
            </a:pPr>
            <a:r>
              <a:rPr lang="en-US" sz="1150" dirty="0">
                <a:solidFill>
                  <a:srgbClr val="D8DCF2"/>
                </a:solidFill>
                <a:latin typeface="Calibri" pitchFamily="34" charset="0"/>
                <a:ea typeface="Calibri" pitchFamily="34" charset="-122"/>
                <a:cs typeface="Calibri" pitchFamily="34" charset="-120"/>
              </a:rPr>
              <a:t>Stock-relevant metrics: units sold, gross revenue, sales funnel, return rate, and revenue at risk from returns.</a:t>
            </a:r>
            <a:endParaRPr lang="en-US" sz="1150" dirty="0"/>
          </a:p>
        </p:txBody>
      </p:sp>
      <p:pic>
        <p:nvPicPr>
          <p:cNvPr id="12" name="Picture 11">
            <a:extLst>
              <a:ext uri="{FF2B5EF4-FFF2-40B4-BE49-F238E27FC236}">
                <a16:creationId xmlns:a16="http://schemas.microsoft.com/office/drawing/2014/main" id="{AF4A04A2-6DD8-2C0C-2AB9-5F6341399E01}"/>
              </a:ext>
            </a:extLst>
          </p:cNvPr>
          <p:cNvPicPr>
            <a:picLocks noChangeAspect="1"/>
          </p:cNvPicPr>
          <p:nvPr/>
        </p:nvPicPr>
        <p:blipFill>
          <a:blip r:embed="rId4"/>
          <a:stretch>
            <a:fillRect/>
          </a:stretch>
        </p:blipFill>
        <p:spPr>
          <a:xfrm>
            <a:off x="1184944" y="1268962"/>
            <a:ext cx="9822111" cy="5514393"/>
          </a:xfrm>
          <a:prstGeom prst="rect">
            <a:avLst/>
          </a:prstGeom>
        </p:spPr>
      </p:pic>
    </p:spTree>
    <p:extLst>
      <p:ext uri="{BB962C8B-B14F-4D97-AF65-F5344CB8AC3E}">
        <p14:creationId xmlns:p14="http://schemas.microsoft.com/office/powerpoint/2010/main" val="3297193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F3C7E"/>
          </a:solidFill>
          <a:ln/>
        </p:spPr>
        <p:txBody>
          <a:bodyPr/>
          <a:lstStyle/>
          <a:p>
            <a:endParaRPr lang="en-IN"/>
          </a:p>
        </p:txBody>
      </p:sp>
      <p:sp>
        <p:nvSpPr>
          <p:cNvPr id="3" name="Shape 1"/>
          <p:cNvSpPr/>
          <p:nvPr/>
        </p:nvSpPr>
        <p:spPr>
          <a:xfrm>
            <a:off x="457200" y="256032"/>
            <a:ext cx="685800" cy="685800"/>
          </a:xfrm>
          <a:prstGeom prst="ellipse">
            <a:avLst/>
          </a:prstGeom>
          <a:solidFill>
            <a:srgbClr val="F96167"/>
          </a:solidFill>
          <a:ln/>
        </p:spPr>
        <p:txBody>
          <a:bodyPr/>
          <a:lstStyle/>
          <a:p>
            <a:endParaRPr lang="en-IN"/>
          </a:p>
        </p:txBody>
      </p:sp>
      <p:pic>
        <p:nvPicPr>
          <p:cNvPr id="4" name="Image 0" descr="/home/claude/pptxbuild/icons/box.png"/>
          <p:cNvPicPr>
            <a:picLocks noChangeAspect="1"/>
          </p:cNvPicPr>
          <p:nvPr/>
        </p:nvPicPr>
        <p:blipFill>
          <a:blip r:embed="rId3"/>
          <a:stretch>
            <a:fillRect/>
          </a:stretch>
        </p:blipFill>
        <p:spPr>
          <a:xfrm>
            <a:off x="621792" y="420624"/>
            <a:ext cx="356616" cy="356616"/>
          </a:xfrm>
          <a:prstGeom prst="rect">
            <a:avLst/>
          </a:prstGeom>
        </p:spPr>
      </p:pic>
      <p:sp>
        <p:nvSpPr>
          <p:cNvPr id="5" name="Text 2"/>
          <p:cNvSpPr/>
          <p:nvPr/>
        </p:nvSpPr>
        <p:spPr>
          <a:xfrm>
            <a:off x="1325880" y="201168"/>
            <a:ext cx="82296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5.6  Inventory Analysis</a:t>
            </a:r>
            <a:endParaRPr lang="en-US" sz="2400" dirty="0"/>
          </a:p>
        </p:txBody>
      </p:sp>
      <p:sp>
        <p:nvSpPr>
          <p:cNvPr id="6" name="Text 3"/>
          <p:cNvSpPr/>
          <p:nvPr/>
        </p:nvSpPr>
        <p:spPr>
          <a:xfrm>
            <a:off x="1325880" y="685800"/>
            <a:ext cx="10241280" cy="457200"/>
          </a:xfrm>
          <a:prstGeom prst="rect">
            <a:avLst/>
          </a:prstGeom>
          <a:noFill/>
          <a:ln/>
        </p:spPr>
        <p:txBody>
          <a:bodyPr wrap="square" rtlCol="0" anchor="t"/>
          <a:lstStyle/>
          <a:p>
            <a:pPr marL="0" indent="0">
              <a:buNone/>
            </a:pPr>
            <a:r>
              <a:rPr lang="en-US" sz="1150" dirty="0">
                <a:solidFill>
                  <a:srgbClr val="D8DCF2"/>
                </a:solidFill>
                <a:latin typeface="Calibri" pitchFamily="34" charset="0"/>
                <a:ea typeface="Calibri" pitchFamily="34" charset="-122"/>
                <a:cs typeface="Calibri" pitchFamily="34" charset="-120"/>
              </a:rPr>
              <a:t>Stock-relevant metrics: units sold, gross revenue, sales funnel, return rate, and revenue at risk from returns.</a:t>
            </a:r>
            <a:endParaRPr lang="en-US" sz="1150" dirty="0"/>
          </a:p>
        </p:txBody>
      </p:sp>
      <p:sp>
        <p:nvSpPr>
          <p:cNvPr id="42" name="Shape 16">
            <a:extLst>
              <a:ext uri="{FF2B5EF4-FFF2-40B4-BE49-F238E27FC236}">
                <a16:creationId xmlns:a16="http://schemas.microsoft.com/office/drawing/2014/main" id="{6CDDF7AA-3255-8F4D-C5EC-5C9306BA1C01}"/>
              </a:ext>
            </a:extLst>
          </p:cNvPr>
          <p:cNvSpPr/>
          <p:nvPr/>
        </p:nvSpPr>
        <p:spPr>
          <a:xfrm>
            <a:off x="548640" y="1783080"/>
            <a:ext cx="384048" cy="384048"/>
          </a:xfrm>
          <a:prstGeom prst="ellipse">
            <a:avLst/>
          </a:prstGeom>
          <a:solidFill>
            <a:srgbClr val="990011"/>
          </a:solidFill>
          <a:ln/>
        </p:spPr>
        <p:txBody>
          <a:bodyPr/>
          <a:lstStyle/>
          <a:p>
            <a:endParaRPr lang="en-IN"/>
          </a:p>
        </p:txBody>
      </p:sp>
      <p:sp>
        <p:nvSpPr>
          <p:cNvPr id="44" name="Text 17">
            <a:extLst>
              <a:ext uri="{FF2B5EF4-FFF2-40B4-BE49-F238E27FC236}">
                <a16:creationId xmlns:a16="http://schemas.microsoft.com/office/drawing/2014/main" id="{4524DACE-2BF6-ED51-1AFB-60805030B3B8}"/>
              </a:ext>
            </a:extLst>
          </p:cNvPr>
          <p:cNvSpPr/>
          <p:nvPr/>
        </p:nvSpPr>
        <p:spPr>
          <a:xfrm>
            <a:off x="548640" y="178308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46" name="Text 19">
            <a:extLst>
              <a:ext uri="{FF2B5EF4-FFF2-40B4-BE49-F238E27FC236}">
                <a16:creationId xmlns:a16="http://schemas.microsoft.com/office/drawing/2014/main" id="{FF0D6BDE-F3ED-7524-2AC8-0A322134FA14}"/>
              </a:ext>
            </a:extLst>
          </p:cNvPr>
          <p:cNvSpPr/>
          <p:nvPr/>
        </p:nvSpPr>
        <p:spPr>
          <a:xfrm>
            <a:off x="1143000" y="2596662"/>
            <a:ext cx="10497312" cy="794035"/>
          </a:xfrm>
          <a:prstGeom prst="rect">
            <a:avLst/>
          </a:prstGeom>
          <a:noFill/>
          <a:ln/>
        </p:spPr>
        <p:txBody>
          <a:bodyPr wrap="square" rtlCol="0" anchor="t"/>
          <a:lstStyle/>
          <a:p>
            <a:pPr lvl="0"/>
            <a:r>
              <a:rPr lang="en-IN" sz="1600" b="1" dirty="0"/>
              <a:t>The Original Mr. Fuzzy dominates unit sales by a massive margin, exceeding 20,000 units, whereas The Forever Love Bear, The Hudson River Mini bear, and The Birthday Sugar Panda all cluster tightly at significantly lower volumes (roughly 2,000–4,000 units each).</a:t>
            </a:r>
          </a:p>
        </p:txBody>
      </p:sp>
      <p:sp>
        <p:nvSpPr>
          <p:cNvPr id="48" name="Shape 20">
            <a:extLst>
              <a:ext uri="{FF2B5EF4-FFF2-40B4-BE49-F238E27FC236}">
                <a16:creationId xmlns:a16="http://schemas.microsoft.com/office/drawing/2014/main" id="{2B29C506-5A3C-E50A-1F57-29A34C342001}"/>
              </a:ext>
            </a:extLst>
          </p:cNvPr>
          <p:cNvSpPr/>
          <p:nvPr/>
        </p:nvSpPr>
        <p:spPr>
          <a:xfrm>
            <a:off x="548640" y="2788920"/>
            <a:ext cx="384048" cy="384048"/>
          </a:xfrm>
          <a:prstGeom prst="ellipse">
            <a:avLst/>
          </a:prstGeom>
          <a:solidFill>
            <a:srgbClr val="990011"/>
          </a:solidFill>
          <a:ln/>
        </p:spPr>
        <p:txBody>
          <a:bodyPr/>
          <a:lstStyle/>
          <a:p>
            <a:endParaRPr lang="en-IN"/>
          </a:p>
        </p:txBody>
      </p:sp>
      <p:sp>
        <p:nvSpPr>
          <p:cNvPr id="50" name="Text 21">
            <a:extLst>
              <a:ext uri="{FF2B5EF4-FFF2-40B4-BE49-F238E27FC236}">
                <a16:creationId xmlns:a16="http://schemas.microsoft.com/office/drawing/2014/main" id="{07E10032-DF72-F57E-4785-F321A56EC6B8}"/>
              </a:ext>
            </a:extLst>
          </p:cNvPr>
          <p:cNvSpPr/>
          <p:nvPr/>
        </p:nvSpPr>
        <p:spPr>
          <a:xfrm>
            <a:off x="548640" y="278892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52" name="Text 23">
            <a:extLst>
              <a:ext uri="{FF2B5EF4-FFF2-40B4-BE49-F238E27FC236}">
                <a16:creationId xmlns:a16="http://schemas.microsoft.com/office/drawing/2014/main" id="{24C2DCC0-105E-0DCD-1210-453EAA031607}"/>
              </a:ext>
            </a:extLst>
          </p:cNvPr>
          <p:cNvSpPr/>
          <p:nvPr/>
        </p:nvSpPr>
        <p:spPr>
          <a:xfrm>
            <a:off x="1115568" y="3599399"/>
            <a:ext cx="10497312" cy="794035"/>
          </a:xfrm>
          <a:prstGeom prst="rect">
            <a:avLst/>
          </a:prstGeom>
          <a:noFill/>
          <a:ln/>
        </p:spPr>
        <p:txBody>
          <a:bodyPr wrap="square" rtlCol="0" anchor="t"/>
          <a:lstStyle/>
          <a:p>
            <a:pPr lvl="0"/>
            <a:r>
              <a:rPr lang="en-IN" sz="1600" b="1" dirty="0"/>
              <a:t>The Original Mr. Fuzzy represents the vast majority of inventory risk value (1.21M), making overall business inventory health almost entirely tied to this single Stock Keeping Unit(SKU). Secondary SKUs range down to 0.15M (The Hudson River Mini bear), representing only 12.4% of top-tier exposure.</a:t>
            </a:r>
          </a:p>
        </p:txBody>
      </p:sp>
      <p:sp>
        <p:nvSpPr>
          <p:cNvPr id="54" name="Shape 24">
            <a:extLst>
              <a:ext uri="{FF2B5EF4-FFF2-40B4-BE49-F238E27FC236}">
                <a16:creationId xmlns:a16="http://schemas.microsoft.com/office/drawing/2014/main" id="{F5DC3244-663A-43EF-6609-CD3133820D46}"/>
              </a:ext>
            </a:extLst>
          </p:cNvPr>
          <p:cNvSpPr/>
          <p:nvPr/>
        </p:nvSpPr>
        <p:spPr>
          <a:xfrm>
            <a:off x="548640" y="3794760"/>
            <a:ext cx="384048" cy="384048"/>
          </a:xfrm>
          <a:prstGeom prst="ellipse">
            <a:avLst/>
          </a:prstGeom>
          <a:solidFill>
            <a:srgbClr val="990011"/>
          </a:solidFill>
          <a:ln/>
        </p:spPr>
        <p:txBody>
          <a:bodyPr/>
          <a:lstStyle/>
          <a:p>
            <a:endParaRPr lang="en-IN"/>
          </a:p>
        </p:txBody>
      </p:sp>
      <p:sp>
        <p:nvSpPr>
          <p:cNvPr id="56" name="Text 25">
            <a:extLst>
              <a:ext uri="{FF2B5EF4-FFF2-40B4-BE49-F238E27FC236}">
                <a16:creationId xmlns:a16="http://schemas.microsoft.com/office/drawing/2014/main" id="{B2CF6A80-4A51-FC3D-C29A-4C429ECE5FD8}"/>
              </a:ext>
            </a:extLst>
          </p:cNvPr>
          <p:cNvSpPr/>
          <p:nvPr/>
        </p:nvSpPr>
        <p:spPr>
          <a:xfrm>
            <a:off x="548640" y="379476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58" name="Text 27">
            <a:extLst>
              <a:ext uri="{FF2B5EF4-FFF2-40B4-BE49-F238E27FC236}">
                <a16:creationId xmlns:a16="http://schemas.microsoft.com/office/drawing/2014/main" id="{00B5B7BC-D5A6-4C59-EEBF-DDC842A14E0D}"/>
              </a:ext>
            </a:extLst>
          </p:cNvPr>
          <p:cNvSpPr/>
          <p:nvPr/>
        </p:nvSpPr>
        <p:spPr>
          <a:xfrm>
            <a:off x="1143000" y="4602137"/>
            <a:ext cx="10497312" cy="986899"/>
          </a:xfrm>
          <a:prstGeom prst="rect">
            <a:avLst/>
          </a:prstGeom>
          <a:noFill/>
          <a:ln/>
        </p:spPr>
        <p:txBody>
          <a:bodyPr wrap="square" rtlCol="0" anchor="t"/>
          <a:lstStyle/>
          <a:p>
            <a:pPr lvl="0"/>
            <a:r>
              <a:rPr lang="en-IN" sz="1600" b="1" dirty="0"/>
              <a:t>The Original Mr. Fuzzy drives 1.21M sessions, matching its dominance in sales and inventory footprint. Whereas The Forever Love Bear (0.35M sessions), The Birthday Sugar Panda (0.23M sessions), and The Hudson River Mini bear (0.15M sessions) capture far less top-of-funnel traffic.</a:t>
            </a:r>
          </a:p>
        </p:txBody>
      </p:sp>
      <p:sp>
        <p:nvSpPr>
          <p:cNvPr id="60" name="Shape 28">
            <a:extLst>
              <a:ext uri="{FF2B5EF4-FFF2-40B4-BE49-F238E27FC236}">
                <a16:creationId xmlns:a16="http://schemas.microsoft.com/office/drawing/2014/main" id="{132AAFC3-96BB-7C6F-AEF0-C5F83AFD2C26}"/>
              </a:ext>
            </a:extLst>
          </p:cNvPr>
          <p:cNvSpPr/>
          <p:nvPr/>
        </p:nvSpPr>
        <p:spPr>
          <a:xfrm>
            <a:off x="548640" y="4800600"/>
            <a:ext cx="384048" cy="384048"/>
          </a:xfrm>
          <a:prstGeom prst="ellipse">
            <a:avLst/>
          </a:prstGeom>
          <a:solidFill>
            <a:srgbClr val="990011"/>
          </a:solidFill>
          <a:ln/>
        </p:spPr>
        <p:txBody>
          <a:bodyPr/>
          <a:lstStyle/>
          <a:p>
            <a:endParaRPr lang="en-IN"/>
          </a:p>
        </p:txBody>
      </p:sp>
      <p:sp>
        <p:nvSpPr>
          <p:cNvPr id="62" name="Text 29">
            <a:extLst>
              <a:ext uri="{FF2B5EF4-FFF2-40B4-BE49-F238E27FC236}">
                <a16:creationId xmlns:a16="http://schemas.microsoft.com/office/drawing/2014/main" id="{AD124779-F552-B9B0-787D-8245B52B17DC}"/>
              </a:ext>
            </a:extLst>
          </p:cNvPr>
          <p:cNvSpPr/>
          <p:nvPr/>
        </p:nvSpPr>
        <p:spPr>
          <a:xfrm>
            <a:off x="548640" y="480060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64" name="Text 31">
            <a:extLst>
              <a:ext uri="{FF2B5EF4-FFF2-40B4-BE49-F238E27FC236}">
                <a16:creationId xmlns:a16="http://schemas.microsoft.com/office/drawing/2014/main" id="{F204067C-D170-CC3B-9270-53572F6E5532}"/>
              </a:ext>
            </a:extLst>
          </p:cNvPr>
          <p:cNvSpPr/>
          <p:nvPr/>
        </p:nvSpPr>
        <p:spPr>
          <a:xfrm>
            <a:off x="1115568" y="1671719"/>
            <a:ext cx="10497312" cy="606770"/>
          </a:xfrm>
          <a:prstGeom prst="rect">
            <a:avLst/>
          </a:prstGeom>
          <a:noFill/>
          <a:ln/>
        </p:spPr>
        <p:txBody>
          <a:bodyPr wrap="square" rtlCol="0" anchor="t"/>
          <a:lstStyle/>
          <a:p>
            <a:pPr lvl="0"/>
            <a:r>
              <a:rPr lang="en-IN" sz="1600" b="1" dirty="0"/>
              <a:t>Sales velocity peaked in 2014 with 6 units/velocity score, up from 2 in 2013. The velocity dropped by half in 2015 down to 3, though remaining above 2012–2013 levels. The trendline holds steady at a benchmark of 1.00 across the period.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F3C7E"/>
          </a:solidFill>
          <a:ln/>
        </p:spPr>
        <p:txBody>
          <a:bodyPr/>
          <a:lstStyle/>
          <a:p>
            <a:endParaRPr lang="en-IN"/>
          </a:p>
        </p:txBody>
      </p:sp>
      <p:sp>
        <p:nvSpPr>
          <p:cNvPr id="3" name="Shape 1"/>
          <p:cNvSpPr/>
          <p:nvPr/>
        </p:nvSpPr>
        <p:spPr>
          <a:xfrm>
            <a:off x="457200" y="256032"/>
            <a:ext cx="685800" cy="685800"/>
          </a:xfrm>
          <a:prstGeom prst="ellipse">
            <a:avLst/>
          </a:prstGeom>
          <a:solidFill>
            <a:srgbClr val="F96167"/>
          </a:solidFill>
          <a:ln/>
        </p:spPr>
        <p:txBody>
          <a:bodyPr/>
          <a:lstStyle/>
          <a:p>
            <a:endParaRPr lang="en-IN"/>
          </a:p>
        </p:txBody>
      </p:sp>
      <p:pic>
        <p:nvPicPr>
          <p:cNvPr id="4" name="Image 0" descr="/home/claude/pptxbuild/icons/globe.png"/>
          <p:cNvPicPr>
            <a:picLocks noChangeAspect="1"/>
          </p:cNvPicPr>
          <p:nvPr/>
        </p:nvPicPr>
        <p:blipFill>
          <a:blip r:embed="rId3"/>
          <a:stretch>
            <a:fillRect/>
          </a:stretch>
        </p:blipFill>
        <p:spPr>
          <a:xfrm>
            <a:off x="621792" y="420624"/>
            <a:ext cx="356616" cy="356616"/>
          </a:xfrm>
          <a:prstGeom prst="rect">
            <a:avLst/>
          </a:prstGeom>
        </p:spPr>
      </p:pic>
      <p:sp>
        <p:nvSpPr>
          <p:cNvPr id="5" name="Text 2"/>
          <p:cNvSpPr/>
          <p:nvPr/>
        </p:nvSpPr>
        <p:spPr>
          <a:xfrm>
            <a:off x="1325880" y="201168"/>
            <a:ext cx="82296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5.7  Website Session</a:t>
            </a:r>
            <a:endParaRPr lang="en-US" sz="2400" dirty="0"/>
          </a:p>
        </p:txBody>
      </p:sp>
      <p:sp>
        <p:nvSpPr>
          <p:cNvPr id="6" name="Text 3"/>
          <p:cNvSpPr/>
          <p:nvPr/>
        </p:nvSpPr>
        <p:spPr>
          <a:xfrm>
            <a:off x="1325880" y="685800"/>
            <a:ext cx="10241280" cy="457200"/>
          </a:xfrm>
          <a:prstGeom prst="rect">
            <a:avLst/>
          </a:prstGeom>
          <a:noFill/>
          <a:ln/>
        </p:spPr>
        <p:txBody>
          <a:bodyPr wrap="square" rtlCol="0" anchor="t"/>
          <a:lstStyle/>
          <a:p>
            <a:pPr marL="0" indent="0">
              <a:buNone/>
            </a:pPr>
            <a:r>
              <a:rPr lang="en-US" sz="1150" dirty="0">
                <a:solidFill>
                  <a:srgbClr val="D8DCF2"/>
                </a:solidFill>
                <a:latin typeface="Calibri" pitchFamily="34" charset="0"/>
                <a:ea typeface="Calibri" pitchFamily="34" charset="-122"/>
                <a:cs typeface="Calibri" pitchFamily="34" charset="-120"/>
              </a:rPr>
              <a:t>Top-of-funnel web analytics: sessions, page views, conversion rate, pages/session, revenue per session.</a:t>
            </a:r>
            <a:endParaRPr lang="en-US" sz="1150" dirty="0"/>
          </a:p>
        </p:txBody>
      </p:sp>
      <p:pic>
        <p:nvPicPr>
          <p:cNvPr id="10" name="Picture 9">
            <a:extLst>
              <a:ext uri="{FF2B5EF4-FFF2-40B4-BE49-F238E27FC236}">
                <a16:creationId xmlns:a16="http://schemas.microsoft.com/office/drawing/2014/main" id="{0EF54C03-3CE8-0C2E-9BD3-E0A3F8B0AC8F}"/>
              </a:ext>
            </a:extLst>
          </p:cNvPr>
          <p:cNvPicPr>
            <a:picLocks noChangeAspect="1"/>
          </p:cNvPicPr>
          <p:nvPr/>
        </p:nvPicPr>
        <p:blipFill>
          <a:blip r:embed="rId4"/>
          <a:stretch>
            <a:fillRect/>
          </a:stretch>
        </p:blipFill>
        <p:spPr>
          <a:xfrm>
            <a:off x="1295676" y="1305912"/>
            <a:ext cx="9597600" cy="543244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92CB2-30B5-32FA-F23F-3F106FFBAEF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5F18F5F-5D09-156B-5BE5-2665B1F1222E}"/>
              </a:ext>
            </a:extLst>
          </p:cNvPr>
          <p:cNvSpPr/>
          <p:nvPr/>
        </p:nvSpPr>
        <p:spPr>
          <a:xfrm>
            <a:off x="0" y="0"/>
            <a:ext cx="12188952" cy="1188720"/>
          </a:xfrm>
          <a:prstGeom prst="rect">
            <a:avLst/>
          </a:prstGeom>
          <a:solidFill>
            <a:srgbClr val="2F3C7E"/>
          </a:solidFill>
          <a:ln/>
        </p:spPr>
        <p:txBody>
          <a:bodyPr/>
          <a:lstStyle/>
          <a:p>
            <a:endParaRPr lang="en-IN"/>
          </a:p>
        </p:txBody>
      </p:sp>
      <p:sp>
        <p:nvSpPr>
          <p:cNvPr id="3" name="Shape 1">
            <a:extLst>
              <a:ext uri="{FF2B5EF4-FFF2-40B4-BE49-F238E27FC236}">
                <a16:creationId xmlns:a16="http://schemas.microsoft.com/office/drawing/2014/main" id="{36BE8E07-FFE9-A4A9-D703-D6C715219A8E}"/>
              </a:ext>
            </a:extLst>
          </p:cNvPr>
          <p:cNvSpPr/>
          <p:nvPr/>
        </p:nvSpPr>
        <p:spPr>
          <a:xfrm>
            <a:off x="457200" y="256032"/>
            <a:ext cx="685800" cy="685800"/>
          </a:xfrm>
          <a:prstGeom prst="ellipse">
            <a:avLst/>
          </a:prstGeom>
          <a:solidFill>
            <a:srgbClr val="F96167"/>
          </a:solidFill>
          <a:ln/>
        </p:spPr>
        <p:txBody>
          <a:bodyPr/>
          <a:lstStyle/>
          <a:p>
            <a:endParaRPr lang="en-IN"/>
          </a:p>
        </p:txBody>
      </p:sp>
      <p:pic>
        <p:nvPicPr>
          <p:cNvPr id="4" name="Image 0" descr="/home/claude/pptxbuild/icons/globe.png">
            <a:extLst>
              <a:ext uri="{FF2B5EF4-FFF2-40B4-BE49-F238E27FC236}">
                <a16:creationId xmlns:a16="http://schemas.microsoft.com/office/drawing/2014/main" id="{30CCA13B-FC5B-60E9-19CD-683FEE06B888}"/>
              </a:ext>
            </a:extLst>
          </p:cNvPr>
          <p:cNvPicPr>
            <a:picLocks noChangeAspect="1"/>
          </p:cNvPicPr>
          <p:nvPr/>
        </p:nvPicPr>
        <p:blipFill>
          <a:blip r:embed="rId3"/>
          <a:stretch>
            <a:fillRect/>
          </a:stretch>
        </p:blipFill>
        <p:spPr>
          <a:xfrm>
            <a:off x="621792" y="420624"/>
            <a:ext cx="356616" cy="356616"/>
          </a:xfrm>
          <a:prstGeom prst="rect">
            <a:avLst/>
          </a:prstGeom>
        </p:spPr>
      </p:pic>
      <p:sp>
        <p:nvSpPr>
          <p:cNvPr id="5" name="Text 2">
            <a:extLst>
              <a:ext uri="{FF2B5EF4-FFF2-40B4-BE49-F238E27FC236}">
                <a16:creationId xmlns:a16="http://schemas.microsoft.com/office/drawing/2014/main" id="{0EAA092A-B717-AF7E-CDE1-6DDB49F0D862}"/>
              </a:ext>
            </a:extLst>
          </p:cNvPr>
          <p:cNvSpPr/>
          <p:nvPr/>
        </p:nvSpPr>
        <p:spPr>
          <a:xfrm>
            <a:off x="1325880" y="201168"/>
            <a:ext cx="82296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5.7  Website Session</a:t>
            </a:r>
            <a:endParaRPr lang="en-US" sz="2400" dirty="0"/>
          </a:p>
        </p:txBody>
      </p:sp>
      <p:sp>
        <p:nvSpPr>
          <p:cNvPr id="6" name="Text 3">
            <a:extLst>
              <a:ext uri="{FF2B5EF4-FFF2-40B4-BE49-F238E27FC236}">
                <a16:creationId xmlns:a16="http://schemas.microsoft.com/office/drawing/2014/main" id="{B0CFBC8D-6213-0B1A-133C-699D4E5B93F0}"/>
              </a:ext>
            </a:extLst>
          </p:cNvPr>
          <p:cNvSpPr/>
          <p:nvPr/>
        </p:nvSpPr>
        <p:spPr>
          <a:xfrm>
            <a:off x="1325880" y="685800"/>
            <a:ext cx="10241280" cy="457200"/>
          </a:xfrm>
          <a:prstGeom prst="rect">
            <a:avLst/>
          </a:prstGeom>
          <a:noFill/>
          <a:ln/>
        </p:spPr>
        <p:txBody>
          <a:bodyPr wrap="square" rtlCol="0" anchor="t"/>
          <a:lstStyle/>
          <a:p>
            <a:pPr marL="0" indent="0">
              <a:buNone/>
            </a:pPr>
            <a:r>
              <a:rPr lang="en-US" sz="1150" dirty="0">
                <a:solidFill>
                  <a:srgbClr val="D8DCF2"/>
                </a:solidFill>
                <a:latin typeface="Calibri" pitchFamily="34" charset="0"/>
                <a:ea typeface="Calibri" pitchFamily="34" charset="-122"/>
                <a:cs typeface="Calibri" pitchFamily="34" charset="-120"/>
              </a:rPr>
              <a:t>Top-of-funnel web analytics: sessions, page views, conversion rate, pages/session, revenue per session.</a:t>
            </a:r>
            <a:endParaRPr lang="en-US" sz="1150" dirty="0"/>
          </a:p>
        </p:txBody>
      </p:sp>
      <p:sp>
        <p:nvSpPr>
          <p:cNvPr id="42" name="Shape 16">
            <a:extLst>
              <a:ext uri="{FF2B5EF4-FFF2-40B4-BE49-F238E27FC236}">
                <a16:creationId xmlns:a16="http://schemas.microsoft.com/office/drawing/2014/main" id="{E3868131-FEFF-D54D-C89C-7C099D521D9F}"/>
              </a:ext>
            </a:extLst>
          </p:cNvPr>
          <p:cNvSpPr/>
          <p:nvPr/>
        </p:nvSpPr>
        <p:spPr>
          <a:xfrm>
            <a:off x="548640" y="1783080"/>
            <a:ext cx="384048" cy="384048"/>
          </a:xfrm>
          <a:prstGeom prst="ellipse">
            <a:avLst/>
          </a:prstGeom>
          <a:solidFill>
            <a:srgbClr val="990011"/>
          </a:solidFill>
          <a:ln/>
        </p:spPr>
        <p:txBody>
          <a:bodyPr/>
          <a:lstStyle/>
          <a:p>
            <a:endParaRPr lang="en-IN"/>
          </a:p>
        </p:txBody>
      </p:sp>
      <p:sp>
        <p:nvSpPr>
          <p:cNvPr id="44" name="Text 17">
            <a:extLst>
              <a:ext uri="{FF2B5EF4-FFF2-40B4-BE49-F238E27FC236}">
                <a16:creationId xmlns:a16="http://schemas.microsoft.com/office/drawing/2014/main" id="{F49C3226-B917-14B2-E47A-7E26C0428B99}"/>
              </a:ext>
            </a:extLst>
          </p:cNvPr>
          <p:cNvSpPr/>
          <p:nvPr/>
        </p:nvSpPr>
        <p:spPr>
          <a:xfrm>
            <a:off x="548640" y="178308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46" name="Text 19">
            <a:extLst>
              <a:ext uri="{FF2B5EF4-FFF2-40B4-BE49-F238E27FC236}">
                <a16:creationId xmlns:a16="http://schemas.microsoft.com/office/drawing/2014/main" id="{34F9079E-A8D0-D236-0DCA-B9435AF78ED3}"/>
              </a:ext>
            </a:extLst>
          </p:cNvPr>
          <p:cNvSpPr/>
          <p:nvPr/>
        </p:nvSpPr>
        <p:spPr>
          <a:xfrm>
            <a:off x="1115568" y="2658059"/>
            <a:ext cx="10497312" cy="643252"/>
          </a:xfrm>
          <a:prstGeom prst="rect">
            <a:avLst/>
          </a:prstGeom>
          <a:noFill/>
          <a:ln/>
        </p:spPr>
        <p:txBody>
          <a:bodyPr wrap="square" rtlCol="0" anchor="t"/>
          <a:lstStyle/>
          <a:p>
            <a:pPr lvl="0"/>
            <a:r>
              <a:rPr lang="en-IN" sz="1600" b="1" dirty="0"/>
              <a:t>cart (12), products (12), shipping (12), and thank-you (12) share equal top pageviews, followed by billing (11). This indicates high-intent traffic progressing evenly through the core checkout path.</a:t>
            </a:r>
          </a:p>
        </p:txBody>
      </p:sp>
      <p:sp>
        <p:nvSpPr>
          <p:cNvPr id="48" name="Shape 20">
            <a:extLst>
              <a:ext uri="{FF2B5EF4-FFF2-40B4-BE49-F238E27FC236}">
                <a16:creationId xmlns:a16="http://schemas.microsoft.com/office/drawing/2014/main" id="{C41761CB-06D9-977D-CF39-B833F6E078F5}"/>
              </a:ext>
            </a:extLst>
          </p:cNvPr>
          <p:cNvSpPr/>
          <p:nvPr/>
        </p:nvSpPr>
        <p:spPr>
          <a:xfrm>
            <a:off x="548640" y="2788920"/>
            <a:ext cx="384048" cy="384048"/>
          </a:xfrm>
          <a:prstGeom prst="ellipse">
            <a:avLst/>
          </a:prstGeom>
          <a:solidFill>
            <a:srgbClr val="990011"/>
          </a:solidFill>
          <a:ln/>
        </p:spPr>
        <p:txBody>
          <a:bodyPr/>
          <a:lstStyle/>
          <a:p>
            <a:endParaRPr lang="en-IN"/>
          </a:p>
        </p:txBody>
      </p:sp>
      <p:sp>
        <p:nvSpPr>
          <p:cNvPr id="50" name="Text 21">
            <a:extLst>
              <a:ext uri="{FF2B5EF4-FFF2-40B4-BE49-F238E27FC236}">
                <a16:creationId xmlns:a16="http://schemas.microsoft.com/office/drawing/2014/main" id="{6981A2E4-9CBF-2E92-CC27-D1A17B414DC0}"/>
              </a:ext>
            </a:extLst>
          </p:cNvPr>
          <p:cNvSpPr/>
          <p:nvPr/>
        </p:nvSpPr>
        <p:spPr>
          <a:xfrm>
            <a:off x="548640" y="278892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52" name="Text 23">
            <a:extLst>
              <a:ext uri="{FF2B5EF4-FFF2-40B4-BE49-F238E27FC236}">
                <a16:creationId xmlns:a16="http://schemas.microsoft.com/office/drawing/2014/main" id="{1A6BBCD7-7FA2-DC89-A647-8EADAD575863}"/>
              </a:ext>
            </a:extLst>
          </p:cNvPr>
          <p:cNvSpPr/>
          <p:nvPr/>
        </p:nvSpPr>
        <p:spPr>
          <a:xfrm>
            <a:off x="1115568" y="3449165"/>
            <a:ext cx="10497312" cy="1075238"/>
          </a:xfrm>
          <a:prstGeom prst="rect">
            <a:avLst/>
          </a:prstGeom>
          <a:noFill/>
          <a:ln/>
        </p:spPr>
        <p:txBody>
          <a:bodyPr wrap="square" rtlCol="0" anchor="t"/>
          <a:lstStyle/>
          <a:p>
            <a:pPr lvl="0"/>
            <a:r>
              <a:rPr lang="en-IN" sz="1600" b="1" dirty="0"/>
              <a:t>Website view begins strong in January (47K) and February (47K), before dipping through March (39K). This hits its lowest point in April (29K), followed by a slow recovery through May (30K), June (30K), and July (32K). Traffic accelerates steadily through autumn, August (34K), September (36K), October (40K) and peaks during the year end holiday shopping season in November (53K) and December (56K).</a:t>
            </a:r>
          </a:p>
        </p:txBody>
      </p:sp>
      <p:sp>
        <p:nvSpPr>
          <p:cNvPr id="54" name="Shape 24">
            <a:extLst>
              <a:ext uri="{FF2B5EF4-FFF2-40B4-BE49-F238E27FC236}">
                <a16:creationId xmlns:a16="http://schemas.microsoft.com/office/drawing/2014/main" id="{E568327F-E63B-7C2E-90BF-5C5BE900FDAB}"/>
              </a:ext>
            </a:extLst>
          </p:cNvPr>
          <p:cNvSpPr/>
          <p:nvPr/>
        </p:nvSpPr>
        <p:spPr>
          <a:xfrm>
            <a:off x="548640" y="3794760"/>
            <a:ext cx="384048" cy="384048"/>
          </a:xfrm>
          <a:prstGeom prst="ellipse">
            <a:avLst/>
          </a:prstGeom>
          <a:solidFill>
            <a:srgbClr val="990011"/>
          </a:solidFill>
          <a:ln/>
        </p:spPr>
        <p:txBody>
          <a:bodyPr/>
          <a:lstStyle/>
          <a:p>
            <a:endParaRPr lang="en-IN"/>
          </a:p>
        </p:txBody>
      </p:sp>
      <p:sp>
        <p:nvSpPr>
          <p:cNvPr id="56" name="Text 25">
            <a:extLst>
              <a:ext uri="{FF2B5EF4-FFF2-40B4-BE49-F238E27FC236}">
                <a16:creationId xmlns:a16="http://schemas.microsoft.com/office/drawing/2014/main" id="{313ABAEE-257F-A5BE-566A-93382DE673C2}"/>
              </a:ext>
            </a:extLst>
          </p:cNvPr>
          <p:cNvSpPr/>
          <p:nvPr/>
        </p:nvSpPr>
        <p:spPr>
          <a:xfrm>
            <a:off x="548640" y="379476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58" name="Text 27">
            <a:extLst>
              <a:ext uri="{FF2B5EF4-FFF2-40B4-BE49-F238E27FC236}">
                <a16:creationId xmlns:a16="http://schemas.microsoft.com/office/drawing/2014/main" id="{6A1D1AAC-2C0E-8FB7-D134-E6414682444C}"/>
              </a:ext>
            </a:extLst>
          </p:cNvPr>
          <p:cNvSpPr/>
          <p:nvPr/>
        </p:nvSpPr>
        <p:spPr>
          <a:xfrm>
            <a:off x="1143000" y="4602137"/>
            <a:ext cx="10497312" cy="986899"/>
          </a:xfrm>
          <a:prstGeom prst="rect">
            <a:avLst/>
          </a:prstGeom>
          <a:noFill/>
          <a:ln/>
        </p:spPr>
        <p:txBody>
          <a:bodyPr wrap="square" rtlCol="0" anchor="t"/>
          <a:lstStyle/>
          <a:p>
            <a:pPr lvl="0"/>
            <a:r>
              <a:rPr lang="en-IN" sz="1600" b="1" dirty="0"/>
              <a:t>Total traffic peaked massively in 2014, reaching 191K new sessions and 42K returning sessions. Traffic dropped substantially in 2015 to 50K new sessions and 14K returning sessions. Across all years, new user sessions make up roughly 75-90% of total web traffic, highlighting a heavily acquisition-driven funnel.</a:t>
            </a:r>
          </a:p>
        </p:txBody>
      </p:sp>
      <p:sp>
        <p:nvSpPr>
          <p:cNvPr id="60" name="Shape 28">
            <a:extLst>
              <a:ext uri="{FF2B5EF4-FFF2-40B4-BE49-F238E27FC236}">
                <a16:creationId xmlns:a16="http://schemas.microsoft.com/office/drawing/2014/main" id="{A6A6E833-83EB-8FEE-54A7-0C538A81A598}"/>
              </a:ext>
            </a:extLst>
          </p:cNvPr>
          <p:cNvSpPr/>
          <p:nvPr/>
        </p:nvSpPr>
        <p:spPr>
          <a:xfrm>
            <a:off x="548640" y="4800600"/>
            <a:ext cx="384048" cy="384048"/>
          </a:xfrm>
          <a:prstGeom prst="ellipse">
            <a:avLst/>
          </a:prstGeom>
          <a:solidFill>
            <a:srgbClr val="990011"/>
          </a:solidFill>
          <a:ln/>
        </p:spPr>
        <p:txBody>
          <a:bodyPr/>
          <a:lstStyle/>
          <a:p>
            <a:endParaRPr lang="en-IN"/>
          </a:p>
        </p:txBody>
      </p:sp>
      <p:sp>
        <p:nvSpPr>
          <p:cNvPr id="62" name="Text 29">
            <a:extLst>
              <a:ext uri="{FF2B5EF4-FFF2-40B4-BE49-F238E27FC236}">
                <a16:creationId xmlns:a16="http://schemas.microsoft.com/office/drawing/2014/main" id="{3C4F21F5-DE52-56AA-C314-E9740E0F3885}"/>
              </a:ext>
            </a:extLst>
          </p:cNvPr>
          <p:cNvSpPr/>
          <p:nvPr/>
        </p:nvSpPr>
        <p:spPr>
          <a:xfrm>
            <a:off x="548640" y="480060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64" name="Text 31">
            <a:extLst>
              <a:ext uri="{FF2B5EF4-FFF2-40B4-BE49-F238E27FC236}">
                <a16:creationId xmlns:a16="http://schemas.microsoft.com/office/drawing/2014/main" id="{DC1EF172-6BAC-BDCF-4031-B91048E1C0C3}"/>
              </a:ext>
            </a:extLst>
          </p:cNvPr>
          <p:cNvSpPr/>
          <p:nvPr/>
        </p:nvSpPr>
        <p:spPr>
          <a:xfrm>
            <a:off x="1115568" y="1671719"/>
            <a:ext cx="10650334" cy="879224"/>
          </a:xfrm>
          <a:prstGeom prst="rect">
            <a:avLst/>
          </a:prstGeom>
          <a:noFill/>
          <a:ln/>
        </p:spPr>
        <p:txBody>
          <a:bodyPr wrap="square" rtlCol="0" anchor="t"/>
          <a:lstStyle/>
          <a:p>
            <a:pPr lvl="0"/>
            <a:r>
              <a:rPr lang="en-IN" sz="1600" b="1" dirty="0"/>
              <a:t>gsearch dominates traffic volume at 0.32M sessions with a strong 6.75% conversion rate. Direct Traffic generates 0.08M sessions with the highest conversion rate at 7.34% and bsearch delivers 0.06M sessions with a strong 7.19% conversion rate. Socialbook drives minimal traffic with the lowest conversion rate at 3.21% (less than half of the search/direct channels).</a:t>
            </a:r>
          </a:p>
        </p:txBody>
      </p:sp>
    </p:spTree>
    <p:extLst>
      <p:ext uri="{BB962C8B-B14F-4D97-AF65-F5344CB8AC3E}">
        <p14:creationId xmlns:p14="http://schemas.microsoft.com/office/powerpoint/2010/main" val="24120478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2F3C7E"/>
                </a:solidFill>
                <a:latin typeface="Cambria" pitchFamily="34" charset="0"/>
                <a:ea typeface="Cambria" pitchFamily="34" charset="-122"/>
                <a:cs typeface="Cambria" pitchFamily="34" charset="-120"/>
              </a:rPr>
              <a:t>6. Filters &amp; Interactivity</a:t>
            </a:r>
            <a:endParaRPr lang="en-US" sz="3000" dirty="0"/>
          </a:p>
        </p:txBody>
      </p:sp>
      <p:sp>
        <p:nvSpPr>
          <p:cNvPr id="4" name="Shape 2"/>
          <p:cNvSpPr/>
          <p:nvPr/>
        </p:nvSpPr>
        <p:spPr>
          <a:xfrm>
            <a:off x="548640" y="1508760"/>
            <a:ext cx="5440680" cy="1417320"/>
          </a:xfrm>
          <a:prstGeom prst="roundRect">
            <a:avLst>
              <a:gd name="adj" fmla="val 5161"/>
            </a:avLst>
          </a:prstGeom>
          <a:solidFill>
            <a:srgbClr val="F7F7FB"/>
          </a:solidFill>
          <a:ln/>
        </p:spPr>
        <p:txBody>
          <a:bodyPr/>
          <a:lstStyle/>
          <a:p>
            <a:endParaRPr lang="en-IN"/>
          </a:p>
        </p:txBody>
      </p:sp>
      <p:sp>
        <p:nvSpPr>
          <p:cNvPr id="5" name="Shape 3"/>
          <p:cNvSpPr/>
          <p:nvPr/>
        </p:nvSpPr>
        <p:spPr>
          <a:xfrm>
            <a:off x="749808" y="1709928"/>
            <a:ext cx="594360" cy="594360"/>
          </a:xfrm>
          <a:prstGeom prst="ellipse">
            <a:avLst/>
          </a:prstGeom>
          <a:solidFill>
            <a:srgbClr val="2F3C7E"/>
          </a:solidFill>
          <a:ln/>
        </p:spPr>
        <p:txBody>
          <a:bodyPr/>
          <a:lstStyle/>
          <a:p>
            <a:endParaRPr lang="en-IN"/>
          </a:p>
        </p:txBody>
      </p:sp>
      <p:pic>
        <p:nvPicPr>
          <p:cNvPr id="6" name="Image 0" descr="/home/claude/pptxbuild/icons/filter.png"/>
          <p:cNvPicPr>
            <a:picLocks noChangeAspect="1"/>
          </p:cNvPicPr>
          <p:nvPr/>
        </p:nvPicPr>
        <p:blipFill>
          <a:blip r:embed="rId3"/>
          <a:stretch>
            <a:fillRect/>
          </a:stretch>
        </p:blipFill>
        <p:spPr>
          <a:xfrm>
            <a:off x="892454" y="1852574"/>
            <a:ext cx="309067" cy="309067"/>
          </a:xfrm>
          <a:prstGeom prst="rect">
            <a:avLst/>
          </a:prstGeom>
        </p:spPr>
      </p:pic>
      <p:sp>
        <p:nvSpPr>
          <p:cNvPr id="7" name="Text 4"/>
          <p:cNvSpPr/>
          <p:nvPr/>
        </p:nvSpPr>
        <p:spPr>
          <a:xfrm>
            <a:off x="1508760" y="1655064"/>
            <a:ext cx="4251960" cy="320040"/>
          </a:xfrm>
          <a:prstGeom prst="rect">
            <a:avLst/>
          </a:prstGeom>
          <a:noFill/>
          <a:ln/>
        </p:spPr>
        <p:txBody>
          <a:bodyPr wrap="square" rtlCol="0" anchor="ctr"/>
          <a:lstStyle/>
          <a:p>
            <a:pPr marL="0" indent="0">
              <a:buNone/>
            </a:pPr>
            <a:r>
              <a:rPr lang="en-US" sz="1600" b="1" dirty="0">
                <a:solidFill>
                  <a:srgbClr val="2B2B2B"/>
                </a:solidFill>
                <a:latin typeface="Calibri" pitchFamily="34" charset="0"/>
                <a:ea typeface="Calibri" pitchFamily="34" charset="-122"/>
                <a:cs typeface="Calibri" pitchFamily="34" charset="-120"/>
              </a:rPr>
              <a:t>Date (Month / Year)</a:t>
            </a:r>
            <a:endParaRPr lang="en-US" sz="1600" dirty="0"/>
          </a:p>
        </p:txBody>
      </p:sp>
      <p:sp>
        <p:nvSpPr>
          <p:cNvPr id="8" name="Text 5"/>
          <p:cNvSpPr/>
          <p:nvPr/>
        </p:nvSpPr>
        <p:spPr>
          <a:xfrm>
            <a:off x="1508760" y="2011680"/>
            <a:ext cx="4251960" cy="868680"/>
          </a:xfrm>
          <a:prstGeom prst="rect">
            <a:avLst/>
          </a:prstGeom>
          <a:noFill/>
          <a:ln/>
        </p:spPr>
        <p:txBody>
          <a:bodyPr wrap="square" rtlCol="0" anchor="t"/>
          <a:lstStyle/>
          <a:p>
            <a:pPr marL="0" indent="0">
              <a:lnSpc>
                <a:spcPct val="115000"/>
              </a:lnSpc>
              <a:buNone/>
            </a:pPr>
            <a:r>
              <a:rPr lang="en-US" sz="1400" dirty="0">
                <a:latin typeface="Calibri" pitchFamily="34" charset="0"/>
                <a:ea typeface="Calibri" pitchFamily="34" charset="-122"/>
                <a:cs typeface="Calibri" pitchFamily="34" charset="-120"/>
              </a:rPr>
              <a:t>Executive Summary, Strategic Takeaways, Product Analysis, Customer Behaviour, Inventory Analysis, Website Session</a:t>
            </a:r>
            <a:endParaRPr lang="en-US" sz="1400" dirty="0"/>
          </a:p>
        </p:txBody>
      </p:sp>
      <p:sp>
        <p:nvSpPr>
          <p:cNvPr id="9" name="Shape 6"/>
          <p:cNvSpPr/>
          <p:nvPr/>
        </p:nvSpPr>
        <p:spPr>
          <a:xfrm>
            <a:off x="6263640" y="1508760"/>
            <a:ext cx="5440680" cy="1417320"/>
          </a:xfrm>
          <a:prstGeom prst="roundRect">
            <a:avLst>
              <a:gd name="adj" fmla="val 5161"/>
            </a:avLst>
          </a:prstGeom>
          <a:solidFill>
            <a:srgbClr val="F7F7FB"/>
          </a:solidFill>
          <a:ln/>
        </p:spPr>
        <p:txBody>
          <a:bodyPr/>
          <a:lstStyle/>
          <a:p>
            <a:endParaRPr lang="en-IN"/>
          </a:p>
        </p:txBody>
      </p:sp>
      <p:sp>
        <p:nvSpPr>
          <p:cNvPr id="10" name="Shape 7"/>
          <p:cNvSpPr/>
          <p:nvPr/>
        </p:nvSpPr>
        <p:spPr>
          <a:xfrm>
            <a:off x="6464808" y="1709928"/>
            <a:ext cx="594360" cy="594360"/>
          </a:xfrm>
          <a:prstGeom prst="ellipse">
            <a:avLst/>
          </a:prstGeom>
          <a:solidFill>
            <a:srgbClr val="F96167"/>
          </a:solidFill>
          <a:ln/>
        </p:spPr>
        <p:txBody>
          <a:bodyPr/>
          <a:lstStyle/>
          <a:p>
            <a:endParaRPr lang="en-IN"/>
          </a:p>
        </p:txBody>
      </p:sp>
      <p:pic>
        <p:nvPicPr>
          <p:cNvPr id="11" name="Image 1" descr="/home/claude/pptxbuild/icons/box.png"/>
          <p:cNvPicPr>
            <a:picLocks noChangeAspect="1"/>
          </p:cNvPicPr>
          <p:nvPr/>
        </p:nvPicPr>
        <p:blipFill>
          <a:blip r:embed="rId4"/>
          <a:stretch>
            <a:fillRect/>
          </a:stretch>
        </p:blipFill>
        <p:spPr>
          <a:xfrm>
            <a:off x="6607454" y="1852574"/>
            <a:ext cx="309067" cy="309067"/>
          </a:xfrm>
          <a:prstGeom prst="rect">
            <a:avLst/>
          </a:prstGeom>
        </p:spPr>
      </p:pic>
      <p:sp>
        <p:nvSpPr>
          <p:cNvPr id="12" name="Text 8"/>
          <p:cNvSpPr/>
          <p:nvPr/>
        </p:nvSpPr>
        <p:spPr>
          <a:xfrm>
            <a:off x="7223760" y="1655064"/>
            <a:ext cx="4251960" cy="320040"/>
          </a:xfrm>
          <a:prstGeom prst="rect">
            <a:avLst/>
          </a:prstGeom>
          <a:noFill/>
          <a:ln/>
        </p:spPr>
        <p:txBody>
          <a:bodyPr wrap="square" rtlCol="0" anchor="ctr"/>
          <a:lstStyle/>
          <a:p>
            <a:pPr marL="0" indent="0">
              <a:buNone/>
            </a:pPr>
            <a:r>
              <a:rPr lang="en-US" sz="1600" b="1" dirty="0">
                <a:solidFill>
                  <a:srgbClr val="2B2B2B"/>
                </a:solidFill>
                <a:latin typeface="Calibri" pitchFamily="34" charset="0"/>
                <a:ea typeface="Calibri" pitchFamily="34" charset="-122"/>
                <a:cs typeface="Calibri" pitchFamily="34" charset="-120"/>
              </a:rPr>
              <a:t>Device Type</a:t>
            </a:r>
            <a:endParaRPr lang="en-US" sz="1600" dirty="0"/>
          </a:p>
        </p:txBody>
      </p:sp>
      <p:sp>
        <p:nvSpPr>
          <p:cNvPr id="13" name="Text 9"/>
          <p:cNvSpPr/>
          <p:nvPr/>
        </p:nvSpPr>
        <p:spPr>
          <a:xfrm>
            <a:off x="7223760" y="2011680"/>
            <a:ext cx="4251960" cy="868680"/>
          </a:xfrm>
          <a:prstGeom prst="rect">
            <a:avLst/>
          </a:prstGeom>
          <a:noFill/>
          <a:ln/>
        </p:spPr>
        <p:txBody>
          <a:bodyPr wrap="square" rtlCol="0" anchor="t"/>
          <a:lstStyle/>
          <a:p>
            <a:pPr marL="0" indent="0">
              <a:lnSpc>
                <a:spcPct val="115000"/>
              </a:lnSpc>
              <a:buNone/>
            </a:pPr>
            <a:r>
              <a:rPr lang="en-US" sz="1400" dirty="0">
                <a:latin typeface="Calibri" pitchFamily="34" charset="0"/>
                <a:ea typeface="Calibri" pitchFamily="34" charset="-122"/>
                <a:cs typeface="Calibri" pitchFamily="34" charset="-120"/>
              </a:rPr>
              <a:t>Transaction Analytics, Inventory Analysis</a:t>
            </a:r>
            <a:endParaRPr lang="en-US" sz="1400" dirty="0"/>
          </a:p>
        </p:txBody>
      </p:sp>
      <p:sp>
        <p:nvSpPr>
          <p:cNvPr id="14" name="Shape 10"/>
          <p:cNvSpPr/>
          <p:nvPr/>
        </p:nvSpPr>
        <p:spPr>
          <a:xfrm>
            <a:off x="548640" y="3127248"/>
            <a:ext cx="5440680" cy="1417320"/>
          </a:xfrm>
          <a:prstGeom prst="roundRect">
            <a:avLst>
              <a:gd name="adj" fmla="val 5161"/>
            </a:avLst>
          </a:prstGeom>
          <a:solidFill>
            <a:srgbClr val="F7F7FB"/>
          </a:solidFill>
          <a:ln/>
        </p:spPr>
        <p:txBody>
          <a:bodyPr/>
          <a:lstStyle/>
          <a:p>
            <a:endParaRPr lang="en-IN"/>
          </a:p>
        </p:txBody>
      </p:sp>
      <p:sp>
        <p:nvSpPr>
          <p:cNvPr id="15" name="Shape 11"/>
          <p:cNvSpPr/>
          <p:nvPr/>
        </p:nvSpPr>
        <p:spPr>
          <a:xfrm>
            <a:off x="749808" y="3328416"/>
            <a:ext cx="594360" cy="594360"/>
          </a:xfrm>
          <a:prstGeom prst="ellipse">
            <a:avLst/>
          </a:prstGeom>
          <a:solidFill>
            <a:srgbClr val="2F3C7E"/>
          </a:solidFill>
          <a:ln/>
        </p:spPr>
        <p:txBody>
          <a:bodyPr/>
          <a:lstStyle/>
          <a:p>
            <a:endParaRPr lang="en-IN"/>
          </a:p>
        </p:txBody>
      </p:sp>
      <p:pic>
        <p:nvPicPr>
          <p:cNvPr id="16" name="Image 2" descr="/home/claude/pptxbuild/icons/tags.png"/>
          <p:cNvPicPr>
            <a:picLocks noChangeAspect="1"/>
          </p:cNvPicPr>
          <p:nvPr/>
        </p:nvPicPr>
        <p:blipFill>
          <a:blip r:embed="rId5"/>
          <a:stretch>
            <a:fillRect/>
          </a:stretch>
        </p:blipFill>
        <p:spPr>
          <a:xfrm>
            <a:off x="892454" y="3471062"/>
            <a:ext cx="309067" cy="309067"/>
          </a:xfrm>
          <a:prstGeom prst="rect">
            <a:avLst/>
          </a:prstGeom>
        </p:spPr>
      </p:pic>
      <p:sp>
        <p:nvSpPr>
          <p:cNvPr id="17" name="Text 12"/>
          <p:cNvSpPr/>
          <p:nvPr/>
        </p:nvSpPr>
        <p:spPr>
          <a:xfrm>
            <a:off x="1508760" y="3273552"/>
            <a:ext cx="4251960" cy="320040"/>
          </a:xfrm>
          <a:prstGeom prst="rect">
            <a:avLst/>
          </a:prstGeom>
          <a:noFill/>
          <a:ln/>
        </p:spPr>
        <p:txBody>
          <a:bodyPr wrap="square" rtlCol="0" anchor="ctr"/>
          <a:lstStyle/>
          <a:p>
            <a:pPr marL="0" indent="0">
              <a:buNone/>
            </a:pPr>
            <a:r>
              <a:rPr lang="en-US" sz="1600" b="1" dirty="0">
                <a:solidFill>
                  <a:srgbClr val="2B2B2B"/>
                </a:solidFill>
                <a:latin typeface="Calibri" pitchFamily="34" charset="0"/>
                <a:ea typeface="Calibri" pitchFamily="34" charset="-122"/>
                <a:cs typeface="Calibri" pitchFamily="34" charset="-120"/>
              </a:rPr>
              <a:t>Product</a:t>
            </a:r>
            <a:endParaRPr lang="en-US" sz="1600" dirty="0"/>
          </a:p>
        </p:txBody>
      </p:sp>
      <p:sp>
        <p:nvSpPr>
          <p:cNvPr id="18" name="Text 13"/>
          <p:cNvSpPr/>
          <p:nvPr/>
        </p:nvSpPr>
        <p:spPr>
          <a:xfrm>
            <a:off x="1508760" y="3630168"/>
            <a:ext cx="4251960" cy="868680"/>
          </a:xfrm>
          <a:prstGeom prst="rect">
            <a:avLst/>
          </a:prstGeom>
          <a:noFill/>
          <a:ln/>
        </p:spPr>
        <p:txBody>
          <a:bodyPr wrap="square" rtlCol="0" anchor="t"/>
          <a:lstStyle/>
          <a:p>
            <a:pPr marL="0" indent="0">
              <a:lnSpc>
                <a:spcPct val="115000"/>
              </a:lnSpc>
              <a:buNone/>
            </a:pPr>
            <a:r>
              <a:rPr lang="en-US" sz="1400" dirty="0">
                <a:latin typeface="Calibri" pitchFamily="34" charset="0"/>
                <a:ea typeface="Calibri" pitchFamily="34" charset="-122"/>
                <a:cs typeface="Calibri" pitchFamily="34" charset="-120"/>
              </a:rPr>
              <a:t>Transaction Analytics, Inventory Analysis</a:t>
            </a:r>
            <a:endParaRPr lang="en-US" sz="1400" dirty="0"/>
          </a:p>
        </p:txBody>
      </p:sp>
      <p:sp>
        <p:nvSpPr>
          <p:cNvPr id="19" name="Shape 14"/>
          <p:cNvSpPr/>
          <p:nvPr/>
        </p:nvSpPr>
        <p:spPr>
          <a:xfrm>
            <a:off x="6263640" y="3127248"/>
            <a:ext cx="5440680" cy="1417320"/>
          </a:xfrm>
          <a:prstGeom prst="roundRect">
            <a:avLst>
              <a:gd name="adj" fmla="val 5161"/>
            </a:avLst>
          </a:prstGeom>
          <a:solidFill>
            <a:srgbClr val="F7F7FB"/>
          </a:solidFill>
          <a:ln/>
        </p:spPr>
        <p:txBody>
          <a:bodyPr/>
          <a:lstStyle/>
          <a:p>
            <a:endParaRPr lang="en-IN"/>
          </a:p>
        </p:txBody>
      </p:sp>
      <p:sp>
        <p:nvSpPr>
          <p:cNvPr id="20" name="Shape 15"/>
          <p:cNvSpPr/>
          <p:nvPr/>
        </p:nvSpPr>
        <p:spPr>
          <a:xfrm>
            <a:off x="6464808" y="3328416"/>
            <a:ext cx="594360" cy="594360"/>
          </a:xfrm>
          <a:prstGeom prst="ellipse">
            <a:avLst/>
          </a:prstGeom>
          <a:solidFill>
            <a:srgbClr val="F96167"/>
          </a:solidFill>
          <a:ln/>
        </p:spPr>
        <p:txBody>
          <a:bodyPr/>
          <a:lstStyle/>
          <a:p>
            <a:endParaRPr lang="en-IN"/>
          </a:p>
        </p:txBody>
      </p:sp>
      <p:pic>
        <p:nvPicPr>
          <p:cNvPr id="21" name="Image 3" descr="/home/claude/pptxbuild/icons/globe.png"/>
          <p:cNvPicPr>
            <a:picLocks noChangeAspect="1"/>
          </p:cNvPicPr>
          <p:nvPr/>
        </p:nvPicPr>
        <p:blipFill>
          <a:blip r:embed="rId6"/>
          <a:stretch>
            <a:fillRect/>
          </a:stretch>
        </p:blipFill>
        <p:spPr>
          <a:xfrm>
            <a:off x="6607454" y="3471062"/>
            <a:ext cx="309067" cy="309067"/>
          </a:xfrm>
          <a:prstGeom prst="rect">
            <a:avLst/>
          </a:prstGeom>
        </p:spPr>
      </p:pic>
      <p:sp>
        <p:nvSpPr>
          <p:cNvPr id="22" name="Text 16"/>
          <p:cNvSpPr/>
          <p:nvPr/>
        </p:nvSpPr>
        <p:spPr>
          <a:xfrm>
            <a:off x="7223760" y="3273552"/>
            <a:ext cx="4251960" cy="320040"/>
          </a:xfrm>
          <a:prstGeom prst="rect">
            <a:avLst/>
          </a:prstGeom>
          <a:noFill/>
          <a:ln/>
        </p:spPr>
        <p:txBody>
          <a:bodyPr wrap="square" rtlCol="0" anchor="ctr"/>
          <a:lstStyle/>
          <a:p>
            <a:pPr marL="0" indent="0">
              <a:buNone/>
            </a:pPr>
            <a:r>
              <a:rPr lang="en-US" sz="1600" b="1" dirty="0">
                <a:solidFill>
                  <a:srgbClr val="2B2B2B"/>
                </a:solidFill>
                <a:latin typeface="Calibri" pitchFamily="34" charset="0"/>
                <a:ea typeface="Calibri" pitchFamily="34" charset="-122"/>
                <a:cs typeface="Calibri" pitchFamily="34" charset="-120"/>
              </a:rPr>
              <a:t>Traffic Source / Medium</a:t>
            </a:r>
            <a:endParaRPr lang="en-US" sz="1600" dirty="0"/>
          </a:p>
        </p:txBody>
      </p:sp>
      <p:sp>
        <p:nvSpPr>
          <p:cNvPr id="23" name="Text 17"/>
          <p:cNvSpPr/>
          <p:nvPr/>
        </p:nvSpPr>
        <p:spPr>
          <a:xfrm>
            <a:off x="7223760" y="3630168"/>
            <a:ext cx="4251960" cy="868680"/>
          </a:xfrm>
          <a:prstGeom prst="rect">
            <a:avLst/>
          </a:prstGeom>
          <a:noFill/>
          <a:ln/>
        </p:spPr>
        <p:txBody>
          <a:bodyPr wrap="square" rtlCol="0" anchor="t"/>
          <a:lstStyle/>
          <a:p>
            <a:pPr>
              <a:lnSpc>
                <a:spcPct val="115000"/>
              </a:lnSpc>
            </a:pPr>
            <a:r>
              <a:rPr lang="en-US" sz="1400" dirty="0">
                <a:latin typeface="Calibri" pitchFamily="34" charset="0"/>
                <a:ea typeface="Calibri" pitchFamily="34" charset="-122"/>
                <a:cs typeface="Calibri" pitchFamily="34" charset="-120"/>
              </a:rPr>
              <a:t>Strategic </a:t>
            </a:r>
            <a:r>
              <a:rPr lang="en-US" sz="1400">
                <a:latin typeface="Calibri" pitchFamily="34" charset="0"/>
                <a:ea typeface="Calibri" pitchFamily="34" charset="-122"/>
                <a:cs typeface="Calibri" pitchFamily="34" charset="-120"/>
              </a:rPr>
              <a:t>Takeaways, Customer </a:t>
            </a:r>
            <a:r>
              <a:rPr lang="en-US" sz="1400" dirty="0">
                <a:latin typeface="Calibri" pitchFamily="34" charset="0"/>
                <a:ea typeface="Calibri" pitchFamily="34" charset="-122"/>
                <a:cs typeface="Calibri" pitchFamily="34" charset="-120"/>
              </a:rPr>
              <a:t>Behaviour, Transaction Analytics, Website Session</a:t>
            </a:r>
            <a:endParaRPr lang="en-US" sz="1400" dirty="0"/>
          </a:p>
        </p:txBody>
      </p:sp>
      <p:sp>
        <p:nvSpPr>
          <p:cNvPr id="24" name="Shape 18"/>
          <p:cNvSpPr/>
          <p:nvPr/>
        </p:nvSpPr>
        <p:spPr>
          <a:xfrm>
            <a:off x="548640" y="4745736"/>
            <a:ext cx="5440680" cy="1417320"/>
          </a:xfrm>
          <a:prstGeom prst="roundRect">
            <a:avLst>
              <a:gd name="adj" fmla="val 5161"/>
            </a:avLst>
          </a:prstGeom>
          <a:solidFill>
            <a:srgbClr val="F7F7FB"/>
          </a:solidFill>
          <a:ln/>
        </p:spPr>
        <p:txBody>
          <a:bodyPr/>
          <a:lstStyle/>
          <a:p>
            <a:endParaRPr lang="en-IN"/>
          </a:p>
        </p:txBody>
      </p:sp>
      <p:sp>
        <p:nvSpPr>
          <p:cNvPr id="25" name="Shape 19"/>
          <p:cNvSpPr/>
          <p:nvPr/>
        </p:nvSpPr>
        <p:spPr>
          <a:xfrm>
            <a:off x="749808" y="4946904"/>
            <a:ext cx="594360" cy="594360"/>
          </a:xfrm>
          <a:prstGeom prst="ellipse">
            <a:avLst/>
          </a:prstGeom>
          <a:solidFill>
            <a:srgbClr val="2F3C7E"/>
          </a:solidFill>
          <a:ln/>
        </p:spPr>
        <p:txBody>
          <a:bodyPr/>
          <a:lstStyle/>
          <a:p>
            <a:endParaRPr lang="en-IN"/>
          </a:p>
        </p:txBody>
      </p:sp>
      <p:pic>
        <p:nvPicPr>
          <p:cNvPr id="26" name="Image 4" descr="/home/claude/pptxbuild/icons/chartline.png"/>
          <p:cNvPicPr>
            <a:picLocks noChangeAspect="1"/>
          </p:cNvPicPr>
          <p:nvPr/>
        </p:nvPicPr>
        <p:blipFill>
          <a:blip r:embed="rId7"/>
          <a:stretch>
            <a:fillRect/>
          </a:stretch>
        </p:blipFill>
        <p:spPr>
          <a:xfrm>
            <a:off x="892454" y="5089550"/>
            <a:ext cx="309067" cy="309067"/>
          </a:xfrm>
          <a:prstGeom prst="rect">
            <a:avLst/>
          </a:prstGeom>
        </p:spPr>
      </p:pic>
      <p:sp>
        <p:nvSpPr>
          <p:cNvPr id="27" name="Text 20"/>
          <p:cNvSpPr/>
          <p:nvPr/>
        </p:nvSpPr>
        <p:spPr>
          <a:xfrm>
            <a:off x="1508760" y="4892040"/>
            <a:ext cx="4251960" cy="320040"/>
          </a:xfrm>
          <a:prstGeom prst="rect">
            <a:avLst/>
          </a:prstGeom>
          <a:noFill/>
          <a:ln/>
        </p:spPr>
        <p:txBody>
          <a:bodyPr wrap="square" rtlCol="0" anchor="ctr"/>
          <a:lstStyle/>
          <a:p>
            <a:pPr marL="0" indent="0">
              <a:buNone/>
            </a:pPr>
            <a:r>
              <a:rPr lang="en-US" sz="1600" b="1" dirty="0">
                <a:solidFill>
                  <a:srgbClr val="2B2B2B"/>
                </a:solidFill>
                <a:latin typeface="Calibri" pitchFamily="34" charset="0"/>
                <a:ea typeface="Calibri" pitchFamily="34" charset="-122"/>
                <a:cs typeface="Calibri" pitchFamily="34" charset="-120"/>
              </a:rPr>
              <a:t>Campaign</a:t>
            </a:r>
            <a:endParaRPr lang="en-US" sz="1600" dirty="0"/>
          </a:p>
        </p:txBody>
      </p:sp>
      <p:sp>
        <p:nvSpPr>
          <p:cNvPr id="28" name="Text 21"/>
          <p:cNvSpPr/>
          <p:nvPr/>
        </p:nvSpPr>
        <p:spPr>
          <a:xfrm>
            <a:off x="1508760" y="5248656"/>
            <a:ext cx="4251960" cy="868680"/>
          </a:xfrm>
          <a:prstGeom prst="rect">
            <a:avLst/>
          </a:prstGeom>
          <a:noFill/>
          <a:ln/>
        </p:spPr>
        <p:txBody>
          <a:bodyPr wrap="square" rtlCol="0" anchor="t"/>
          <a:lstStyle/>
          <a:p>
            <a:pPr marL="0" indent="0">
              <a:lnSpc>
                <a:spcPct val="115000"/>
              </a:lnSpc>
              <a:buNone/>
            </a:pPr>
            <a:r>
              <a:rPr lang="en-US" sz="1400" dirty="0">
                <a:latin typeface="Calibri" pitchFamily="34" charset="0"/>
                <a:ea typeface="Calibri" pitchFamily="34" charset="-122"/>
                <a:cs typeface="Calibri" pitchFamily="34" charset="-120"/>
              </a:rPr>
              <a:t>Website Session</a:t>
            </a:r>
            <a:endParaRPr lang="en-US" sz="1400" dirty="0"/>
          </a:p>
        </p:txBody>
      </p:sp>
      <p:sp>
        <p:nvSpPr>
          <p:cNvPr id="29" name="Shape 22"/>
          <p:cNvSpPr/>
          <p:nvPr/>
        </p:nvSpPr>
        <p:spPr>
          <a:xfrm>
            <a:off x="6263640" y="4745736"/>
            <a:ext cx="5440680" cy="1417320"/>
          </a:xfrm>
          <a:prstGeom prst="roundRect">
            <a:avLst>
              <a:gd name="adj" fmla="val 5161"/>
            </a:avLst>
          </a:prstGeom>
          <a:solidFill>
            <a:srgbClr val="F7F7FB"/>
          </a:solidFill>
          <a:ln/>
        </p:spPr>
        <p:txBody>
          <a:bodyPr/>
          <a:lstStyle/>
          <a:p>
            <a:endParaRPr lang="en-IN"/>
          </a:p>
        </p:txBody>
      </p:sp>
      <p:sp>
        <p:nvSpPr>
          <p:cNvPr id="30" name="Shape 23"/>
          <p:cNvSpPr/>
          <p:nvPr/>
        </p:nvSpPr>
        <p:spPr>
          <a:xfrm>
            <a:off x="6464808" y="4946904"/>
            <a:ext cx="594360" cy="594360"/>
          </a:xfrm>
          <a:prstGeom prst="ellipse">
            <a:avLst/>
          </a:prstGeom>
          <a:solidFill>
            <a:srgbClr val="F96167"/>
          </a:solidFill>
          <a:ln/>
        </p:spPr>
        <p:txBody>
          <a:bodyPr/>
          <a:lstStyle/>
          <a:p>
            <a:endParaRPr lang="en-IN"/>
          </a:p>
        </p:txBody>
      </p:sp>
      <p:pic>
        <p:nvPicPr>
          <p:cNvPr id="31" name="Image 5" descr="/home/claude/pptxbuild/icons/diagram.png"/>
          <p:cNvPicPr>
            <a:picLocks noChangeAspect="1"/>
          </p:cNvPicPr>
          <p:nvPr/>
        </p:nvPicPr>
        <p:blipFill>
          <a:blip r:embed="rId8"/>
          <a:stretch>
            <a:fillRect/>
          </a:stretch>
        </p:blipFill>
        <p:spPr>
          <a:xfrm>
            <a:off x="6607454" y="5089550"/>
            <a:ext cx="309067" cy="309067"/>
          </a:xfrm>
          <a:prstGeom prst="rect">
            <a:avLst/>
          </a:prstGeom>
        </p:spPr>
      </p:pic>
      <p:sp>
        <p:nvSpPr>
          <p:cNvPr id="32" name="Text 24"/>
          <p:cNvSpPr/>
          <p:nvPr/>
        </p:nvSpPr>
        <p:spPr>
          <a:xfrm>
            <a:off x="7223760" y="4892040"/>
            <a:ext cx="4251960" cy="320040"/>
          </a:xfrm>
          <a:prstGeom prst="rect">
            <a:avLst/>
          </a:prstGeom>
          <a:noFill/>
          <a:ln/>
        </p:spPr>
        <p:txBody>
          <a:bodyPr wrap="square" rtlCol="0" anchor="ctr"/>
          <a:lstStyle/>
          <a:p>
            <a:pPr marL="0" indent="0">
              <a:buNone/>
            </a:pPr>
            <a:r>
              <a:rPr lang="en-US" sz="1600" b="1" dirty="0">
                <a:solidFill>
                  <a:srgbClr val="2B2B2B"/>
                </a:solidFill>
                <a:latin typeface="Calibri" pitchFamily="34" charset="0"/>
                <a:ea typeface="Calibri" pitchFamily="34" charset="-122"/>
                <a:cs typeface="Calibri" pitchFamily="34" charset="-120"/>
              </a:rPr>
              <a:t>Page Navigator</a:t>
            </a:r>
            <a:endParaRPr lang="en-US" sz="1600" dirty="0"/>
          </a:p>
        </p:txBody>
      </p:sp>
      <p:sp>
        <p:nvSpPr>
          <p:cNvPr id="33" name="Text 25"/>
          <p:cNvSpPr/>
          <p:nvPr/>
        </p:nvSpPr>
        <p:spPr>
          <a:xfrm>
            <a:off x="7223760" y="5248656"/>
            <a:ext cx="4251960" cy="868680"/>
          </a:xfrm>
          <a:prstGeom prst="rect">
            <a:avLst/>
          </a:prstGeom>
          <a:noFill/>
          <a:ln/>
        </p:spPr>
        <p:txBody>
          <a:bodyPr wrap="square" rtlCol="0" anchor="t"/>
          <a:lstStyle/>
          <a:p>
            <a:pPr marL="0" indent="0">
              <a:lnSpc>
                <a:spcPct val="115000"/>
              </a:lnSpc>
              <a:buNone/>
            </a:pPr>
            <a:r>
              <a:rPr lang="en-US" sz="1400" dirty="0">
                <a:latin typeface="Calibri" pitchFamily="34" charset="0"/>
                <a:ea typeface="Calibri" pitchFamily="34" charset="-122"/>
                <a:cs typeface="Calibri" pitchFamily="34" charset="-120"/>
              </a:rPr>
              <a:t>Click-through buttons on every one of the 7 pages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1F2A5C"/>
        </a:solidFill>
        <a:effectLst/>
      </p:bgPr>
    </p:bg>
    <p:spTree>
      <p:nvGrpSpPr>
        <p:cNvPr id="1" name=""/>
        <p:cNvGrpSpPr/>
        <p:nvPr/>
      </p:nvGrpSpPr>
      <p:grpSpPr>
        <a:xfrm>
          <a:off x="0" y="0"/>
          <a:ext cx="0" cy="0"/>
          <a:chOff x="0" y="0"/>
          <a:chExt cx="0" cy="0"/>
        </a:xfrm>
      </p:grpSpPr>
      <p:sp>
        <p:nvSpPr>
          <p:cNvPr id="2" name="Shape 0"/>
          <p:cNvSpPr/>
          <p:nvPr/>
        </p:nvSpPr>
        <p:spPr>
          <a:xfrm>
            <a:off x="8686800" y="-1645920"/>
            <a:ext cx="5029200" cy="5029200"/>
          </a:xfrm>
          <a:prstGeom prst="ellipse">
            <a:avLst/>
          </a:prstGeom>
          <a:solidFill>
            <a:srgbClr val="00B050"/>
          </a:solidFill>
          <a:ln/>
        </p:spPr>
        <p:txBody>
          <a:bodyPr/>
          <a:lstStyle/>
          <a:p>
            <a:endParaRPr lang="en-IN"/>
          </a:p>
        </p:txBody>
      </p:sp>
      <p:sp>
        <p:nvSpPr>
          <p:cNvPr id="3" name="Shape 1"/>
          <p:cNvSpPr/>
          <p:nvPr/>
        </p:nvSpPr>
        <p:spPr>
          <a:xfrm>
            <a:off x="-1371600" y="4389120"/>
            <a:ext cx="3840480" cy="3840480"/>
          </a:xfrm>
          <a:prstGeom prst="ellipse">
            <a:avLst/>
          </a:prstGeom>
          <a:solidFill>
            <a:srgbClr val="FF0000"/>
          </a:solidFill>
          <a:ln/>
        </p:spPr>
        <p:txBody>
          <a:bodyPr/>
          <a:lstStyle/>
          <a:p>
            <a:endParaRPr lang="en-IN"/>
          </a:p>
        </p:txBody>
      </p:sp>
      <p:sp>
        <p:nvSpPr>
          <p:cNvPr id="6" name="Text 3"/>
          <p:cNvSpPr/>
          <p:nvPr/>
        </p:nvSpPr>
        <p:spPr>
          <a:xfrm>
            <a:off x="-760631" y="3093720"/>
            <a:ext cx="12188952" cy="822960"/>
          </a:xfrm>
          <a:prstGeom prst="rect">
            <a:avLst/>
          </a:prstGeom>
          <a:noFill/>
          <a:ln/>
        </p:spPr>
        <p:txBody>
          <a:bodyPr wrap="square"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pic>
        <p:nvPicPr>
          <p:cNvPr id="13" name="Picture 12">
            <a:extLst>
              <a:ext uri="{FF2B5EF4-FFF2-40B4-BE49-F238E27FC236}">
                <a16:creationId xmlns:a16="http://schemas.microsoft.com/office/drawing/2014/main" id="{27C26A47-50E0-1267-38ED-73CF3C18763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455" b="98545" l="1027" r="93224">
                        <a14:foregroundMark x1="36961" y1="10364" x2="48665" y2="4909"/>
                        <a14:foregroundMark x1="48665" y1="4909" x2="37166" y2="10909"/>
                        <a14:foregroundMark x1="37166" y1="10909" x2="52772" y2="8000"/>
                        <a14:foregroundMark x1="52772" y1="8000" x2="40657" y2="4000"/>
                        <a14:foregroundMark x1="40657" y1="4000" x2="54209" y2="6909"/>
                        <a14:foregroundMark x1="54209" y1="6909" x2="41273" y2="11273"/>
                        <a14:foregroundMark x1="41273" y1="11273" x2="68994" y2="8182"/>
                        <a14:foregroundMark x1="68994" y1="8182" x2="67556" y2="8545"/>
                        <a14:foregroundMark x1="34086" y1="5273" x2="47844" y2="5091"/>
                        <a14:foregroundMark x1="47844" y1="5091" x2="55647" y2="5818"/>
                        <a14:foregroundMark x1="35729" y1="1455" x2="37166" y2="1455"/>
                        <a14:foregroundMark x1="82908" y1="44740" x2="92813" y2="49818"/>
                        <a14:foregroundMark x1="92813" y1="49818" x2="93429" y2="62727"/>
                        <a14:foregroundMark x1="85958" y1="43307" x2="86858" y2="43455"/>
                        <a14:foregroundMark x1="88090" y1="48182" x2="92813" y2="46182"/>
                        <a14:foregroundMark x1="89117" y1="48182" x2="93634" y2="76182"/>
                        <a14:foregroundMark x1="93634" y1="76182" x2="88090" y2="63636"/>
                        <a14:foregroundMark x1="88090" y1="63636" x2="89117" y2="50000"/>
                        <a14:foregroundMark x1="89117" y1="50000" x2="89322" y2="70182"/>
                        <a14:foregroundMark x1="89322" y1="70182" x2="89528" y2="52182"/>
                        <a14:foregroundMark x1="89528" y1="52182" x2="90349" y2="72545"/>
                        <a14:foregroundMark x1="90349" y1="72545" x2="92402" y2="49273"/>
                        <a14:foregroundMark x1="6982" y1="31818" x2="8830" y2="43818"/>
                        <a14:foregroundMark x1="4297" y1="52133" x2="3948" y2="52771"/>
                        <a14:foregroundMark x1="5756" y1="49455" x2="5495" y2="49934"/>
                        <a14:foregroundMark x1="8830" y1="43818" x2="5756" y2="49455"/>
                        <a14:foregroundMark x1="4079" y1="58109" x2="6571" y2="67455"/>
                        <a14:foregroundMark x1="6571" y1="67455" x2="24230" y2="74000"/>
                        <a14:foregroundMark x1="24230" y1="74000" x2="12526" y2="63455"/>
                        <a14:foregroundMark x1="12526" y1="63455" x2="7392" y2="51091"/>
                        <a14:foregroundMark x1="7084" y1="57091" x2="6776" y2="63091"/>
                        <a14:foregroundMark x1="7142" y1="55967" x2="7084" y2="57091"/>
                        <a14:foregroundMark x1="7392" y1="51091" x2="7164" y2="55525"/>
                        <a14:foregroundMark x1="6776" y1="63091" x2="7803" y2="65636"/>
                        <a14:foregroundMark x1="3901" y1="44000" x2="3193" y2="46134"/>
                        <a14:foregroundMark x1="4251" y1="52144" x2="4220" y2="52746"/>
                        <a14:foregroundMark x1="4723" y1="43091" x2="4525" y2="46880"/>
                        <a14:foregroundMark x1="4268" y1="46068" x2="5133" y2="41818"/>
                        <a14:foregroundMark x1="2875" y1="52909" x2="2967" y2="52455"/>
                        <a14:foregroundMark x1="5133" y1="41818" x2="5544" y2="41273"/>
                        <a14:foregroundMark x1="3576" y1="50727" x2="3265" y2="52909"/>
                        <a14:foregroundMark x1="3628" y1="50364" x2="3576" y2="50727"/>
                        <a14:foregroundMark x1="3758" y1="49455" x2="3628" y2="50364"/>
                        <a14:foregroundMark x1="4928" y1="41273" x2="3758" y2="49455"/>
                        <a14:foregroundMark x1="1612" y1="46518" x2="1232" y2="43636"/>
                        <a14:foregroundMark x1="2456" y1="52909" x2="2414" y2="52590"/>
                        <a14:foregroundMark x1="1232" y1="43636" x2="5749" y2="40364"/>
                        <a14:foregroundMark x1="25051" y1="79636" x2="11499" y2="83091"/>
                        <a14:foregroundMark x1="11499" y1="83091" x2="19761" y2="91321"/>
                        <a14:foregroundMark x1="17454" y1="86182" x2="17248" y2="92182"/>
                        <a14:foregroundMark x1="31179" y1="91233" x2="39836" y2="91636"/>
                        <a14:foregroundMark x1="39836" y1="91636" x2="70431" y2="81091"/>
                        <a14:foregroundMark x1="50067" y1="83781" x2="50513" y2="84545"/>
                        <a14:foregroundMark x1="44353" y1="74000" x2="46969" y2="78478"/>
                        <a14:foregroundMark x1="50513" y1="84545" x2="50103" y2="85455"/>
                        <a14:foregroundMark x1="30390" y1="94909" x2="31006" y2="94545"/>
                        <a14:foregroundMark x1="27721" y1="94364" x2="32238" y2="98545"/>
                        <a14:foregroundMark x1="90554" y1="50364" x2="93224" y2="78909"/>
                        <a14:foregroundMark x1="93224" y1="78909" x2="88706" y2="63818"/>
                        <a14:foregroundMark x1="88706" y1="63818" x2="90144" y2="50909"/>
                        <a14:foregroundMark x1="90144" y1="50909" x2="90144" y2="82182"/>
                        <a14:foregroundMark x1="90144" y1="82182" x2="89528" y2="68545"/>
                        <a14:foregroundMark x1="89528" y1="68545" x2="91786" y2="80909"/>
                        <a14:foregroundMark x1="91786" y1="80909" x2="90144" y2="52545"/>
                        <a14:foregroundMark x1="90144" y1="52545" x2="92608" y2="66364"/>
                        <a14:foregroundMark x1="92608" y1="66364" x2="90554" y2="55636"/>
                        <a14:foregroundMark x1="18480" y1="87818" x2="30390" y2="92909"/>
                        <a14:foregroundMark x1="30390" y1="92909" x2="31211" y2="92545"/>
                        <a14:backgroundMark x1="82341" y1="42545" x2="84394" y2="40182"/>
                        <a14:backgroundMark x1="85832" y1="43091" x2="82546" y2="42000"/>
                        <a14:backgroundMark x1="0" y1="46909" x2="1848" y2="52727"/>
                        <a14:backgroundMark x1="2875" y1="56000" x2="3080" y2="58182"/>
                        <a14:backgroundMark x1="48665" y1="78182" x2="49076" y2="80000"/>
                        <a14:backgroundMark x1="48049" y1="79818" x2="49897" y2="80545"/>
                        <a14:backgroundMark x1="50103" y1="81273" x2="49281" y2="83273"/>
                        <a14:backgroundMark x1="49692" y1="83091" x2="49897" y2="83818"/>
                        <a14:backgroundMark x1="24641" y1="40182" x2="24230" y2="40000"/>
                        <a14:backgroundMark x1="24641" y1="40182" x2="24230" y2="41091"/>
                        <a14:backgroundMark x1="24025" y1="40000" x2="24025" y2="41818"/>
                        <a14:backgroundMark x1="37372" y1="38545" x2="37372" y2="38545"/>
                        <a14:backgroundMark x1="37372" y1="38545" x2="37372" y2="38545"/>
                        <a14:backgroundMark x1="78850" y1="32364" x2="78850" y2="34000"/>
                        <a14:backgroundMark x1="80903" y1="40545" x2="80082" y2="42000"/>
                        <a14:backgroundMark x1="73101" y1="39636" x2="73101" y2="39636"/>
                        <a14:backgroundMark x1="75770" y1="32000" x2="75770" y2="32000"/>
                        <a14:backgroundMark x1="75154" y1="35091" x2="75154" y2="35091"/>
                        <a14:backgroundMark x1="3696" y1="49455" x2="3696" y2="49455"/>
                        <a14:backgroundMark x1="4723" y1="50727" x2="4723" y2="50727"/>
                        <a14:backgroundMark x1="3696" y1="50364" x2="3696" y2="50364"/>
                        <a14:backgroundMark x1="2464" y1="53636" x2="2464" y2="53636"/>
                        <a14:backgroundMark x1="2875" y1="57091" x2="2875" y2="57091"/>
                        <a14:backgroundMark x1="2464" y1="55455" x2="2464" y2="55455"/>
                        <a14:backgroundMark x1="1643" y1="53091" x2="1643" y2="53091"/>
                        <a14:backgroundMark x1="2464" y1="52909" x2="2464" y2="52909"/>
                        <a14:backgroundMark x1="2464" y1="52909" x2="2464" y2="52909"/>
                        <a14:backgroundMark x1="2464" y1="52909" x2="2875" y2="56364"/>
                      </a14:backgroundRemoval>
                    </a14:imgEffect>
                  </a14:imgLayer>
                </a14:imgProps>
              </a:ext>
            </a:extLst>
          </a:blip>
          <a:stretch>
            <a:fillRect/>
          </a:stretch>
        </p:blipFill>
        <p:spPr>
          <a:xfrm>
            <a:off x="7924644" y="2422797"/>
            <a:ext cx="3711262" cy="4191363"/>
          </a:xfrm>
          <a:prstGeom prst="rect">
            <a:avLst/>
          </a:prstGeom>
        </p:spPr>
      </p:pic>
      <p:pic>
        <p:nvPicPr>
          <p:cNvPr id="15" name="Picture 14">
            <a:extLst>
              <a:ext uri="{FF2B5EF4-FFF2-40B4-BE49-F238E27FC236}">
                <a16:creationId xmlns:a16="http://schemas.microsoft.com/office/drawing/2014/main" id="{85098BD1-A3E9-F0E7-578C-36B138AA1DE5}"/>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5512" b="89764" l="9581" r="91018">
                        <a14:foregroundMark x1="38922" y1="9449" x2="60479" y2="9449"/>
                        <a14:foregroundMark x1="20524" y1="14961" x2="25749" y2="18110"/>
                        <a14:foregroundMark x1="17910" y1="13386" x2="20524" y2="14961"/>
                        <a14:foregroundMark x1="11377" y1="9449" x2="17910" y2="13386"/>
                        <a14:foregroundMark x1="41317" y1="6299" x2="67665" y2="16535"/>
                        <a14:foregroundMark x1="89222" y1="18898" x2="89222" y2="25984"/>
                        <a14:foregroundMark x1="90419" y1="18898" x2="91018" y2="22835"/>
                        <a14:foregroundMark x1="10180" y1="10236" x2="10180" y2="10236"/>
                        <a14:foregroundMark x1="10180" y1="14961" x2="10180" y2="30709"/>
                        <a14:foregroundMark x1="10180" y1="13386" x2="10180" y2="14961"/>
                        <a14:foregroundMark x1="10180" y1="10236" x2="10180" y2="13386"/>
                        <a14:foregroundMark x1="44910" y1="88976" x2="44910" y2="88976"/>
                        <a14:backgroundMark x1="10180" y1="14961" x2="10180" y2="14961"/>
                        <a14:backgroundMark x1="10180" y1="13386" x2="10180" y2="13386"/>
                      </a14:backgroundRemoval>
                    </a14:imgEffect>
                  </a14:imgLayer>
                </a14:imgProps>
              </a:ext>
            </a:extLst>
          </a:blip>
          <a:stretch>
            <a:fillRect/>
          </a:stretch>
        </p:blipFill>
        <p:spPr>
          <a:xfrm>
            <a:off x="1112521" y="868680"/>
            <a:ext cx="2148840" cy="163414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3857</TotalTime>
  <Words>2425</Words>
  <Application>Microsoft Office PowerPoint</Application>
  <PresentationFormat>Widescreen</PresentationFormat>
  <Paragraphs>264</Paragraphs>
  <Slides>24</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riya majhi</cp:lastModifiedBy>
  <cp:revision>51</cp:revision>
  <dcterms:created xsi:type="dcterms:W3CDTF">2026-08-01T05:14:30Z</dcterms:created>
  <dcterms:modified xsi:type="dcterms:W3CDTF">2026-08-05T06:36:23Z</dcterms:modified>
</cp:coreProperties>
</file>